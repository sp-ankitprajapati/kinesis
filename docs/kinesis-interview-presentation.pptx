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7304c0f9552467d" /><Relationship Type="http://schemas.openxmlformats.org/officeDocument/2006/relationships/extended-properties" Target="/docProps/app.xml" Id="R21b7ea32eac344dd" /><Relationship Type="http://schemas.openxmlformats.org/officeDocument/2006/relationships/officeDocument" Target="/ppt/presentation.xml" Id="Reb6900deed1a4c92" /></Relationships>
</file>

<file path=ppt/presentation.xml><?xml version="1.0" encoding="utf-8"?>
<p:presentation xmlns:p="http://schemas.openxmlformats.org/presentationml/2006/main">
  <p:sldMasterIdLst>
    <p:sldMasterId xmlns:r="http://schemas.openxmlformats.org/officeDocument/2006/relationships" id="2147483648" r:id="R0d6299f62b414f4d"/>
  </p:sldMasterIdLst>
  <p:notesMasterIdLst>
    <p:notesMasterId xmlns:r="http://schemas.openxmlformats.org/officeDocument/2006/relationships" r:id="Rcd8532bffbb14f2e"/>
  </p:notesMasterIdLst>
  <p:sldIdLst>
    <p:sldId xmlns:r="http://schemas.openxmlformats.org/officeDocument/2006/relationships" id="256" r:id="R756e35b7bf1f45e5"/>
    <p:sldId xmlns:r="http://schemas.openxmlformats.org/officeDocument/2006/relationships" id="257" r:id="Rafb987b51b2348b0"/>
    <p:sldId xmlns:r="http://schemas.openxmlformats.org/officeDocument/2006/relationships" id="258" r:id="Reb192a0bff9540e6"/>
    <p:sldId xmlns:r="http://schemas.openxmlformats.org/officeDocument/2006/relationships" id="259" r:id="Race35726805e40f7"/>
    <p:sldId xmlns:r="http://schemas.openxmlformats.org/officeDocument/2006/relationships" id="260" r:id="R4a6955e8e67b4d93"/>
    <p:sldId xmlns:r="http://schemas.openxmlformats.org/officeDocument/2006/relationships" id="261" r:id="R936fb38bc79e432e"/>
    <p:sldId xmlns:r="http://schemas.openxmlformats.org/officeDocument/2006/relationships" id="262" r:id="R380bfec2f7374204"/>
    <p:sldId xmlns:r="http://schemas.openxmlformats.org/officeDocument/2006/relationships" id="263" r:id="Rd396edcea7214cfc"/>
    <p:sldId xmlns:r="http://schemas.openxmlformats.org/officeDocument/2006/relationships" id="264" r:id="Rd06010dcbb234f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268c0f21054b72" /><Relationship Type="http://schemas.openxmlformats.org/officeDocument/2006/relationships/slideMaster" Target="/ppt/slideMasters/slideMaster1.xml" Id="R0d6299f62b414f4d" /><Relationship Type="http://schemas.openxmlformats.org/officeDocument/2006/relationships/notesMaster" Target="/ppt/notesMasters/notesMaster1.xml" Id="Rcd8532bffbb14f2e" /><Relationship Type="http://schemas.openxmlformats.org/officeDocument/2006/relationships/presProps" Target="/ppt/presProps.xml" Id="Re809084fa9e54919" /><Relationship Type="http://schemas.openxmlformats.org/officeDocument/2006/relationships/tableStyles" Target="/ppt/tableStyles.xml" Id="Rcf0ed832c0fe47f4" /><Relationship Type="http://schemas.openxmlformats.org/officeDocument/2006/relationships/slide" Target="/ppt/slides/slide1.xml" Id="R756e35b7bf1f45e5" /><Relationship Type="http://schemas.openxmlformats.org/officeDocument/2006/relationships/slide" Target="/ppt/slides/slide2.xml" Id="Rafb987b51b2348b0" /><Relationship Type="http://schemas.openxmlformats.org/officeDocument/2006/relationships/slide" Target="/ppt/slides/slide3.xml" Id="Reb192a0bff9540e6" /><Relationship Type="http://schemas.openxmlformats.org/officeDocument/2006/relationships/slide" Target="/ppt/slides/slide4.xml" Id="Race35726805e40f7" /><Relationship Type="http://schemas.openxmlformats.org/officeDocument/2006/relationships/slide" Target="/ppt/slides/slide5.xml" Id="R4a6955e8e67b4d93" /><Relationship Type="http://schemas.openxmlformats.org/officeDocument/2006/relationships/slide" Target="/ppt/slides/slide6.xml" Id="R936fb38bc79e432e" /><Relationship Type="http://schemas.openxmlformats.org/officeDocument/2006/relationships/slide" Target="/ppt/slides/slide7.xml" Id="R380bfec2f7374204" /><Relationship Type="http://schemas.openxmlformats.org/officeDocument/2006/relationships/slide" Target="/ppt/slides/slide8.xml" Id="Rd396edcea7214cfc" /><Relationship Type="http://schemas.openxmlformats.org/officeDocument/2006/relationships/slide" Target="/ppt/slides/slide9.xml" Id="Rd06010dcbb234f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970712d9b448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eb4212d6c4444f" /><Relationship Type="http://schemas.openxmlformats.org/officeDocument/2006/relationships/notesMaster" Target="/ppt/notesMasters/notesMaster1.xml" Id="R24096d10a40741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fd94c3751b41d3" /><Relationship Type="http://schemas.openxmlformats.org/officeDocument/2006/relationships/notesMaster" Target="/ppt/notesMasters/notesMaster1.xml" Id="R2e8a3cda9b5243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7044b2e0884538" /><Relationship Type="http://schemas.openxmlformats.org/officeDocument/2006/relationships/notesMaster" Target="/ppt/notesMasters/notesMaster1.xml" Id="R873733a9a9f74c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ab9ef143924b5d" /><Relationship Type="http://schemas.openxmlformats.org/officeDocument/2006/relationships/notesMaster" Target="/ppt/notesMasters/notesMaster1.xml" Id="R883a01589a674b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7d1ab207bd408e" /><Relationship Type="http://schemas.openxmlformats.org/officeDocument/2006/relationships/notesMaster" Target="/ppt/notesMasters/notesMaster1.xml" Id="Rcd8d81c7884645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bbbbd6ab5a4bff" /><Relationship Type="http://schemas.openxmlformats.org/officeDocument/2006/relationships/notesMaster" Target="/ppt/notesMasters/notesMaster1.xml" Id="Rd086a400c5564c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a1a6da06884d64" /><Relationship Type="http://schemas.openxmlformats.org/officeDocument/2006/relationships/notesMaster" Target="/ppt/notesMasters/notesMaster1.xml" Id="R872f025af08e4f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a80c09c04a4060" /><Relationship Type="http://schemas.openxmlformats.org/officeDocument/2006/relationships/notesMaster" Target="/ppt/notesMasters/notesMaster1.xml" Id="R6a7568145faf41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ae0b4d915441bd" /><Relationship Type="http://schemas.openxmlformats.org/officeDocument/2006/relationships/notesMaster" Target="/ppt/notesMasters/notesMaster1.xml" Id="R2044cca33c0741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simulation portfolio project. The question was whether learned continuous-action control adds value beyond a conventional tracker. The simulator, integration and evaluation are implemented here; SAC comes from Stable-Baselines3. No physical robot or deployment is claimed. Repository: https://github.com/sp-ankitprajapati/kinesis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state contains x, y, heading, linear speed and turn rate. Unicycle kinematics and first-order response provide a small differential-drive-style abstraction. Five substeps approximate changing twist. Analytic motion checks and convergence tests validate important boundaries. Wheel mechanics, slip, obstacles, collisions, sensing pipelines and physical safety are omitted. Evidence: kinesis/dynamics.py; tests/test_dynamics.py.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controllers consume the same 25-value public observation, with no privileged state access by Pure Pursuit. Sine/cosine avoids angle discontinuities. A two-slot pending-action queue and delay length represent command delays. Gates every 0.5 m must be reached in order within 0.35 m. Success also requires endpoint proximity and near-complete progress. Stopping is penalized; missed gates fail. Some cutting within tolerance remains possible and is reflected in error metrics. Evidence: kinesis/env.py; docs/learning-report.md.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 hashes check exact split separation. Training and validation use straight, sine and arc families. Test cases change parameters and initial conditions and include six unseen double-sine paths. Each method has four candidate settings on the same validation scenarios, with unequal computational tuning costs. SAC pilots use 12,000 steps with seed 101. The selected configuration is retrained under seeds 7, 17 and 27 for 80,000 steps each. All final checkpoints are tested. The representative plot seed is chosen on validation before testing. Evidence: artifacts/protocol.json, frozen_controllers.json and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training episodes only, using a 20-episode moving average. Reward is not a substitute for tracking error or robustness. Every seed is retained. Final learning calls total 11.13 minutes on two vCPUs, excluding pilots, evaluation, setup and reporting. One PyTorch thread and two 64-unit hidden layers were used. No GPU was used. Evidence: artifacts/training/seed_*/monitor.csv and run.json. SAC source: https://stable-baselines3.readthedocs.io/en/master/modules/sac.html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controllers completed all 24 nominal routes, including six double-sine paths. SAC figures are mean plus/minus sample standard deviation over three seeds, not confidence intervals. The baseline has lower error, angular command slew and prediction time. Some SAC seeds finish faster, but no overall advantage is established. Latency is CPU wall time around prediction, excluding simulator work; it is not embedded worst-case timing. Evidence: artifacts/test_results.json and docs/results.md.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fixed test scenario 003, not the best test example. Seed 27 was selected for plots on validation before testing. All seeds remain in the report. Both controllers have the same finite reference previews. This editable plot uses recorded positions and known reference geometry. Six cases of this family do not establish arbitrary-path generalization. Evidence: artifacts/traces/ and models/manifest.json.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Disturbances are tested separately: Gaussian 0.03 m position noise per coordinate and 3 degree heading noise; two-step or 200 ms delay; or 2.5 times response time constants. Pure Pursuit completed 96/96 attempts across conditions. SAC delay completion was 65/72: seed 7 had no failures, seed 17 missed four gates, and seed 27 missed two gates and reached one time limit. Queue state is observed, but nominal training never exposes nonzero delay, so this also changes the queue-input distribution. Combined disturbances were not tested. Evidence: artifacts/test_episodes.csv.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this simulator and budget, Pure Pursuit is the stronger default. SAC learns nominal completion but does not improve the full metric set; delay exposes failures. Implemented contributions are the simulator, controller integration, safeguards, experiments and evaluation. SAC comes from Stable-Baselines3/PyTorch. Extensions could add training-time disturbances, broader scenarios, more seeds and identified dynamics, then optional ROS2. They are future work. No physical robot, motorcycle dynamics, embedded deployment or safety validation is claimed. Sources: docs/results.md; docs/learning-report.md; https://publications.ri.cmu.edu/implementation-of-the-pure-pursuit-path-tracking-algorithm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42dae0acb248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5be1881d6047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055dc3bad049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d7e68c23ec4c2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703d69a6bc4e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61bd99d32f4a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3CAD33-F9B4-4A6F-8526-738988EDF9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DF4FA5-E41A-44E4-9F42-9D579420227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06F200-B868-440B-A8CA-979C9E0C551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FF265D-3083-4744-A466-D22535E1C1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FF8B17-7B04-424A-888F-60C7B058BA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97BFC3-3D2D-4A72-A2CB-13AEA0690D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C60505-4EC7-4452-817F-676A8FF8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6E9E10D-D76D-4F0E-819E-01D73CCF82E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192BAF-2B54-4850-A6E2-B9237A7665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2946-2EE3-436E-A159-23BF9DEE7F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1e370aa54c43f5" /><Relationship Type="http://schemas.openxmlformats.org/officeDocument/2006/relationships/slideLayout" Target="/ppt/slideLayouts/slideLayout1.xml" Id="Rbb2282cc2a5b440c" /><Relationship Type="http://schemas.openxmlformats.org/officeDocument/2006/relationships/slideLayout" Target="/ppt/slideLayouts/slideLayout2.xml" Id="Rcfd958a5cc114a2e" /><Relationship Type="http://schemas.openxmlformats.org/officeDocument/2006/relationships/slideLayout" Target="/ppt/slideLayouts/slideLayout3.xml" Id="Racf5d4d720ba4909" /><Relationship Type="http://schemas.openxmlformats.org/officeDocument/2006/relationships/slideLayout" Target="/ppt/slideLayouts/slideLayout4.xml" Id="Rd82a91c28163494d" /><Relationship Type="http://schemas.openxmlformats.org/officeDocument/2006/relationships/slideLayout" Target="/ppt/slideLayouts/slideLayout5.xml" Id="R958e0e33988d4f2f" /><Relationship Type="http://schemas.openxmlformats.org/officeDocument/2006/relationships/slideLayout" Target="/ppt/slideLayouts/slideLayout6.xml" Id="Re800fa53784043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2282cc2a5b440c"/>
    <p:sldLayoutId xmlns:r="http://schemas.openxmlformats.org/officeDocument/2006/relationships" id="2147483650" r:id="Rcfd958a5cc114a2e"/>
    <p:sldLayoutId xmlns:r="http://schemas.openxmlformats.org/officeDocument/2006/relationships" id="2147483651" r:id="Racf5d4d720ba4909"/>
    <p:sldLayoutId xmlns:r="http://schemas.openxmlformats.org/officeDocument/2006/relationships" id="2147483652" r:id="Rd82a91c28163494d"/>
    <p:sldLayoutId xmlns:r="http://schemas.openxmlformats.org/officeDocument/2006/relationships" id="2147483653" r:id="R958e0e33988d4f2f"/>
    <p:sldLayoutId xmlns:r="http://schemas.openxmlformats.org/officeDocument/2006/relationships" id="2147483654" r:id="Re800fa53784043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898c35eaa0c4429" /><Relationship Type="http://schemas.openxmlformats.org/officeDocument/2006/relationships/notesSlide" Target="/ppt/notesSlides/notesSlide1.xml" Id="R4fab58719e8f48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a009cb97e14368" /><Relationship Type="http://schemas.openxmlformats.org/officeDocument/2006/relationships/notesSlide" Target="/ppt/notesSlides/notesSlide2.xml" Id="R751cd4faa59a46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4b5d709e1ed4565" /><Relationship Type="http://schemas.openxmlformats.org/officeDocument/2006/relationships/notesSlide" Target="/ppt/notesSlides/notesSlide3.xml" Id="Reea47be1324646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09147d86794e6b" /><Relationship Type="http://schemas.openxmlformats.org/officeDocument/2006/relationships/notesSlide" Target="/ppt/notesSlides/notesSlide4.xml" Id="R0dca3e3dcb244c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4db4b9cdf8457c" /><Relationship Type="http://schemas.openxmlformats.org/officeDocument/2006/relationships/chart" Target="/ppt/slides/charts/chart1.xml" Id="R86b063bf1292449f" /><Relationship Type="http://schemas.openxmlformats.org/officeDocument/2006/relationships/notesSlide" Target="/ppt/notesSlides/notesSlide5.xml" Id="R9b2902d593d94d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396ac0a306e4361" /><Relationship Type="http://schemas.openxmlformats.org/officeDocument/2006/relationships/notesSlide" Target="/ppt/notesSlides/notesSlide6.xml" Id="R49ac37bf85a246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d52374a92174d9e" /><Relationship Type="http://schemas.openxmlformats.org/officeDocument/2006/relationships/chart" Target="/ppt/slides/charts/chart2.xml" Id="R897f894d62a64b97" /><Relationship Type="http://schemas.openxmlformats.org/officeDocument/2006/relationships/notesSlide" Target="/ppt/notesSlides/notesSlide7.xml" Id="Ra1fd617c865e40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2b56e49ab34b40" /><Relationship Type="http://schemas.openxmlformats.org/officeDocument/2006/relationships/chart" Target="/ppt/slides/charts/chart3.xml" Id="Re4f84e53c5c8468e" /><Relationship Type="http://schemas.openxmlformats.org/officeDocument/2006/relationships/notesSlide" Target="/ppt/notesSlides/notesSlide8.xml" Id="R3769c54dfe5a43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078c7d97a7846f5" /><Relationship Type="http://schemas.openxmlformats.org/officeDocument/2006/relationships/notesSlide" Target="/ppt/notesSlides/notesSlide9.xml" Id="R8f2037f33e4146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Seed 7</c:v>
          </c:tx>
          <c:spPr>
            <a:ln xmlns:a="http://schemas.openxmlformats.org/drawingml/2006/main" w="19050">
              <a:solidFill>
                <a:srgbClr val="087E8B"/>
              </a:solidFill>
            </a:ln>
          </c:spPr>
          <c:marker>
            <c:symbol val="none"/>
          </c:marker>
          <c:xVal>
            <c:numRef>
              <c:f>'Chart Data'!$A$2:$A$133</c:f>
              <c:numCache>
                <c:formatCode>General</c:formatCode>
                <c:ptCount val="132"/>
                <c:pt idx="0">
                  <c:v>911</c:v>
                </c:pt>
                <c:pt idx="1">
                  <c:v>1073</c:v>
                </c:pt>
                <c:pt idx="2">
                  <c:v>1275</c:v>
                </c:pt>
                <c:pt idx="3">
                  <c:v>1509</c:v>
                </c:pt>
                <c:pt idx="4">
                  <c:v>1755</c:v>
                </c:pt>
                <c:pt idx="5">
                  <c:v>1996</c:v>
                </c:pt>
                <c:pt idx="6">
                  <c:v>2268</c:v>
                </c:pt>
                <c:pt idx="7">
                  <c:v>3276</c:v>
                </c:pt>
                <c:pt idx="8">
                  <c:v>4201</c:v>
                </c:pt>
                <c:pt idx="9">
                  <c:v>4855</c:v>
                </c:pt>
                <c:pt idx="10">
                  <c:v>5821</c:v>
                </c:pt>
                <c:pt idx="11">
                  <c:v>6566</c:v>
                </c:pt>
                <c:pt idx="12">
                  <c:v>7143</c:v>
                </c:pt>
                <c:pt idx="13">
                  <c:v>7749</c:v>
                </c:pt>
                <c:pt idx="14">
                  <c:v>8367</c:v>
                </c:pt>
                <c:pt idx="15">
                  <c:v>8954</c:v>
                </c:pt>
                <c:pt idx="16">
                  <c:v>9542</c:v>
                </c:pt>
                <c:pt idx="17">
                  <c:v>10146</c:v>
                </c:pt>
                <c:pt idx="18">
                  <c:v>10711</c:v>
                </c:pt>
                <c:pt idx="19">
                  <c:v>11377</c:v>
                </c:pt>
                <c:pt idx="20">
                  <c:v>11893</c:v>
                </c:pt>
                <c:pt idx="21">
                  <c:v>12417</c:v>
                </c:pt>
                <c:pt idx="22">
                  <c:v>13085</c:v>
                </c:pt>
                <c:pt idx="23">
                  <c:v>13859</c:v>
                </c:pt>
                <c:pt idx="24">
                  <c:v>14432</c:v>
                </c:pt>
                <c:pt idx="25">
                  <c:v>15121</c:v>
                </c:pt>
                <c:pt idx="26">
                  <c:v>15678</c:v>
                </c:pt>
                <c:pt idx="27">
                  <c:v>16183</c:v>
                </c:pt>
                <c:pt idx="28">
                  <c:v>16692</c:v>
                </c:pt>
                <c:pt idx="29">
                  <c:v>17203</c:v>
                </c:pt>
                <c:pt idx="30">
                  <c:v>17750</c:v>
                </c:pt>
                <c:pt idx="31">
                  <c:v>18236</c:v>
                </c:pt>
                <c:pt idx="32">
                  <c:v>18746</c:v>
                </c:pt>
                <c:pt idx="33">
                  <c:v>19301</c:v>
                </c:pt>
                <c:pt idx="34">
                  <c:v>19835</c:v>
                </c:pt>
                <c:pt idx="35">
                  <c:v>20335</c:v>
                </c:pt>
                <c:pt idx="36">
                  <c:v>20850</c:v>
                </c:pt>
                <c:pt idx="37">
                  <c:v>21346</c:v>
                </c:pt>
                <c:pt idx="38">
                  <c:v>21856</c:v>
                </c:pt>
                <c:pt idx="39">
                  <c:v>22352</c:v>
                </c:pt>
                <c:pt idx="40">
                  <c:v>22875</c:v>
                </c:pt>
                <c:pt idx="41">
                  <c:v>23450</c:v>
                </c:pt>
                <c:pt idx="42">
                  <c:v>23969</c:v>
                </c:pt>
                <c:pt idx="43">
                  <c:v>24481</c:v>
                </c:pt>
                <c:pt idx="44">
                  <c:v>25016</c:v>
                </c:pt>
                <c:pt idx="45">
                  <c:v>25557</c:v>
                </c:pt>
                <c:pt idx="46">
                  <c:v>26085</c:v>
                </c:pt>
                <c:pt idx="47">
                  <c:v>26615</c:v>
                </c:pt>
                <c:pt idx="48">
                  <c:v>27157</c:v>
                </c:pt>
                <c:pt idx="49">
                  <c:v>27727</c:v>
                </c:pt>
                <c:pt idx="50">
                  <c:v>28228</c:v>
                </c:pt>
                <c:pt idx="51">
                  <c:v>28761</c:v>
                </c:pt>
                <c:pt idx="52">
                  <c:v>29321</c:v>
                </c:pt>
                <c:pt idx="53">
                  <c:v>29865</c:v>
                </c:pt>
                <c:pt idx="54">
                  <c:v>30379</c:v>
                </c:pt>
                <c:pt idx="55">
                  <c:v>30891</c:v>
                </c:pt>
                <c:pt idx="56">
                  <c:v>31429</c:v>
                </c:pt>
                <c:pt idx="57">
                  <c:v>32161</c:v>
                </c:pt>
                <c:pt idx="58">
                  <c:v>32951</c:v>
                </c:pt>
                <c:pt idx="59">
                  <c:v>33609</c:v>
                </c:pt>
                <c:pt idx="60">
                  <c:v>34195</c:v>
                </c:pt>
                <c:pt idx="61">
                  <c:v>34926</c:v>
                </c:pt>
                <c:pt idx="62">
                  <c:v>35891</c:v>
                </c:pt>
                <c:pt idx="63">
                  <c:v>36846</c:v>
                </c:pt>
                <c:pt idx="64">
                  <c:v>37721</c:v>
                </c:pt>
                <c:pt idx="65">
                  <c:v>38608</c:v>
                </c:pt>
                <c:pt idx="66">
                  <c:v>39302</c:v>
                </c:pt>
                <c:pt idx="67">
                  <c:v>39870</c:v>
                </c:pt>
                <c:pt idx="68">
                  <c:v>40478</c:v>
                </c:pt>
                <c:pt idx="69">
                  <c:v>41067</c:v>
                </c:pt>
                <c:pt idx="70">
                  <c:v>41736</c:v>
                </c:pt>
                <c:pt idx="71">
                  <c:v>42454</c:v>
                </c:pt>
                <c:pt idx="72">
                  <c:v>43183</c:v>
                </c:pt>
                <c:pt idx="73">
                  <c:v>44019</c:v>
                </c:pt>
                <c:pt idx="74">
                  <c:v>44796</c:v>
                </c:pt>
                <c:pt idx="75">
                  <c:v>45649</c:v>
                </c:pt>
                <c:pt idx="76">
                  <c:v>46439</c:v>
                </c:pt>
                <c:pt idx="77">
                  <c:v>47265</c:v>
                </c:pt>
                <c:pt idx="78">
                  <c:v>48078</c:v>
                </c:pt>
                <c:pt idx="79">
                  <c:v>48846</c:v>
                </c:pt>
                <c:pt idx="80">
                  <c:v>49594</c:v>
                </c:pt>
                <c:pt idx="81">
                  <c:v>50443</c:v>
                </c:pt>
                <c:pt idx="82">
                  <c:v>51157</c:v>
                </c:pt>
                <c:pt idx="83">
                  <c:v>51827</c:v>
                </c:pt>
                <c:pt idx="84">
                  <c:v>52523</c:v>
                </c:pt>
                <c:pt idx="85">
                  <c:v>53224</c:v>
                </c:pt>
                <c:pt idx="86">
                  <c:v>53872</c:v>
                </c:pt>
                <c:pt idx="87">
                  <c:v>54594</c:v>
                </c:pt>
                <c:pt idx="88">
                  <c:v>55278</c:v>
                </c:pt>
                <c:pt idx="89">
                  <c:v>55823</c:v>
                </c:pt>
                <c:pt idx="90">
                  <c:v>56424</c:v>
                </c:pt>
                <c:pt idx="91">
                  <c:v>57015</c:v>
                </c:pt>
                <c:pt idx="92">
                  <c:v>57615</c:v>
                </c:pt>
                <c:pt idx="93">
                  <c:v>58199</c:v>
                </c:pt>
                <c:pt idx="94">
                  <c:v>58729</c:v>
                </c:pt>
                <c:pt idx="95">
                  <c:v>59363</c:v>
                </c:pt>
                <c:pt idx="96">
                  <c:v>59912</c:v>
                </c:pt>
                <c:pt idx="97">
                  <c:v>60462</c:v>
                </c:pt>
                <c:pt idx="98">
                  <c:v>61023</c:v>
                </c:pt>
                <c:pt idx="99">
                  <c:v>61550</c:v>
                </c:pt>
                <c:pt idx="100">
                  <c:v>62138</c:v>
                </c:pt>
                <c:pt idx="101">
                  <c:v>62664</c:v>
                </c:pt>
                <c:pt idx="102">
                  <c:v>63231</c:v>
                </c:pt>
                <c:pt idx="103">
                  <c:v>63807</c:v>
                </c:pt>
                <c:pt idx="104">
                  <c:v>64418</c:v>
                </c:pt>
                <c:pt idx="105">
                  <c:v>64968</c:v>
                </c:pt>
                <c:pt idx="106">
                  <c:v>65637</c:v>
                </c:pt>
                <c:pt idx="107">
                  <c:v>66426</c:v>
                </c:pt>
                <c:pt idx="108">
                  <c:v>66992</c:v>
                </c:pt>
                <c:pt idx="109">
                  <c:v>67506</c:v>
                </c:pt>
                <c:pt idx="110">
                  <c:v>68030</c:v>
                </c:pt>
                <c:pt idx="111">
                  <c:v>68521</c:v>
                </c:pt>
                <c:pt idx="112">
                  <c:v>69035</c:v>
                </c:pt>
                <c:pt idx="113">
                  <c:v>69619</c:v>
                </c:pt>
                <c:pt idx="114">
                  <c:v>70161</c:v>
                </c:pt>
                <c:pt idx="115">
                  <c:v>70738</c:v>
                </c:pt>
                <c:pt idx="116">
                  <c:v>71314</c:v>
                </c:pt>
                <c:pt idx="117">
                  <c:v>71847</c:v>
                </c:pt>
                <c:pt idx="118">
                  <c:v>72354</c:v>
                </c:pt>
                <c:pt idx="119">
                  <c:v>72923</c:v>
                </c:pt>
                <c:pt idx="120">
                  <c:v>73453</c:v>
                </c:pt>
                <c:pt idx="121">
                  <c:v>74026</c:v>
                </c:pt>
                <c:pt idx="122">
                  <c:v>74589</c:v>
                </c:pt>
                <c:pt idx="123">
                  <c:v>75136</c:v>
                </c:pt>
                <c:pt idx="124">
                  <c:v>75695</c:v>
                </c:pt>
                <c:pt idx="125">
                  <c:v>76228</c:v>
                </c:pt>
                <c:pt idx="126">
                  <c:v>76801</c:v>
                </c:pt>
                <c:pt idx="127">
                  <c:v>77395</c:v>
                </c:pt>
                <c:pt idx="128">
                  <c:v>77991</c:v>
                </c:pt>
                <c:pt idx="129">
                  <c:v>78725</c:v>
                </c:pt>
                <c:pt idx="130">
                  <c:v>79529</c:v>
                </c:pt>
                <c:pt idx="131">
                  <c:v>79890</c:v>
                </c:pt>
              </c:numCache>
            </c:numRef>
          </c:xVal>
          <c:yVal>
            <c:numRef>
              <c:f>'Chart Data'!$B$2:$B$133</c:f>
              <c:numCache>
                <c:formatCode>General</c:formatCode>
                <c:ptCount val="132"/>
                <c:pt idx="0">
                  <c:v>-3.515644</c:v>
                </c:pt>
                <c:pt idx="1">
                  <c:v>-3.670076</c:v>
                </c:pt>
                <c:pt idx="2">
                  <c:v>-3.093672</c:v>
                </c:pt>
                <c:pt idx="3">
                  <c:v>-3.952848</c:v>
                </c:pt>
                <c:pt idx="4">
                  <c:v>-9.034451</c:v>
                </c:pt>
                <c:pt idx="5">
                  <c:v>-13.17477</c:v>
                </c:pt>
                <c:pt idx="6">
                  <c:v>-22.547572</c:v>
                </c:pt>
                <c:pt idx="7">
                  <c:v>-27.302721</c:v>
                </c:pt>
                <c:pt idx="8">
                  <c:v>-27.977755</c:v>
                </c:pt>
                <c:pt idx="9">
                  <c:v>-19.083692</c:v>
                </c:pt>
                <c:pt idx="10">
                  <c:v>9.437269</c:v>
                </c:pt>
                <c:pt idx="11">
                  <c:v>37.167181</c:v>
                </c:pt>
                <c:pt idx="12">
                  <c:v>63.80728</c:v>
                </c:pt>
                <c:pt idx="13">
                  <c:v>85.485719</c:v>
                </c:pt>
                <c:pt idx="14">
                  <c:v>95.085298</c:v>
                </c:pt>
                <c:pt idx="15">
                  <c:v>103.323661</c:v>
                </c:pt>
                <c:pt idx="16">
                  <c:v>109.965173</c:v>
                </c:pt>
                <c:pt idx="17">
                  <c:v>113.125975</c:v>
                </c:pt>
                <c:pt idx="18">
                  <c:v>114.233513</c:v>
                </c:pt>
                <c:pt idx="19">
                  <c:v>106.724825</c:v>
                </c:pt>
                <c:pt idx="20">
                  <c:v>105.36502</c:v>
                </c:pt>
                <c:pt idx="21">
                  <c:v>104.503096</c:v>
                </c:pt>
                <c:pt idx="22">
                  <c:v>96.007391</c:v>
                </c:pt>
                <c:pt idx="23">
                  <c:v>98.320687</c:v>
                </c:pt>
                <c:pt idx="24">
                  <c:v>97.7375</c:v>
                </c:pt>
                <c:pt idx="25">
                  <c:v>94.750468</c:v>
                </c:pt>
                <c:pt idx="26">
                  <c:v>104.146852</c:v>
                </c:pt>
                <c:pt idx="27">
                  <c:v>109.041307</c:v>
                </c:pt>
                <c:pt idx="28">
                  <c:v>110.394551</c:v>
                </c:pt>
                <c:pt idx="29">
                  <c:v>113.368122</c:v>
                </c:pt>
                <c:pt idx="30">
                  <c:v>113.159052</c:v>
                </c:pt>
                <c:pt idx="31">
                  <c:v>112.378854</c:v>
                </c:pt>
                <c:pt idx="32">
                  <c:v>112.571928</c:v>
                </c:pt>
                <c:pt idx="33">
                  <c:v>114.947237</c:v>
                </c:pt>
                <c:pt idx="34">
                  <c:v>114.259817</c:v>
                </c:pt>
                <c:pt idx="35">
                  <c:v>114.865351</c:v>
                </c:pt>
                <c:pt idx="36">
                  <c:v>115.088271</c:v>
                </c:pt>
                <c:pt idx="37">
                  <c:v>112.10425</c:v>
                </c:pt>
                <c:pt idx="38">
                  <c:v>111.077113</c:v>
                </c:pt>
                <c:pt idx="39">
                  <c:v>110.944004</c:v>
                </c:pt>
                <c:pt idx="40">
                  <c:v>111.241402</c:v>
                </c:pt>
                <c:pt idx="41">
                  <c:v>115.305691</c:v>
                </c:pt>
                <c:pt idx="42">
                  <c:v>115.434739</c:v>
                </c:pt>
                <c:pt idx="43">
                  <c:v>116.172298</c:v>
                </c:pt>
                <c:pt idx="44">
                  <c:v>116.643629</c:v>
                </c:pt>
                <c:pt idx="45">
                  <c:v>114.412089</c:v>
                </c:pt>
                <c:pt idx="46">
                  <c:v>114.597801</c:v>
                </c:pt>
                <c:pt idx="47">
                  <c:v>115.217151</c:v>
                </c:pt>
                <c:pt idx="48">
                  <c:v>115.211289</c:v>
                </c:pt>
                <c:pt idx="49">
                  <c:v>116.307368</c:v>
                </c:pt>
                <c:pt idx="50">
                  <c:v>114.688063</c:v>
                </c:pt>
                <c:pt idx="51">
                  <c:v>114.646525</c:v>
                </c:pt>
                <c:pt idx="52">
                  <c:v>114.927552</c:v>
                </c:pt>
                <c:pt idx="53">
                  <c:v>113.292538</c:v>
                </c:pt>
                <c:pt idx="54">
                  <c:v>113.704406</c:v>
                </c:pt>
                <c:pt idx="55">
                  <c:v>112.262385</c:v>
                </c:pt>
                <c:pt idx="56">
                  <c:v>111.638407</c:v>
                </c:pt>
                <c:pt idx="57">
                  <c:v>111.933023</c:v>
                </c:pt>
                <c:pt idx="58">
                  <c:v>111.424331</c:v>
                </c:pt>
                <c:pt idx="59">
                  <c:v>114.277941</c:v>
                </c:pt>
                <c:pt idx="60">
                  <c:v>116.814364</c:v>
                </c:pt>
                <c:pt idx="61">
                  <c:v>115.498952</c:v>
                </c:pt>
                <c:pt idx="62">
                  <c:v>114.097883</c:v>
                </c:pt>
                <c:pt idx="63">
                  <c:v>109.157415</c:v>
                </c:pt>
                <c:pt idx="64">
                  <c:v>105.207476</c:v>
                </c:pt>
                <c:pt idx="65">
                  <c:v>106.440388</c:v>
                </c:pt>
                <c:pt idx="66">
                  <c:v>106.932878</c:v>
                </c:pt>
                <c:pt idx="67">
                  <c:v>108.875657</c:v>
                </c:pt>
                <c:pt idx="68">
                  <c:v>109.987559</c:v>
                </c:pt>
                <c:pt idx="69">
                  <c:v>108.619383</c:v>
                </c:pt>
                <c:pt idx="70">
                  <c:v>111.830658</c:v>
                </c:pt>
                <c:pt idx="71">
                  <c:v>113.663003</c:v>
                </c:pt>
                <c:pt idx="72">
                  <c:v>111.527224</c:v>
                </c:pt>
                <c:pt idx="73">
                  <c:v>111.441369</c:v>
                </c:pt>
                <c:pt idx="74">
                  <c:v>111.964334</c:v>
                </c:pt>
                <c:pt idx="75">
                  <c:v>112.003651</c:v>
                </c:pt>
                <c:pt idx="76">
                  <c:v>115.941735</c:v>
                </c:pt>
                <c:pt idx="77">
                  <c:v>116.763664</c:v>
                </c:pt>
                <c:pt idx="78">
                  <c:v>117.352826</c:v>
                </c:pt>
                <c:pt idx="79">
                  <c:v>117.901723</c:v>
                </c:pt>
                <c:pt idx="80">
                  <c:v>116.901656</c:v>
                </c:pt>
                <c:pt idx="81">
                  <c:v>118.999712</c:v>
                </c:pt>
                <c:pt idx="82">
                  <c:v>117.286384</c:v>
                </c:pt>
                <c:pt idx="83">
                  <c:v>115.151455</c:v>
                </c:pt>
                <c:pt idx="84">
                  <c:v>113.205855</c:v>
                </c:pt>
                <c:pt idx="85">
                  <c:v>111.980793</c:v>
                </c:pt>
                <c:pt idx="86">
                  <c:v>110.970199</c:v>
                </c:pt>
                <c:pt idx="87">
                  <c:v>115.362394</c:v>
                </c:pt>
                <c:pt idx="88">
                  <c:v>118.820679</c:v>
                </c:pt>
                <c:pt idx="89">
                  <c:v>116.794186</c:v>
                </c:pt>
                <c:pt idx="90">
                  <c:v>117.269975</c:v>
                </c:pt>
                <c:pt idx="91">
                  <c:v>115.074501</c:v>
                </c:pt>
                <c:pt idx="92">
                  <c:v>113.222066</c:v>
                </c:pt>
                <c:pt idx="93">
                  <c:v>113.476186</c:v>
                </c:pt>
                <c:pt idx="94">
                  <c:v>112.625244</c:v>
                </c:pt>
                <c:pt idx="95">
                  <c:v>114.6948</c:v>
                </c:pt>
                <c:pt idx="96">
                  <c:v>113.037614</c:v>
                </c:pt>
                <c:pt idx="97">
                  <c:v>113.76217</c:v>
                </c:pt>
                <c:pt idx="98">
                  <c:v>116.197723</c:v>
                </c:pt>
                <c:pt idx="99">
                  <c:v>112.637328</c:v>
                </c:pt>
                <c:pt idx="100">
                  <c:v>115.158154</c:v>
                </c:pt>
                <c:pt idx="101">
                  <c:v>114.06374</c:v>
                </c:pt>
                <c:pt idx="102">
                  <c:v>114.037156</c:v>
                </c:pt>
                <c:pt idx="103">
                  <c:v>115.971404</c:v>
                </c:pt>
                <c:pt idx="104">
                  <c:v>114.35129</c:v>
                </c:pt>
                <c:pt idx="105">
                  <c:v>116.130705</c:v>
                </c:pt>
                <c:pt idx="106">
                  <c:v>114.620928</c:v>
                </c:pt>
                <c:pt idx="107">
                  <c:v>111.268944</c:v>
                </c:pt>
                <c:pt idx="108">
                  <c:v>110.529577</c:v>
                </c:pt>
                <c:pt idx="109">
                  <c:v>109.027644</c:v>
                </c:pt>
                <c:pt idx="110">
                  <c:v>108.751103</c:v>
                </c:pt>
                <c:pt idx="111">
                  <c:v>108.871769</c:v>
                </c:pt>
                <c:pt idx="112">
                  <c:v>109.248768</c:v>
                </c:pt>
                <c:pt idx="113">
                  <c:v>113.361987</c:v>
                </c:pt>
                <c:pt idx="114">
                  <c:v>114.883883</c:v>
                </c:pt>
                <c:pt idx="115">
                  <c:v>119.364232</c:v>
                </c:pt>
                <c:pt idx="116">
                  <c:v>122.180131</c:v>
                </c:pt>
                <c:pt idx="117">
                  <c:v>119.904355</c:v>
                </c:pt>
                <c:pt idx="118">
                  <c:v>118.298015</c:v>
                </c:pt>
                <c:pt idx="119">
                  <c:v>117.846171</c:v>
                </c:pt>
                <c:pt idx="120">
                  <c:v>115.566469</c:v>
                </c:pt>
                <c:pt idx="121">
                  <c:v>115.773128</c:v>
                </c:pt>
                <c:pt idx="122">
                  <c:v>118.708179</c:v>
                </c:pt>
                <c:pt idx="123">
                  <c:v>117.804253</c:v>
                </c:pt>
                <c:pt idx="124">
                  <c:v>118.445362</c:v>
                </c:pt>
                <c:pt idx="125">
                  <c:v>117.740253</c:v>
                </c:pt>
                <c:pt idx="126">
                  <c:v>116.569606</c:v>
                </c:pt>
                <c:pt idx="127">
                  <c:v>115.939711</c:v>
                </c:pt>
                <c:pt idx="128">
                  <c:v>114.424693</c:v>
                </c:pt>
                <c:pt idx="129">
                  <c:v>113.519273</c:v>
                </c:pt>
                <c:pt idx="130">
                  <c:v>111.325453</c:v>
                </c:pt>
                <c:pt idx="131">
                  <c:v>111.295603</c:v>
                </c:pt>
              </c:numCache>
            </c:numRef>
          </c:yVal>
        </c:ser>
        <c:ser>
          <c:idx val="1"/>
          <c:order val="1"/>
          <c:tx>
            <c:v>Seed 17</c:v>
          </c:tx>
          <c:spPr>
            <a:ln xmlns:a="http://schemas.openxmlformats.org/drawingml/2006/main" w="19050">
              <a:solidFill>
                <a:srgbClr val="D66343"/>
              </a:solidFill>
            </a:ln>
          </c:spPr>
          <c:marker>
            <c:symbol val="none"/>
          </c:marker>
          <c:xVal>
            <c:numRef>
              <c:f>'Chart Data'!$C$2:$C$138</c:f>
              <c:numCache>
                <c:formatCode>General</c:formatCode>
                <c:ptCount val="137"/>
                <c:pt idx="0">
                  <c:v>927</c:v>
                </c:pt>
                <c:pt idx="1">
                  <c:v>1191</c:v>
                </c:pt>
                <c:pt idx="2">
                  <c:v>1370</c:v>
                </c:pt>
                <c:pt idx="3">
                  <c:v>1605</c:v>
                </c:pt>
                <c:pt idx="4">
                  <c:v>1854</c:v>
                </c:pt>
                <c:pt idx="5">
                  <c:v>2177</c:v>
                </c:pt>
                <c:pt idx="6">
                  <c:v>2314</c:v>
                </c:pt>
                <c:pt idx="7">
                  <c:v>2469</c:v>
                </c:pt>
                <c:pt idx="8">
                  <c:v>2593</c:v>
                </c:pt>
                <c:pt idx="9">
                  <c:v>2725</c:v>
                </c:pt>
                <c:pt idx="10">
                  <c:v>2862</c:v>
                </c:pt>
                <c:pt idx="11">
                  <c:v>3019</c:v>
                </c:pt>
                <c:pt idx="12">
                  <c:v>3171</c:v>
                </c:pt>
                <c:pt idx="13">
                  <c:v>3341</c:v>
                </c:pt>
                <c:pt idx="14">
                  <c:v>3507</c:v>
                </c:pt>
                <c:pt idx="15">
                  <c:v>3652</c:v>
                </c:pt>
                <c:pt idx="16">
                  <c:v>3788</c:v>
                </c:pt>
                <c:pt idx="17">
                  <c:v>3934</c:v>
                </c:pt>
                <c:pt idx="18">
                  <c:v>4091</c:v>
                </c:pt>
                <c:pt idx="19">
                  <c:v>4300</c:v>
                </c:pt>
                <c:pt idx="20">
                  <c:v>4449</c:v>
                </c:pt>
                <c:pt idx="21">
                  <c:v>4632</c:v>
                </c:pt>
                <c:pt idx="22">
                  <c:v>4783</c:v>
                </c:pt>
                <c:pt idx="23">
                  <c:v>5058</c:v>
                </c:pt>
                <c:pt idx="24">
                  <c:v>5234</c:v>
                </c:pt>
                <c:pt idx="25">
                  <c:v>5410</c:v>
                </c:pt>
                <c:pt idx="26">
                  <c:v>6035</c:v>
                </c:pt>
                <c:pt idx="27">
                  <c:v>6571</c:v>
                </c:pt>
                <c:pt idx="28">
                  <c:v>7030</c:v>
                </c:pt>
                <c:pt idx="29">
                  <c:v>7799</c:v>
                </c:pt>
                <c:pt idx="30">
                  <c:v>8575</c:v>
                </c:pt>
                <c:pt idx="31">
                  <c:v>9751</c:v>
                </c:pt>
                <c:pt idx="32">
                  <c:v>10921</c:v>
                </c:pt>
                <c:pt idx="33">
                  <c:v>12080</c:v>
                </c:pt>
                <c:pt idx="34">
                  <c:v>13396</c:v>
                </c:pt>
                <c:pt idx="35">
                  <c:v>14106</c:v>
                </c:pt>
                <c:pt idx="36">
                  <c:v>14827</c:v>
                </c:pt>
                <c:pt idx="37">
                  <c:v>15576</c:v>
                </c:pt>
                <c:pt idx="38">
                  <c:v>16304</c:v>
                </c:pt>
                <c:pt idx="39">
                  <c:v>17017</c:v>
                </c:pt>
                <c:pt idx="40">
                  <c:v>17712</c:v>
                </c:pt>
                <c:pt idx="41">
                  <c:v>18423</c:v>
                </c:pt>
                <c:pt idx="42">
                  <c:v>19073</c:v>
                </c:pt>
                <c:pt idx="43">
                  <c:v>19696</c:v>
                </c:pt>
                <c:pt idx="44">
                  <c:v>20331</c:v>
                </c:pt>
                <c:pt idx="45">
                  <c:v>20923</c:v>
                </c:pt>
                <c:pt idx="46">
                  <c:v>21544</c:v>
                </c:pt>
                <c:pt idx="47">
                  <c:v>22135</c:v>
                </c:pt>
                <c:pt idx="48">
                  <c:v>22794</c:v>
                </c:pt>
                <c:pt idx="49">
                  <c:v>23437</c:v>
                </c:pt>
                <c:pt idx="50">
                  <c:v>24064</c:v>
                </c:pt>
                <c:pt idx="51">
                  <c:v>24711</c:v>
                </c:pt>
                <c:pt idx="52">
                  <c:v>25314</c:v>
                </c:pt>
                <c:pt idx="53">
                  <c:v>25944</c:v>
                </c:pt>
                <c:pt idx="54">
                  <c:v>26617</c:v>
                </c:pt>
                <c:pt idx="55">
                  <c:v>27249</c:v>
                </c:pt>
                <c:pt idx="56">
                  <c:v>27867</c:v>
                </c:pt>
                <c:pt idx="57">
                  <c:v>28516</c:v>
                </c:pt>
                <c:pt idx="58">
                  <c:v>29130</c:v>
                </c:pt>
                <c:pt idx="59">
                  <c:v>29741</c:v>
                </c:pt>
                <c:pt idx="60">
                  <c:v>30405</c:v>
                </c:pt>
                <c:pt idx="61">
                  <c:v>31060</c:v>
                </c:pt>
                <c:pt idx="62">
                  <c:v>31691</c:v>
                </c:pt>
                <c:pt idx="63">
                  <c:v>32313</c:v>
                </c:pt>
                <c:pt idx="64">
                  <c:v>32988</c:v>
                </c:pt>
                <c:pt idx="65">
                  <c:v>33634</c:v>
                </c:pt>
                <c:pt idx="66">
                  <c:v>34275</c:v>
                </c:pt>
                <c:pt idx="67">
                  <c:v>34895</c:v>
                </c:pt>
                <c:pt idx="68">
                  <c:v>35521</c:v>
                </c:pt>
                <c:pt idx="69">
                  <c:v>36144</c:v>
                </c:pt>
                <c:pt idx="70">
                  <c:v>36824</c:v>
                </c:pt>
                <c:pt idx="71">
                  <c:v>37465</c:v>
                </c:pt>
                <c:pt idx="72">
                  <c:v>38114</c:v>
                </c:pt>
                <c:pt idx="73">
                  <c:v>38769</c:v>
                </c:pt>
                <c:pt idx="74">
                  <c:v>39391</c:v>
                </c:pt>
                <c:pt idx="75">
                  <c:v>39999</c:v>
                </c:pt>
                <c:pt idx="76">
                  <c:v>40696</c:v>
                </c:pt>
                <c:pt idx="77">
                  <c:v>41332</c:v>
                </c:pt>
                <c:pt idx="78">
                  <c:v>41974</c:v>
                </c:pt>
                <c:pt idx="79">
                  <c:v>42650</c:v>
                </c:pt>
                <c:pt idx="80">
                  <c:v>43279</c:v>
                </c:pt>
                <c:pt idx="81">
                  <c:v>43957</c:v>
                </c:pt>
                <c:pt idx="82">
                  <c:v>44658</c:v>
                </c:pt>
                <c:pt idx="83">
                  <c:v>45417</c:v>
                </c:pt>
                <c:pt idx="84">
                  <c:v>46175</c:v>
                </c:pt>
                <c:pt idx="85">
                  <c:v>46926</c:v>
                </c:pt>
                <c:pt idx="86">
                  <c:v>47610</c:v>
                </c:pt>
                <c:pt idx="87">
                  <c:v>48362</c:v>
                </c:pt>
                <c:pt idx="88">
                  <c:v>49125</c:v>
                </c:pt>
                <c:pt idx="89">
                  <c:v>49845</c:v>
                </c:pt>
                <c:pt idx="90">
                  <c:v>50527</c:v>
                </c:pt>
                <c:pt idx="91">
                  <c:v>51215</c:v>
                </c:pt>
                <c:pt idx="92">
                  <c:v>51873</c:v>
                </c:pt>
                <c:pt idx="93">
                  <c:v>52506</c:v>
                </c:pt>
                <c:pt idx="94">
                  <c:v>53177</c:v>
                </c:pt>
                <c:pt idx="95">
                  <c:v>53774</c:v>
                </c:pt>
                <c:pt idx="96">
                  <c:v>54408</c:v>
                </c:pt>
                <c:pt idx="97">
                  <c:v>55036</c:v>
                </c:pt>
                <c:pt idx="98">
                  <c:v>55691</c:v>
                </c:pt>
                <c:pt idx="99">
                  <c:v>56318</c:v>
                </c:pt>
                <c:pt idx="100">
                  <c:v>56995</c:v>
                </c:pt>
                <c:pt idx="101">
                  <c:v>57623</c:v>
                </c:pt>
                <c:pt idx="102">
                  <c:v>58268</c:v>
                </c:pt>
                <c:pt idx="103">
                  <c:v>58889</c:v>
                </c:pt>
                <c:pt idx="104">
                  <c:v>59556</c:v>
                </c:pt>
                <c:pt idx="105">
                  <c:v>60158</c:v>
                </c:pt>
                <c:pt idx="106">
                  <c:v>60817</c:v>
                </c:pt>
                <c:pt idx="107">
                  <c:v>61453</c:v>
                </c:pt>
                <c:pt idx="108">
                  <c:v>62057</c:v>
                </c:pt>
                <c:pt idx="109">
                  <c:v>62764</c:v>
                </c:pt>
                <c:pt idx="110">
                  <c:v>63424</c:v>
                </c:pt>
                <c:pt idx="111">
                  <c:v>64142</c:v>
                </c:pt>
                <c:pt idx="112">
                  <c:v>64820</c:v>
                </c:pt>
                <c:pt idx="113">
                  <c:v>65423</c:v>
                </c:pt>
                <c:pt idx="114">
                  <c:v>66015</c:v>
                </c:pt>
                <c:pt idx="115">
                  <c:v>66693</c:v>
                </c:pt>
                <c:pt idx="116">
                  <c:v>67291</c:v>
                </c:pt>
                <c:pt idx="117">
                  <c:v>67949</c:v>
                </c:pt>
                <c:pt idx="118">
                  <c:v>68641</c:v>
                </c:pt>
                <c:pt idx="119">
                  <c:v>69332</c:v>
                </c:pt>
                <c:pt idx="120">
                  <c:v>70032</c:v>
                </c:pt>
                <c:pt idx="121">
                  <c:v>70735</c:v>
                </c:pt>
                <c:pt idx="122">
                  <c:v>71336</c:v>
                </c:pt>
                <c:pt idx="123">
                  <c:v>71980</c:v>
                </c:pt>
                <c:pt idx="124">
                  <c:v>72649</c:v>
                </c:pt>
                <c:pt idx="125">
                  <c:v>73256</c:v>
                </c:pt>
                <c:pt idx="126">
                  <c:v>73929</c:v>
                </c:pt>
                <c:pt idx="127">
                  <c:v>74530</c:v>
                </c:pt>
                <c:pt idx="128">
                  <c:v>75133</c:v>
                </c:pt>
                <c:pt idx="129">
                  <c:v>75784</c:v>
                </c:pt>
                <c:pt idx="130">
                  <c:v>76495</c:v>
                </c:pt>
                <c:pt idx="131">
                  <c:v>77173</c:v>
                </c:pt>
                <c:pt idx="132">
                  <c:v>77858</c:v>
                </c:pt>
                <c:pt idx="133">
                  <c:v>78558</c:v>
                </c:pt>
                <c:pt idx="134">
                  <c:v>79218</c:v>
                </c:pt>
                <c:pt idx="135">
                  <c:v>79870</c:v>
                </c:pt>
                <c:pt idx="136">
                  <c:v>79978</c:v>
                </c:pt>
              </c:numCache>
            </c:numRef>
          </c:xVal>
          <c:yVal>
            <c:numRef>
              <c:f>'Chart Data'!$D$2:$D$138</c:f>
              <c:numCache>
                <c:formatCode>General</c:formatCode>
                <c:ptCount val="137"/>
                <c:pt idx="0">
                  <c:v>-4.088884</c:v>
                </c:pt>
                <c:pt idx="1">
                  <c:v>-5.992992</c:v>
                </c:pt>
                <c:pt idx="2">
                  <c:v>-9.333616</c:v>
                </c:pt>
                <c:pt idx="3">
                  <c:v>-8.740524</c:v>
                </c:pt>
                <c:pt idx="4">
                  <c:v>-7.061748</c:v>
                </c:pt>
                <c:pt idx="5">
                  <c:v>-1.870278</c:v>
                </c:pt>
                <c:pt idx="6">
                  <c:v>-1.774498</c:v>
                </c:pt>
                <c:pt idx="7">
                  <c:v>0.02626</c:v>
                </c:pt>
                <c:pt idx="8">
                  <c:v>-4.263617</c:v>
                </c:pt>
                <c:pt idx="9">
                  <c:v>-6.233679</c:v>
                </c:pt>
                <c:pt idx="10">
                  <c:v>-10.073166</c:v>
                </c:pt>
                <c:pt idx="11">
                  <c:v>-11.88725</c:v>
                </c:pt>
                <c:pt idx="12">
                  <c:v>-12.469358</c:v>
                </c:pt>
                <c:pt idx="13">
                  <c:v>-9.600074</c:v>
                </c:pt>
                <c:pt idx="14">
                  <c:v>-8.867305</c:v>
                </c:pt>
                <c:pt idx="15">
                  <c:v>-9.963216</c:v>
                </c:pt>
                <c:pt idx="16">
                  <c:v>-9.572729</c:v>
                </c:pt>
                <c:pt idx="17">
                  <c:v>-11.012203</c:v>
                </c:pt>
                <c:pt idx="18">
                  <c:v>-7.206472</c:v>
                </c:pt>
                <c:pt idx="19">
                  <c:v>-4.079028</c:v>
                </c:pt>
                <c:pt idx="20">
                  <c:v>-5.067337</c:v>
                </c:pt>
                <c:pt idx="21">
                  <c:v>-5.232466</c:v>
                </c:pt>
                <c:pt idx="22">
                  <c:v>-6.748531</c:v>
                </c:pt>
                <c:pt idx="23">
                  <c:v>0.174681</c:v>
                </c:pt>
                <c:pt idx="24">
                  <c:v>1.644108</c:v>
                </c:pt>
                <c:pt idx="25">
                  <c:v>4.151727</c:v>
                </c:pt>
                <c:pt idx="26">
                  <c:v>19.156161</c:v>
                </c:pt>
                <c:pt idx="27">
                  <c:v>36.723674</c:v>
                </c:pt>
                <c:pt idx="28">
                  <c:v>50.993644</c:v>
                </c:pt>
                <c:pt idx="29">
                  <c:v>57.159669</c:v>
                </c:pt>
                <c:pt idx="30">
                  <c:v>64.693742</c:v>
                </c:pt>
                <c:pt idx="31">
                  <c:v>74.386985</c:v>
                </c:pt>
                <c:pt idx="32">
                  <c:v>81.094716</c:v>
                </c:pt>
                <c:pt idx="33">
                  <c:v>81.02734</c:v>
                </c:pt>
                <c:pt idx="34">
                  <c:v>77.378684</c:v>
                </c:pt>
                <c:pt idx="35">
                  <c:v>87.344257</c:v>
                </c:pt>
                <c:pt idx="36">
                  <c:v>100.2428</c:v>
                </c:pt>
                <c:pt idx="37">
                  <c:v>111.414498</c:v>
                </c:pt>
                <c:pt idx="38">
                  <c:v>117.854193</c:v>
                </c:pt>
                <c:pt idx="39">
                  <c:v>118.710984</c:v>
                </c:pt>
                <c:pt idx="40">
                  <c:v>116.790263</c:v>
                </c:pt>
                <c:pt idx="41">
                  <c:v>117.452211</c:v>
                </c:pt>
                <c:pt idx="42">
                  <c:v>116.808732</c:v>
                </c:pt>
                <c:pt idx="43">
                  <c:v>113.75181</c:v>
                </c:pt>
                <c:pt idx="44">
                  <c:v>112.784735</c:v>
                </c:pt>
                <c:pt idx="45">
                  <c:v>108.896422</c:v>
                </c:pt>
                <c:pt idx="46">
                  <c:v>109.435299</c:v>
                </c:pt>
                <c:pt idx="47">
                  <c:v>109.397506</c:v>
                </c:pt>
                <c:pt idx="48">
                  <c:v>110.404807</c:v>
                </c:pt>
                <c:pt idx="49">
                  <c:v>112.067476</c:v>
                </c:pt>
                <c:pt idx="50">
                  <c:v>114.041707</c:v>
                </c:pt>
                <c:pt idx="51">
                  <c:v>116.005939</c:v>
                </c:pt>
                <c:pt idx="52">
                  <c:v>112.594352</c:v>
                </c:pt>
                <c:pt idx="53">
                  <c:v>112.65646</c:v>
                </c:pt>
                <c:pt idx="54">
                  <c:v>114.041806</c:v>
                </c:pt>
                <c:pt idx="55">
                  <c:v>115.77656</c:v>
                </c:pt>
                <c:pt idx="56">
                  <c:v>116.110776</c:v>
                </c:pt>
                <c:pt idx="57">
                  <c:v>115.029728</c:v>
                </c:pt>
                <c:pt idx="58">
                  <c:v>113.362961</c:v>
                </c:pt>
                <c:pt idx="59">
                  <c:v>112.780046</c:v>
                </c:pt>
                <c:pt idx="60">
                  <c:v>113.783889</c:v>
                </c:pt>
                <c:pt idx="61">
                  <c:v>116.421955</c:v>
                </c:pt>
                <c:pt idx="62">
                  <c:v>117.299655</c:v>
                </c:pt>
                <c:pt idx="63">
                  <c:v>115.541737</c:v>
                </c:pt>
                <c:pt idx="64">
                  <c:v>117.050403</c:v>
                </c:pt>
                <c:pt idx="65">
                  <c:v>116.867681</c:v>
                </c:pt>
                <c:pt idx="66">
                  <c:v>116.887267</c:v>
                </c:pt>
                <c:pt idx="67">
                  <c:v>114.295944</c:v>
                </c:pt>
                <c:pt idx="68">
                  <c:v>111.107979</c:v>
                </c:pt>
                <c:pt idx="69">
                  <c:v>111.316943</c:v>
                </c:pt>
                <c:pt idx="70">
                  <c:v>114.189358</c:v>
                </c:pt>
                <c:pt idx="71">
                  <c:v>115.182412</c:v>
                </c:pt>
                <c:pt idx="72">
                  <c:v>115.323477</c:v>
                </c:pt>
                <c:pt idx="73">
                  <c:v>113.385481</c:v>
                </c:pt>
                <c:pt idx="74">
                  <c:v>113.50842</c:v>
                </c:pt>
                <c:pt idx="75">
                  <c:v>111.581935</c:v>
                </c:pt>
                <c:pt idx="76">
                  <c:v>113.115591</c:v>
                </c:pt>
                <c:pt idx="77">
                  <c:v>111.785905</c:v>
                </c:pt>
                <c:pt idx="78">
                  <c:v>112.123572</c:v>
                </c:pt>
                <c:pt idx="79">
                  <c:v>112.168417</c:v>
                </c:pt>
                <c:pt idx="80">
                  <c:v>110.090167</c:v>
                </c:pt>
                <c:pt idx="81">
                  <c:v>111.193697</c:v>
                </c:pt>
                <c:pt idx="82">
                  <c:v>110.36477</c:v>
                </c:pt>
                <c:pt idx="83">
                  <c:v>114.457881</c:v>
                </c:pt>
                <c:pt idx="84">
                  <c:v>117.879021</c:v>
                </c:pt>
                <c:pt idx="85">
                  <c:v>120.02929</c:v>
                </c:pt>
                <c:pt idx="86">
                  <c:v>116.386981</c:v>
                </c:pt>
                <c:pt idx="87">
                  <c:v>115.349663</c:v>
                </c:pt>
                <c:pt idx="88">
                  <c:v>116.01745</c:v>
                </c:pt>
                <c:pt idx="89">
                  <c:v>115.895484</c:v>
                </c:pt>
                <c:pt idx="90">
                  <c:v>115.525022</c:v>
                </c:pt>
                <c:pt idx="91">
                  <c:v>112.716767</c:v>
                </c:pt>
                <c:pt idx="92">
                  <c:v>111.066517</c:v>
                </c:pt>
                <c:pt idx="93">
                  <c:v>108.2525</c:v>
                </c:pt>
                <c:pt idx="94">
                  <c:v>111.172783</c:v>
                </c:pt>
                <c:pt idx="95">
                  <c:v>109.570626</c:v>
                </c:pt>
                <c:pt idx="96">
                  <c:v>111.634985</c:v>
                </c:pt>
                <c:pt idx="97">
                  <c:v>111.771275</c:v>
                </c:pt>
                <c:pt idx="98">
                  <c:v>114.567368</c:v>
                </c:pt>
                <c:pt idx="99">
                  <c:v>114.118103</c:v>
                </c:pt>
                <c:pt idx="100">
                  <c:v>118.089954</c:v>
                </c:pt>
                <c:pt idx="101">
                  <c:v>117.757945</c:v>
                </c:pt>
                <c:pt idx="102">
                  <c:v>118.525304</c:v>
                </c:pt>
                <c:pt idx="103">
                  <c:v>115.010515</c:v>
                </c:pt>
                <c:pt idx="104">
                  <c:v>116.187967</c:v>
                </c:pt>
                <c:pt idx="105">
                  <c:v>114.597814</c:v>
                </c:pt>
                <c:pt idx="106">
                  <c:v>115.437578</c:v>
                </c:pt>
                <c:pt idx="107">
                  <c:v>114.746045</c:v>
                </c:pt>
                <c:pt idx="108">
                  <c:v>111.976133</c:v>
                </c:pt>
                <c:pt idx="109">
                  <c:v>113.916936</c:v>
                </c:pt>
                <c:pt idx="110">
                  <c:v>115.419507</c:v>
                </c:pt>
                <c:pt idx="111">
                  <c:v>119.557917</c:v>
                </c:pt>
                <c:pt idx="112">
                  <c:v>120.525637</c:v>
                </c:pt>
                <c:pt idx="113">
                  <c:v>117.864763</c:v>
                </c:pt>
                <c:pt idx="114">
                  <c:v>111.902473</c:v>
                </c:pt>
                <c:pt idx="115">
                  <c:v>109.125426</c:v>
                </c:pt>
                <c:pt idx="116">
                  <c:v>108.886432</c:v>
                </c:pt>
                <c:pt idx="117">
                  <c:v>112.089794</c:v>
                </c:pt>
                <c:pt idx="118">
                  <c:v>114.842056</c:v>
                </c:pt>
                <c:pt idx="119">
                  <c:v>118.10636</c:v>
                </c:pt>
                <c:pt idx="120">
                  <c:v>117.940616</c:v>
                </c:pt>
                <c:pt idx="121">
                  <c:v>118.466478</c:v>
                </c:pt>
                <c:pt idx="122">
                  <c:v>115.049716</c:v>
                </c:pt>
                <c:pt idx="123">
                  <c:v>111.732404</c:v>
                </c:pt>
                <c:pt idx="124">
                  <c:v>110.641865</c:v>
                </c:pt>
                <c:pt idx="125">
                  <c:v>109.152744</c:v>
                </c:pt>
                <c:pt idx="126">
                  <c:v>110.172617</c:v>
                </c:pt>
                <c:pt idx="127">
                  <c:v>107.714058</c:v>
                </c:pt>
                <c:pt idx="128">
                  <c:v>106.590814</c:v>
                </c:pt>
                <c:pt idx="129">
                  <c:v>106.350478</c:v>
                </c:pt>
                <c:pt idx="130">
                  <c:v>110.229942</c:v>
                </c:pt>
                <c:pt idx="131">
                  <c:v>112.003375</c:v>
                </c:pt>
                <c:pt idx="132">
                  <c:v>112.907741</c:v>
                </c:pt>
                <c:pt idx="133">
                  <c:v>113.088528</c:v>
                </c:pt>
                <c:pt idx="134">
                  <c:v>112.268908</c:v>
                </c:pt>
                <c:pt idx="135">
                  <c:v>110.795254</c:v>
                </c:pt>
                <c:pt idx="136">
                  <c:v>110.145932</c:v>
                </c:pt>
              </c:numCache>
            </c:numRef>
          </c:yVal>
        </c:ser>
        <c:ser>
          <c:idx val="2"/>
          <c:order val="2"/>
          <c:tx>
            <c:v>Seed 27</c:v>
          </c:tx>
          <c:spPr>
            <a:ln xmlns:a="http://schemas.openxmlformats.org/drawingml/2006/main" w="19050">
              <a:solidFill>
                <a:srgbClr val="5865A8"/>
              </a:solidFill>
            </a:ln>
          </c:spPr>
          <c:marker>
            <c:symbol val="none"/>
          </c:marker>
          <c:xVal>
            <c:numRef>
              <c:f>'Chart Data'!$E$2:$E$126</c:f>
              <c:numCache>
                <c:formatCode>General</c:formatCode>
                <c:ptCount val="125"/>
                <c:pt idx="0">
                  <c:v>972</c:v>
                </c:pt>
                <c:pt idx="1">
                  <c:v>1210</c:v>
                </c:pt>
                <c:pt idx="2">
                  <c:v>1481</c:v>
                </c:pt>
                <c:pt idx="3">
                  <c:v>1740</c:v>
                </c:pt>
                <c:pt idx="4">
                  <c:v>1928</c:v>
                </c:pt>
                <c:pt idx="5">
                  <c:v>2143</c:v>
                </c:pt>
                <c:pt idx="6">
                  <c:v>2351</c:v>
                </c:pt>
                <c:pt idx="7">
                  <c:v>2527</c:v>
                </c:pt>
                <c:pt idx="8">
                  <c:v>2711</c:v>
                </c:pt>
                <c:pt idx="9">
                  <c:v>2889</c:v>
                </c:pt>
                <c:pt idx="10">
                  <c:v>3228</c:v>
                </c:pt>
                <c:pt idx="11">
                  <c:v>3985</c:v>
                </c:pt>
                <c:pt idx="12">
                  <c:v>4546</c:v>
                </c:pt>
                <c:pt idx="13">
                  <c:v>5217</c:v>
                </c:pt>
                <c:pt idx="14">
                  <c:v>5432</c:v>
                </c:pt>
                <c:pt idx="15">
                  <c:v>5721</c:v>
                </c:pt>
                <c:pt idx="16">
                  <c:v>5935</c:v>
                </c:pt>
                <c:pt idx="17">
                  <c:v>6128</c:v>
                </c:pt>
                <c:pt idx="18">
                  <c:v>6842</c:v>
                </c:pt>
                <c:pt idx="19">
                  <c:v>7548</c:v>
                </c:pt>
                <c:pt idx="20">
                  <c:v>8236</c:v>
                </c:pt>
                <c:pt idx="21">
                  <c:v>8925</c:v>
                </c:pt>
                <c:pt idx="22">
                  <c:v>9612</c:v>
                </c:pt>
                <c:pt idx="23">
                  <c:v>10238</c:v>
                </c:pt>
                <c:pt idx="24">
                  <c:v>10871</c:v>
                </c:pt>
                <c:pt idx="25">
                  <c:v>11565</c:v>
                </c:pt>
                <c:pt idx="26">
                  <c:v>12214</c:v>
                </c:pt>
                <c:pt idx="27">
                  <c:v>12880</c:v>
                </c:pt>
                <c:pt idx="28">
                  <c:v>13730</c:v>
                </c:pt>
                <c:pt idx="29">
                  <c:v>14394</c:v>
                </c:pt>
                <c:pt idx="30">
                  <c:v>15062</c:v>
                </c:pt>
                <c:pt idx="31">
                  <c:v>15773</c:v>
                </c:pt>
                <c:pt idx="32">
                  <c:v>16420</c:v>
                </c:pt>
                <c:pt idx="33">
                  <c:v>17079</c:v>
                </c:pt>
                <c:pt idx="34">
                  <c:v>17701</c:v>
                </c:pt>
                <c:pt idx="35">
                  <c:v>18339</c:v>
                </c:pt>
                <c:pt idx="36">
                  <c:v>18957</c:v>
                </c:pt>
                <c:pt idx="37">
                  <c:v>19603</c:v>
                </c:pt>
                <c:pt idx="38">
                  <c:v>20226</c:v>
                </c:pt>
                <c:pt idx="39">
                  <c:v>20881</c:v>
                </c:pt>
                <c:pt idx="40">
                  <c:v>21505</c:v>
                </c:pt>
                <c:pt idx="41">
                  <c:v>22119</c:v>
                </c:pt>
                <c:pt idx="42">
                  <c:v>22720</c:v>
                </c:pt>
                <c:pt idx="43">
                  <c:v>23402</c:v>
                </c:pt>
                <c:pt idx="44">
                  <c:v>24018</c:v>
                </c:pt>
                <c:pt idx="45">
                  <c:v>24682</c:v>
                </c:pt>
                <c:pt idx="46">
                  <c:v>25313</c:v>
                </c:pt>
                <c:pt idx="47">
                  <c:v>25978</c:v>
                </c:pt>
                <c:pt idx="48">
                  <c:v>26590</c:v>
                </c:pt>
                <c:pt idx="49">
                  <c:v>27223</c:v>
                </c:pt>
                <c:pt idx="50">
                  <c:v>27817</c:v>
                </c:pt>
                <c:pt idx="51">
                  <c:v>28456</c:v>
                </c:pt>
                <c:pt idx="52">
                  <c:v>29106</c:v>
                </c:pt>
                <c:pt idx="53">
                  <c:v>29779</c:v>
                </c:pt>
                <c:pt idx="54">
                  <c:v>30480</c:v>
                </c:pt>
                <c:pt idx="55">
                  <c:v>31135</c:v>
                </c:pt>
                <c:pt idx="56">
                  <c:v>31808</c:v>
                </c:pt>
                <c:pt idx="57">
                  <c:v>32525</c:v>
                </c:pt>
                <c:pt idx="58">
                  <c:v>33187</c:v>
                </c:pt>
                <c:pt idx="59">
                  <c:v>33822</c:v>
                </c:pt>
                <c:pt idx="60">
                  <c:v>34541</c:v>
                </c:pt>
                <c:pt idx="61">
                  <c:v>35216</c:v>
                </c:pt>
                <c:pt idx="62">
                  <c:v>35884</c:v>
                </c:pt>
                <c:pt idx="63">
                  <c:v>36561</c:v>
                </c:pt>
                <c:pt idx="64">
                  <c:v>37215</c:v>
                </c:pt>
                <c:pt idx="65">
                  <c:v>37930</c:v>
                </c:pt>
                <c:pt idx="66">
                  <c:v>38576</c:v>
                </c:pt>
                <c:pt idx="67">
                  <c:v>39249</c:v>
                </c:pt>
                <c:pt idx="68">
                  <c:v>39947</c:v>
                </c:pt>
                <c:pt idx="69">
                  <c:v>40638</c:v>
                </c:pt>
                <c:pt idx="70">
                  <c:v>41305</c:v>
                </c:pt>
                <c:pt idx="71">
                  <c:v>41938</c:v>
                </c:pt>
                <c:pt idx="72">
                  <c:v>42651</c:v>
                </c:pt>
                <c:pt idx="73">
                  <c:v>43425</c:v>
                </c:pt>
                <c:pt idx="74">
                  <c:v>44242</c:v>
                </c:pt>
                <c:pt idx="75">
                  <c:v>45037</c:v>
                </c:pt>
                <c:pt idx="76">
                  <c:v>45874</c:v>
                </c:pt>
                <c:pt idx="77">
                  <c:v>46678</c:v>
                </c:pt>
                <c:pt idx="78">
                  <c:v>47506</c:v>
                </c:pt>
                <c:pt idx="79">
                  <c:v>48240</c:v>
                </c:pt>
                <c:pt idx="80">
                  <c:v>49035</c:v>
                </c:pt>
                <c:pt idx="81">
                  <c:v>49765</c:v>
                </c:pt>
                <c:pt idx="82">
                  <c:v>50535</c:v>
                </c:pt>
                <c:pt idx="83">
                  <c:v>51243</c:v>
                </c:pt>
                <c:pt idx="84">
                  <c:v>52010</c:v>
                </c:pt>
                <c:pt idx="85">
                  <c:v>52719</c:v>
                </c:pt>
                <c:pt idx="86">
                  <c:v>53411</c:v>
                </c:pt>
                <c:pt idx="87">
                  <c:v>54191</c:v>
                </c:pt>
                <c:pt idx="88">
                  <c:v>54912</c:v>
                </c:pt>
                <c:pt idx="89">
                  <c:v>55608</c:v>
                </c:pt>
                <c:pt idx="90">
                  <c:v>56350</c:v>
                </c:pt>
                <c:pt idx="91">
                  <c:v>57061</c:v>
                </c:pt>
                <c:pt idx="92">
                  <c:v>57719</c:v>
                </c:pt>
                <c:pt idx="93">
                  <c:v>58417</c:v>
                </c:pt>
                <c:pt idx="94">
                  <c:v>59096</c:v>
                </c:pt>
                <c:pt idx="95">
                  <c:v>59799</c:v>
                </c:pt>
                <c:pt idx="96">
                  <c:v>60450</c:v>
                </c:pt>
                <c:pt idx="97">
                  <c:v>61077</c:v>
                </c:pt>
                <c:pt idx="98">
                  <c:v>61734</c:v>
                </c:pt>
                <c:pt idx="99">
                  <c:v>62430</c:v>
                </c:pt>
                <c:pt idx="100">
                  <c:v>63133</c:v>
                </c:pt>
                <c:pt idx="101">
                  <c:v>63845</c:v>
                </c:pt>
                <c:pt idx="102">
                  <c:v>64517</c:v>
                </c:pt>
                <c:pt idx="103">
                  <c:v>65173</c:v>
                </c:pt>
                <c:pt idx="104">
                  <c:v>65822</c:v>
                </c:pt>
                <c:pt idx="105">
                  <c:v>66475</c:v>
                </c:pt>
                <c:pt idx="106">
                  <c:v>67228</c:v>
                </c:pt>
                <c:pt idx="107">
                  <c:v>67903</c:v>
                </c:pt>
                <c:pt idx="108">
                  <c:v>68603</c:v>
                </c:pt>
                <c:pt idx="109">
                  <c:v>69293</c:v>
                </c:pt>
                <c:pt idx="110">
                  <c:v>69997</c:v>
                </c:pt>
                <c:pt idx="111">
                  <c:v>70694</c:v>
                </c:pt>
                <c:pt idx="112">
                  <c:v>71408</c:v>
                </c:pt>
                <c:pt idx="113">
                  <c:v>72080</c:v>
                </c:pt>
                <c:pt idx="114">
                  <c:v>72792</c:v>
                </c:pt>
                <c:pt idx="115">
                  <c:v>73512</c:v>
                </c:pt>
                <c:pt idx="116">
                  <c:v>74243</c:v>
                </c:pt>
                <c:pt idx="117">
                  <c:v>74980</c:v>
                </c:pt>
                <c:pt idx="118">
                  <c:v>75702</c:v>
                </c:pt>
                <c:pt idx="119">
                  <c:v>76394</c:v>
                </c:pt>
                <c:pt idx="120">
                  <c:v>77123</c:v>
                </c:pt>
                <c:pt idx="121">
                  <c:v>77831</c:v>
                </c:pt>
                <c:pt idx="122">
                  <c:v>78615</c:v>
                </c:pt>
                <c:pt idx="123">
                  <c:v>79331</c:v>
                </c:pt>
                <c:pt idx="124">
                  <c:v>79945</c:v>
                </c:pt>
              </c:numCache>
            </c:numRef>
          </c:xVal>
          <c:yVal>
            <c:numRef>
              <c:f>'Chart Data'!$F$2:$F$126</c:f>
              <c:numCache>
                <c:formatCode>General</c:formatCode>
                <c:ptCount val="125"/>
                <c:pt idx="0">
                  <c:v>-5.56471</c:v>
                </c:pt>
                <c:pt idx="1">
                  <c:v>-4.683177</c:v>
                </c:pt>
                <c:pt idx="2">
                  <c:v>-3.13451</c:v>
                </c:pt>
                <c:pt idx="3">
                  <c:v>-5.354697</c:v>
                </c:pt>
                <c:pt idx="4">
                  <c:v>-7.02744</c:v>
                </c:pt>
                <c:pt idx="5">
                  <c:v>-10.080519</c:v>
                </c:pt>
                <c:pt idx="6">
                  <c:v>-15.002462</c:v>
                </c:pt>
                <c:pt idx="7">
                  <c:v>-17.436856</c:v>
                </c:pt>
                <c:pt idx="8">
                  <c:v>-17.430602</c:v>
                </c:pt>
                <c:pt idx="9">
                  <c:v>-14.753138</c:v>
                </c:pt>
                <c:pt idx="10">
                  <c:v>-19.876873</c:v>
                </c:pt>
                <c:pt idx="11">
                  <c:v>-43.707648</c:v>
                </c:pt>
                <c:pt idx="12">
                  <c:v>-55.357919</c:v>
                </c:pt>
                <c:pt idx="13">
                  <c:v>-59.280281</c:v>
                </c:pt>
                <c:pt idx="14">
                  <c:v>-46.823935</c:v>
                </c:pt>
                <c:pt idx="15">
                  <c:v>-22.635991</c:v>
                </c:pt>
                <c:pt idx="16">
                  <c:v>-6.524288</c:v>
                </c:pt>
                <c:pt idx="17">
                  <c:v>-2.039391</c:v>
                </c:pt>
                <c:pt idx="18">
                  <c:v>33.948652</c:v>
                </c:pt>
                <c:pt idx="19">
                  <c:v>64.847567</c:v>
                </c:pt>
                <c:pt idx="20">
                  <c:v>97.458317</c:v>
                </c:pt>
                <c:pt idx="21">
                  <c:v>112.025941</c:v>
                </c:pt>
                <c:pt idx="22">
                  <c:v>112.394712</c:v>
                </c:pt>
                <c:pt idx="23">
                  <c:v>112.788858</c:v>
                </c:pt>
                <c:pt idx="24">
                  <c:v>111.974434</c:v>
                </c:pt>
                <c:pt idx="25">
                  <c:v>112.297297</c:v>
                </c:pt>
                <c:pt idx="26">
                  <c:v>111.866516</c:v>
                </c:pt>
                <c:pt idx="27">
                  <c:v>114.906988</c:v>
                </c:pt>
                <c:pt idx="28">
                  <c:v>109.784205</c:v>
                </c:pt>
                <c:pt idx="29">
                  <c:v>109.334898</c:v>
                </c:pt>
                <c:pt idx="30">
                  <c:v>108.892774</c:v>
                </c:pt>
                <c:pt idx="31">
                  <c:v>116.883365</c:v>
                </c:pt>
                <c:pt idx="32">
                  <c:v>116.799014</c:v>
                </c:pt>
                <c:pt idx="33">
                  <c:v>116.399222</c:v>
                </c:pt>
                <c:pt idx="34">
                  <c:v>113.107338</c:v>
                </c:pt>
                <c:pt idx="35">
                  <c:v>111.532285</c:v>
                </c:pt>
                <c:pt idx="36">
                  <c:v>110.602492</c:v>
                </c:pt>
                <c:pt idx="37">
                  <c:v>109.323483</c:v>
                </c:pt>
                <c:pt idx="38">
                  <c:v>108.240857</c:v>
                </c:pt>
                <c:pt idx="39">
                  <c:v>111.522745</c:v>
                </c:pt>
                <c:pt idx="40">
                  <c:v>111.914069</c:v>
                </c:pt>
                <c:pt idx="41">
                  <c:v>113.229543</c:v>
                </c:pt>
                <c:pt idx="42">
                  <c:v>111.842138</c:v>
                </c:pt>
                <c:pt idx="43">
                  <c:v>112.805571</c:v>
                </c:pt>
                <c:pt idx="44">
                  <c:v>113.768517</c:v>
                </c:pt>
                <c:pt idx="45">
                  <c:v>115.73357</c:v>
                </c:pt>
                <c:pt idx="46">
                  <c:v>116.395544</c:v>
                </c:pt>
                <c:pt idx="47">
                  <c:v>116.97583</c:v>
                </c:pt>
                <c:pt idx="48">
                  <c:v>116.119099</c:v>
                </c:pt>
                <c:pt idx="49">
                  <c:v>114.726697</c:v>
                </c:pt>
                <c:pt idx="50">
                  <c:v>112.094526</c:v>
                </c:pt>
                <c:pt idx="51">
                  <c:v>112.606396</c:v>
                </c:pt>
                <c:pt idx="52">
                  <c:v>113.80381</c:v>
                </c:pt>
                <c:pt idx="53">
                  <c:v>117.424886</c:v>
                </c:pt>
                <c:pt idx="54">
                  <c:v>118.597184</c:v>
                </c:pt>
                <c:pt idx="55">
                  <c:v>116.275569</c:v>
                </c:pt>
                <c:pt idx="56">
                  <c:v>114.950895</c:v>
                </c:pt>
                <c:pt idx="57">
                  <c:v>114.554785</c:v>
                </c:pt>
                <c:pt idx="58">
                  <c:v>114.857936</c:v>
                </c:pt>
                <c:pt idx="59">
                  <c:v>114.859766</c:v>
                </c:pt>
                <c:pt idx="60">
                  <c:v>113.757991</c:v>
                </c:pt>
                <c:pt idx="61">
                  <c:v>112.361368</c:v>
                </c:pt>
                <c:pt idx="62">
                  <c:v>113.093936</c:v>
                </c:pt>
                <c:pt idx="63">
                  <c:v>113.753061</c:v>
                </c:pt>
                <c:pt idx="64">
                  <c:v>114.209998</c:v>
                </c:pt>
                <c:pt idx="65">
                  <c:v>114.133855</c:v>
                </c:pt>
                <c:pt idx="66">
                  <c:v>114.547405</c:v>
                </c:pt>
                <c:pt idx="67">
                  <c:v>117.44085</c:v>
                </c:pt>
                <c:pt idx="68">
                  <c:v>118.325062</c:v>
                </c:pt>
                <c:pt idx="69">
                  <c:v>117.806945</c:v>
                </c:pt>
                <c:pt idx="70">
                  <c:v>117.294236</c:v>
                </c:pt>
                <c:pt idx="71">
                  <c:v>112.703052</c:v>
                </c:pt>
                <c:pt idx="72">
                  <c:v>111.90827</c:v>
                </c:pt>
                <c:pt idx="73">
                  <c:v>112.861961</c:v>
                </c:pt>
                <c:pt idx="74">
                  <c:v>115.166131</c:v>
                </c:pt>
                <c:pt idx="75">
                  <c:v>113.801125</c:v>
                </c:pt>
                <c:pt idx="76">
                  <c:v>115.283375</c:v>
                </c:pt>
                <c:pt idx="77">
                  <c:v>114.791463</c:v>
                </c:pt>
                <c:pt idx="78">
                  <c:v>115.649045</c:v>
                </c:pt>
                <c:pt idx="79">
                  <c:v>112.93762</c:v>
                </c:pt>
                <c:pt idx="80">
                  <c:v>114.899893</c:v>
                </c:pt>
                <c:pt idx="81">
                  <c:v>112.180771</c:v>
                </c:pt>
                <c:pt idx="82">
                  <c:v>114.39842</c:v>
                </c:pt>
                <c:pt idx="83">
                  <c:v>112.549517</c:v>
                </c:pt>
                <c:pt idx="84">
                  <c:v>112.907134</c:v>
                </c:pt>
                <c:pt idx="85">
                  <c:v>112.296809</c:v>
                </c:pt>
                <c:pt idx="86">
                  <c:v>110.577503</c:v>
                </c:pt>
                <c:pt idx="87">
                  <c:v>113.252828</c:v>
                </c:pt>
                <c:pt idx="88">
                  <c:v>114.449863</c:v>
                </c:pt>
                <c:pt idx="89">
                  <c:v>113.858417</c:v>
                </c:pt>
                <c:pt idx="90">
                  <c:v>113.278972</c:v>
                </c:pt>
                <c:pt idx="91">
                  <c:v>116.267803</c:v>
                </c:pt>
                <c:pt idx="92">
                  <c:v>114.838559</c:v>
                </c:pt>
                <c:pt idx="93">
                  <c:v>113.650641</c:v>
                </c:pt>
                <c:pt idx="94">
                  <c:v>111.033483</c:v>
                </c:pt>
                <c:pt idx="95">
                  <c:v>113.177844</c:v>
                </c:pt>
                <c:pt idx="96">
                  <c:v>112.388074</c:v>
                </c:pt>
                <c:pt idx="97">
                  <c:v>111.064414</c:v>
                </c:pt>
                <c:pt idx="98">
                  <c:v>109.434481</c:v>
                </c:pt>
                <c:pt idx="99">
                  <c:v>109.001248</c:v>
                </c:pt>
                <c:pt idx="100">
                  <c:v>111.598041</c:v>
                </c:pt>
                <c:pt idx="101">
                  <c:v>114.895922</c:v>
                </c:pt>
                <c:pt idx="102">
                  <c:v>114.434253</c:v>
                </c:pt>
                <c:pt idx="103">
                  <c:v>111.815225</c:v>
                </c:pt>
                <c:pt idx="104">
                  <c:v>109.904971</c:v>
                </c:pt>
                <c:pt idx="105">
                  <c:v>108.498602</c:v>
                </c:pt>
                <c:pt idx="106">
                  <c:v>111.741591</c:v>
                </c:pt>
                <c:pt idx="107">
                  <c:v>112.677115</c:v>
                </c:pt>
                <c:pt idx="108">
                  <c:v>114.844193</c:v>
                </c:pt>
                <c:pt idx="109">
                  <c:v>111.878792</c:v>
                </c:pt>
                <c:pt idx="110">
                  <c:v>110.63232</c:v>
                </c:pt>
                <c:pt idx="111">
                  <c:v>110.850112</c:v>
                </c:pt>
                <c:pt idx="112">
                  <c:v>110.252618</c:v>
                </c:pt>
                <c:pt idx="113">
                  <c:v>108.624119</c:v>
                </c:pt>
                <c:pt idx="114">
                  <c:v>109.618448</c:v>
                </c:pt>
                <c:pt idx="115">
                  <c:v>111.334287</c:v>
                </c:pt>
                <c:pt idx="116">
                  <c:v>112.798312</c:v>
                </c:pt>
                <c:pt idx="117">
                  <c:v>116.516085</c:v>
                </c:pt>
                <c:pt idx="118">
                  <c:v>116.42798</c:v>
                </c:pt>
                <c:pt idx="119">
                  <c:v>115.225506</c:v>
                </c:pt>
                <c:pt idx="120">
                  <c:v>112.059349</c:v>
                </c:pt>
                <c:pt idx="121">
                  <c:v>112.211192</c:v>
                </c:pt>
                <c:pt idx="122">
                  <c:v>114.955627</c:v>
                </c:pt>
                <c:pt idx="123">
                  <c:v>115.944277</c:v>
                </c:pt>
                <c:pt idx="124">
                  <c:v>118.964442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E5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8000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2000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Reference</c:v>
          </c:tx>
          <c:spPr>
            <a:ln xmlns:a="http://schemas.openxmlformats.org/drawingml/2006/main" w="19050">
              <a:solidFill>
                <a:srgbClr val="263746"/>
              </a:solidFill>
            </a:ln>
          </c:spPr>
          <c:marker>
            <c:symbol val="none"/>
          </c:marker>
          <c:xVal>
            <c:numRef>
              <c:f>'Chart Data'!$A$2:$A$103</c:f>
              <c:numCache>
                <c:formatCode>General</c:formatCode>
                <c:ptCount val="102"/>
                <c:pt idx="0">
                  <c:v>0</c:v>
                </c:pt>
                <c:pt idx="1">
                  <c:v>-0.058785</c:v>
                </c:pt>
                <c:pt idx="2">
                  <c:v>-0.117929</c:v>
                </c:pt>
                <c:pt idx="3">
                  <c:v>-0.177787</c:v>
                </c:pt>
                <c:pt idx="4">
                  <c:v>-0.238706</c:v>
                </c:pt>
                <c:pt idx="5">
                  <c:v>-0.301018</c:v>
                </c:pt>
                <c:pt idx="6">
                  <c:v>-0.36504</c:v>
                </c:pt>
                <c:pt idx="7">
                  <c:v>-0.431068</c:v>
                </c:pt>
                <c:pt idx="8">
                  <c:v>-0.499371</c:v>
                </c:pt>
                <c:pt idx="9">
                  <c:v>-0.570194</c:v>
                </c:pt>
                <c:pt idx="10">
                  <c:v>-0.64375</c:v>
                </c:pt>
                <c:pt idx="11">
                  <c:v>-0.720221</c:v>
                </c:pt>
                <c:pt idx="12">
                  <c:v>-0.799754</c:v>
                </c:pt>
                <c:pt idx="13">
                  <c:v>-0.882459</c:v>
                </c:pt>
                <c:pt idx="14">
                  <c:v>-0.968411</c:v>
                </c:pt>
                <c:pt idx="15">
                  <c:v>-1.057649</c:v>
                </c:pt>
                <c:pt idx="16">
                  <c:v>-1.150175</c:v>
                </c:pt>
                <c:pt idx="17">
                  <c:v>-1.245955</c:v>
                </c:pt>
                <c:pt idx="18">
                  <c:v>-1.34492</c:v>
                </c:pt>
                <c:pt idx="19">
                  <c:v>-1.446969</c:v>
                </c:pt>
                <c:pt idx="20">
                  <c:v>-1.55197</c:v>
                </c:pt>
                <c:pt idx="21">
                  <c:v>-1.659764</c:v>
                </c:pt>
                <c:pt idx="22">
                  <c:v>-1.770166</c:v>
                </c:pt>
                <c:pt idx="23">
                  <c:v>-1.882969</c:v>
                </c:pt>
                <c:pt idx="24">
                  <c:v>-1.997949</c:v>
                </c:pt>
                <c:pt idx="25">
                  <c:v>-2.114865</c:v>
                </c:pt>
                <c:pt idx="26">
                  <c:v>-2.233467</c:v>
                </c:pt>
                <c:pt idx="27">
                  <c:v>-2.3535</c:v>
                </c:pt>
                <c:pt idx="28">
                  <c:v>-2.474703</c:v>
                </c:pt>
                <c:pt idx="29">
                  <c:v>-2.596819</c:v>
                </c:pt>
                <c:pt idx="30">
                  <c:v>-2.719594</c:v>
                </c:pt>
                <c:pt idx="31">
                  <c:v>-2.842785</c:v>
                </c:pt>
                <c:pt idx="32">
                  <c:v>-2.96616</c:v>
                </c:pt>
                <c:pt idx="33">
                  <c:v>-3.089503</c:v>
                </c:pt>
                <c:pt idx="34">
                  <c:v>-3.212617</c:v>
                </c:pt>
                <c:pt idx="35">
                  <c:v>-3.335326</c:v>
                </c:pt>
                <c:pt idx="36">
                  <c:v>-3.457476</c:v>
                </c:pt>
                <c:pt idx="37">
                  <c:v>-3.578939</c:v>
                </c:pt>
                <c:pt idx="38">
                  <c:v>-3.699614</c:v>
                </c:pt>
                <c:pt idx="39">
                  <c:v>-3.819425</c:v>
                </c:pt>
                <c:pt idx="40">
                  <c:v>-3.938326</c:v>
                </c:pt>
                <c:pt idx="41">
                  <c:v>-4.056294</c:v>
                </c:pt>
                <c:pt idx="42">
                  <c:v>-4.173337</c:v>
                </c:pt>
                <c:pt idx="43">
                  <c:v>-4.289485</c:v>
                </c:pt>
                <c:pt idx="44">
                  <c:v>-4.404794</c:v>
                </c:pt>
                <c:pt idx="45">
                  <c:v>-4.519339</c:v>
                </c:pt>
                <c:pt idx="46">
                  <c:v>-4.633217</c:v>
                </c:pt>
                <c:pt idx="47">
                  <c:v>-4.74654</c:v>
                </c:pt>
                <c:pt idx="48">
                  <c:v>-4.859435</c:v>
                </c:pt>
                <c:pt idx="49">
                  <c:v>-4.972038</c:v>
                </c:pt>
                <c:pt idx="50">
                  <c:v>-5.084494</c:v>
                </c:pt>
                <c:pt idx="51">
                  <c:v>-5.19695</c:v>
                </c:pt>
                <c:pt idx="52">
                  <c:v>-5.309553</c:v>
                </c:pt>
                <c:pt idx="53">
                  <c:v>-5.422448</c:v>
                </c:pt>
                <c:pt idx="54">
                  <c:v>-5.535771</c:v>
                </c:pt>
                <c:pt idx="55">
                  <c:v>-5.649649</c:v>
                </c:pt>
                <c:pt idx="56">
                  <c:v>-5.764194</c:v>
                </c:pt>
                <c:pt idx="57">
                  <c:v>-5.879502</c:v>
                </c:pt>
                <c:pt idx="58">
                  <c:v>-5.995651</c:v>
                </c:pt>
                <c:pt idx="59">
                  <c:v>-6.112694</c:v>
                </c:pt>
                <c:pt idx="60">
                  <c:v>-6.230662</c:v>
                </c:pt>
                <c:pt idx="61">
                  <c:v>-6.349563</c:v>
                </c:pt>
                <c:pt idx="62">
                  <c:v>-6.469374</c:v>
                </c:pt>
                <c:pt idx="63">
                  <c:v>-6.590049</c:v>
                </c:pt>
                <c:pt idx="64">
                  <c:v>-6.711512</c:v>
                </c:pt>
                <c:pt idx="65">
                  <c:v>-6.833662</c:v>
                </c:pt>
                <c:pt idx="66">
                  <c:v>-6.956371</c:v>
                </c:pt>
                <c:pt idx="67">
                  <c:v>-7.079484</c:v>
                </c:pt>
                <c:pt idx="68">
                  <c:v>-7.202828</c:v>
                </c:pt>
                <c:pt idx="69">
                  <c:v>-7.326203</c:v>
                </c:pt>
                <c:pt idx="70">
                  <c:v>-7.449393</c:v>
                </c:pt>
                <c:pt idx="71">
                  <c:v>-7.572169</c:v>
                </c:pt>
                <c:pt idx="72">
                  <c:v>-7.694284</c:v>
                </c:pt>
                <c:pt idx="73">
                  <c:v>-7.815488</c:v>
                </c:pt>
                <c:pt idx="74">
                  <c:v>-7.93552</c:v>
                </c:pt>
                <c:pt idx="75">
                  <c:v>-8.054123</c:v>
                </c:pt>
                <c:pt idx="76">
                  <c:v>-8.171039</c:v>
                </c:pt>
                <c:pt idx="77">
                  <c:v>-8.286018</c:v>
                </c:pt>
                <c:pt idx="78">
                  <c:v>-8.398822</c:v>
                </c:pt>
                <c:pt idx="79">
                  <c:v>-8.509223</c:v>
                </c:pt>
                <c:pt idx="80">
                  <c:v>-8.617018</c:v>
                </c:pt>
                <c:pt idx="81">
                  <c:v>-8.722019</c:v>
                </c:pt>
                <c:pt idx="82">
                  <c:v>-8.824068</c:v>
                </c:pt>
                <c:pt idx="83">
                  <c:v>-8.923033</c:v>
                </c:pt>
                <c:pt idx="84">
                  <c:v>-9.018813</c:v>
                </c:pt>
                <c:pt idx="85">
                  <c:v>-9.111338</c:v>
                </c:pt>
                <c:pt idx="86">
                  <c:v>-9.200577</c:v>
                </c:pt>
                <c:pt idx="87">
                  <c:v>-9.286529</c:v>
                </c:pt>
                <c:pt idx="88">
                  <c:v>-9.369234</c:v>
                </c:pt>
                <c:pt idx="89">
                  <c:v>-9.448766</c:v>
                </c:pt>
                <c:pt idx="90">
                  <c:v>-9.525237</c:v>
                </c:pt>
                <c:pt idx="91">
                  <c:v>-9.598794</c:v>
                </c:pt>
                <c:pt idx="92">
                  <c:v>-9.669617</c:v>
                </c:pt>
                <c:pt idx="93">
                  <c:v>-9.73792</c:v>
                </c:pt>
                <c:pt idx="94">
                  <c:v>-9.803947</c:v>
                </c:pt>
                <c:pt idx="95">
                  <c:v>-9.867969</c:v>
                </c:pt>
                <c:pt idx="96">
                  <c:v>-9.930282</c:v>
                </c:pt>
                <c:pt idx="97">
                  <c:v>-9.991201</c:v>
                </c:pt>
                <c:pt idx="98">
                  <c:v>-10.051059</c:v>
                </c:pt>
                <c:pt idx="99">
                  <c:v>-10.110203</c:v>
                </c:pt>
                <c:pt idx="100">
                  <c:v>-10.168988</c:v>
                </c:pt>
                <c:pt idx="101">
                  <c:v>-10.168988</c:v>
                </c:pt>
              </c:numCache>
            </c:numRef>
          </c:xVal>
          <c:yVal>
            <c:numRef>
              <c:f>'Chart Data'!$B$2:$B$103</c:f>
              <c:numCache>
                <c:formatCode>General</c:formatCode>
                <c:ptCount val="102"/>
                <c:pt idx="0">
                  <c:v>0</c:v>
                </c:pt>
                <c:pt idx="1">
                  <c:v>-0.133884</c:v>
                </c:pt>
                <c:pt idx="2">
                  <c:v>-0.267116</c:v>
                </c:pt>
                <c:pt idx="3">
                  <c:v>-0.399052</c:v>
                </c:pt>
                <c:pt idx="4">
                  <c:v>-0.529066</c:v>
                </c:pt>
                <c:pt idx="5">
                  <c:v>-0.656552</c:v>
                </c:pt>
                <c:pt idx="6">
                  <c:v>-0.780937</c:v>
                </c:pt>
                <c:pt idx="7">
                  <c:v>-0.901686</c:v>
                </c:pt>
                <c:pt idx="8">
                  <c:v>-1.018306</c:v>
                </c:pt>
                <c:pt idx="9">
                  <c:v>-1.130357</c:v>
                </c:pt>
                <c:pt idx="10">
                  <c:v>-1.237451</c:v>
                </c:pt>
                <c:pt idx="11">
                  <c:v>-1.339258</c:v>
                </c:pt>
                <c:pt idx="12">
                  <c:v>-1.435514</c:v>
                </c:pt>
                <c:pt idx="13">
                  <c:v>-1.526015</c:v>
                </c:pt>
                <c:pt idx="14">
                  <c:v>-1.610627</c:v>
                </c:pt>
                <c:pt idx="15">
                  <c:v>-1.68928</c:v>
                </c:pt>
                <c:pt idx="16">
                  <c:v>-1.76197</c:v>
                </c:pt>
                <c:pt idx="17">
                  <c:v>-1.828759</c:v>
                </c:pt>
                <c:pt idx="18">
                  <c:v>-1.889771</c:v>
                </c:pt>
                <c:pt idx="19">
                  <c:v>-1.94519</c:v>
                </c:pt>
                <c:pt idx="20">
                  <c:v>-1.995254</c:v>
                </c:pt>
                <c:pt idx="21">
                  <c:v>-2.040253</c:v>
                </c:pt>
                <c:pt idx="22">
                  <c:v>-2.080523</c:v>
                </c:pt>
                <c:pt idx="23">
                  <c:v>-2.116438</c:v>
                </c:pt>
                <c:pt idx="24">
                  <c:v>-2.148406</c:v>
                </c:pt>
                <c:pt idx="25">
                  <c:v>-2.176861</c:v>
                </c:pt>
                <c:pt idx="26">
                  <c:v>-2.202258</c:v>
                </c:pt>
                <c:pt idx="27">
                  <c:v>-2.225061</c:v>
                </c:pt>
                <c:pt idx="28">
                  <c:v>-2.245741</c:v>
                </c:pt>
                <c:pt idx="29">
                  <c:v>-2.264766</c:v>
                </c:pt>
                <c:pt idx="30">
                  <c:v>-2.282596</c:v>
                </c:pt>
                <c:pt idx="31">
                  <c:v>-2.299671</c:v>
                </c:pt>
                <c:pt idx="32">
                  <c:v>-2.316413</c:v>
                </c:pt>
                <c:pt idx="33">
                  <c:v>-2.333212</c:v>
                </c:pt>
                <c:pt idx="34">
                  <c:v>-2.350427</c:v>
                </c:pt>
                <c:pt idx="35">
                  <c:v>-2.368377</c:v>
                </c:pt>
                <c:pt idx="36">
                  <c:v>-2.38734</c:v>
                </c:pt>
                <c:pt idx="37">
                  <c:v>-2.407549</c:v>
                </c:pt>
                <c:pt idx="38">
                  <c:v>-2.429187</c:v>
                </c:pt>
                <c:pt idx="39">
                  <c:v>-2.452392</c:v>
                </c:pt>
                <c:pt idx="40">
                  <c:v>-2.477249</c:v>
                </c:pt>
                <c:pt idx="41">
                  <c:v>-2.503795</c:v>
                </c:pt>
                <c:pt idx="42">
                  <c:v>-2.532021</c:v>
                </c:pt>
                <c:pt idx="43">
                  <c:v>-2.561869</c:v>
                </c:pt>
                <c:pt idx="44">
                  <c:v>-2.59324</c:v>
                </c:pt>
                <c:pt idx="45">
                  <c:v>-2.625996</c:v>
                </c:pt>
                <c:pt idx="46">
                  <c:v>-2.659961</c:v>
                </c:pt>
                <c:pt idx="47">
                  <c:v>-2.694933</c:v>
                </c:pt>
                <c:pt idx="48">
                  <c:v>-2.730681</c:v>
                </c:pt>
                <c:pt idx="49">
                  <c:v>-2.766959</c:v>
                </c:pt>
                <c:pt idx="50">
                  <c:v>-2.803503</c:v>
                </c:pt>
                <c:pt idx="51">
                  <c:v>-2.840048</c:v>
                </c:pt>
                <c:pt idx="52">
                  <c:v>-2.876325</c:v>
                </c:pt>
                <c:pt idx="53">
                  <c:v>-2.912073</c:v>
                </c:pt>
                <c:pt idx="54">
                  <c:v>-2.947045</c:v>
                </c:pt>
                <c:pt idx="55">
                  <c:v>-2.981011</c:v>
                </c:pt>
                <c:pt idx="56">
                  <c:v>-3.013766</c:v>
                </c:pt>
                <c:pt idx="57">
                  <c:v>-3.045138</c:v>
                </c:pt>
                <c:pt idx="58">
                  <c:v>-3.074986</c:v>
                </c:pt>
                <c:pt idx="59">
                  <c:v>-3.103211</c:v>
                </c:pt>
                <c:pt idx="60">
                  <c:v>-3.129758</c:v>
                </c:pt>
                <c:pt idx="61">
                  <c:v>-3.154615</c:v>
                </c:pt>
                <c:pt idx="62">
                  <c:v>-3.177819</c:v>
                </c:pt>
                <c:pt idx="63">
                  <c:v>-3.199457</c:v>
                </c:pt>
                <c:pt idx="64">
                  <c:v>-3.219666</c:v>
                </c:pt>
                <c:pt idx="65">
                  <c:v>-3.238629</c:v>
                </c:pt>
                <c:pt idx="66">
                  <c:v>-3.25658</c:v>
                </c:pt>
                <c:pt idx="67">
                  <c:v>-3.273795</c:v>
                </c:pt>
                <c:pt idx="68">
                  <c:v>-3.290594</c:v>
                </c:pt>
                <c:pt idx="69">
                  <c:v>-3.307335</c:v>
                </c:pt>
                <c:pt idx="70">
                  <c:v>-3.324411</c:v>
                </c:pt>
                <c:pt idx="71">
                  <c:v>-3.34224</c:v>
                </c:pt>
                <c:pt idx="72">
                  <c:v>-3.361265</c:v>
                </c:pt>
                <c:pt idx="73">
                  <c:v>-3.381946</c:v>
                </c:pt>
                <c:pt idx="74">
                  <c:v>-3.404749</c:v>
                </c:pt>
                <c:pt idx="75">
                  <c:v>-3.430145</c:v>
                </c:pt>
                <c:pt idx="76">
                  <c:v>-3.458601</c:v>
                </c:pt>
                <c:pt idx="77">
                  <c:v>-3.490569</c:v>
                </c:pt>
                <c:pt idx="78">
                  <c:v>-3.526484</c:v>
                </c:pt>
                <c:pt idx="79">
                  <c:v>-3.566753</c:v>
                </c:pt>
                <c:pt idx="80">
                  <c:v>-3.611753</c:v>
                </c:pt>
                <c:pt idx="81">
                  <c:v>-3.661817</c:v>
                </c:pt>
                <c:pt idx="82">
                  <c:v>-3.717235</c:v>
                </c:pt>
                <c:pt idx="83">
                  <c:v>-3.778248</c:v>
                </c:pt>
                <c:pt idx="84">
                  <c:v>-3.845037</c:v>
                </c:pt>
                <c:pt idx="85">
                  <c:v>-3.917727</c:v>
                </c:pt>
                <c:pt idx="86">
                  <c:v>-3.996379</c:v>
                </c:pt>
                <c:pt idx="87">
                  <c:v>-4.080991</c:v>
                </c:pt>
                <c:pt idx="88">
                  <c:v>-4.171493</c:v>
                </c:pt>
                <c:pt idx="89">
                  <c:v>-4.267748</c:v>
                </c:pt>
                <c:pt idx="90">
                  <c:v>-4.369556</c:v>
                </c:pt>
                <c:pt idx="91">
                  <c:v>-4.476649</c:v>
                </c:pt>
                <c:pt idx="92">
                  <c:v>-4.5887</c:v>
                </c:pt>
                <c:pt idx="93">
                  <c:v>-4.705321</c:v>
                </c:pt>
                <c:pt idx="94">
                  <c:v>-4.826069</c:v>
                </c:pt>
                <c:pt idx="95">
                  <c:v>-4.950455</c:v>
                </c:pt>
                <c:pt idx="96">
                  <c:v>-5.077941</c:v>
                </c:pt>
                <c:pt idx="97">
                  <c:v>-5.207954</c:v>
                </c:pt>
                <c:pt idx="98">
                  <c:v>-5.339891</c:v>
                </c:pt>
                <c:pt idx="99">
                  <c:v>-5.473123</c:v>
                </c:pt>
                <c:pt idx="100">
                  <c:v>-5.607006</c:v>
                </c:pt>
                <c:pt idx="101">
                  <c:v>-5.607006</c:v>
                </c:pt>
              </c:numCache>
            </c:numRef>
          </c:yVal>
        </c:ser>
        <c:ser>
          <c:idx val="1"/>
          <c:order val="1"/>
          <c:tx>
            <c:v>Pure Pursuit</c:v>
          </c:tx>
          <c:spPr>
            <a:ln xmlns:a="http://schemas.openxmlformats.org/drawingml/2006/main" w="19050">
              <a:solidFill>
                <a:srgbClr val="087E8B"/>
              </a:solidFill>
            </a:ln>
          </c:spPr>
          <c:marker>
            <c:symbol val="none"/>
          </c:marker>
          <c:xVal>
            <c:numRef>
              <c:f>'Chart Data'!$C$2:$C$128</c:f>
              <c:numCache>
                <c:formatCode>General</c:formatCode>
                <c:ptCount val="127"/>
                <c:pt idx="0">
                  <c:v>0.057451</c:v>
                </c:pt>
                <c:pt idx="1">
                  <c:v>0.046321</c:v>
                </c:pt>
                <c:pt idx="2">
                  <c:v>0.028106</c:v>
                </c:pt>
                <c:pt idx="3">
                  <c:v>0.002817</c:v>
                </c:pt>
                <c:pt idx="4">
                  <c:v>-0.029205</c:v>
                </c:pt>
                <c:pt idx="5">
                  <c:v>-0.06729</c:v>
                </c:pt>
                <c:pt idx="6">
                  <c:v>-0.110556</c:v>
                </c:pt>
                <c:pt idx="7">
                  <c:v>-0.158047</c:v>
                </c:pt>
                <c:pt idx="8">
                  <c:v>-0.208838</c:v>
                </c:pt>
                <c:pt idx="9">
                  <c:v>-0.262106</c:v>
                </c:pt>
                <c:pt idx="10">
                  <c:v>-0.317179</c:v>
                </c:pt>
                <c:pt idx="11">
                  <c:v>-0.373555</c:v>
                </c:pt>
                <c:pt idx="12">
                  <c:v>-0.430902</c:v>
                </c:pt>
                <c:pt idx="13">
                  <c:v>-0.489054</c:v>
                </c:pt>
                <c:pt idx="14">
                  <c:v>-0.547987</c:v>
                </c:pt>
                <c:pt idx="15">
                  <c:v>-0.6078</c:v>
                </c:pt>
                <c:pt idx="16">
                  <c:v>-0.668686</c:v>
                </c:pt>
                <c:pt idx="17">
                  <c:v>-0.730901</c:v>
                </c:pt>
                <c:pt idx="18">
                  <c:v>-0.794732</c:v>
                </c:pt>
                <c:pt idx="19">
                  <c:v>-0.860474</c:v>
                </c:pt>
                <c:pt idx="20">
                  <c:v>-0.928393</c:v>
                </c:pt>
                <c:pt idx="21">
                  <c:v>-0.998713</c:v>
                </c:pt>
                <c:pt idx="22">
                  <c:v>-1.071599</c:v>
                </c:pt>
                <c:pt idx="23">
                  <c:v>-1.147147</c:v>
                </c:pt>
                <c:pt idx="24">
                  <c:v>-1.225381</c:v>
                </c:pt>
                <c:pt idx="25">
                  <c:v>-1.306263</c:v>
                </c:pt>
                <c:pt idx="26">
                  <c:v>-1.389692</c:v>
                </c:pt>
                <c:pt idx="27">
                  <c:v>-1.475518</c:v>
                </c:pt>
                <c:pt idx="28">
                  <c:v>-1.563554</c:v>
                </c:pt>
                <c:pt idx="29">
                  <c:v>-1.653583</c:v>
                </c:pt>
                <c:pt idx="30">
                  <c:v>-1.745377</c:v>
                </c:pt>
                <c:pt idx="31">
                  <c:v>-1.8387</c:v>
                </c:pt>
                <c:pt idx="32">
                  <c:v>-1.933325</c:v>
                </c:pt>
                <c:pt idx="33">
                  <c:v>-2.029035</c:v>
                </c:pt>
                <c:pt idx="34">
                  <c:v>-2.125632</c:v>
                </c:pt>
                <c:pt idx="35">
                  <c:v>-2.222942</c:v>
                </c:pt>
                <c:pt idx="36">
                  <c:v>-2.32081</c:v>
                </c:pt>
                <c:pt idx="37">
                  <c:v>-2.419108</c:v>
                </c:pt>
                <c:pt idx="38">
                  <c:v>-2.517727</c:v>
                </c:pt>
                <c:pt idx="39">
                  <c:v>-2.616578</c:v>
                </c:pt>
                <c:pt idx="40">
                  <c:v>-2.715587</c:v>
                </c:pt>
                <c:pt idx="41">
                  <c:v>-2.814693</c:v>
                </c:pt>
                <c:pt idx="42">
                  <c:v>-2.913847</c:v>
                </c:pt>
                <c:pt idx="43">
                  <c:v>-3.013007</c:v>
                </c:pt>
                <c:pt idx="44">
                  <c:v>-3.112135</c:v>
                </c:pt>
                <c:pt idx="45">
                  <c:v>-3.211199</c:v>
                </c:pt>
                <c:pt idx="46">
                  <c:v>-3.310169</c:v>
                </c:pt>
                <c:pt idx="47">
                  <c:v>-3.409017</c:v>
                </c:pt>
                <c:pt idx="48">
                  <c:v>-3.507716</c:v>
                </c:pt>
                <c:pt idx="49">
                  <c:v>-3.606241</c:v>
                </c:pt>
                <c:pt idx="50">
                  <c:v>-3.704567</c:v>
                </c:pt>
                <c:pt idx="51">
                  <c:v>-3.802673</c:v>
                </c:pt>
                <c:pt idx="52">
                  <c:v>-3.900538</c:v>
                </c:pt>
                <c:pt idx="53">
                  <c:v>-3.998144</c:v>
                </c:pt>
                <c:pt idx="54">
                  <c:v>-4.095478</c:v>
                </c:pt>
                <c:pt idx="55">
                  <c:v>-4.19253</c:v>
                </c:pt>
                <c:pt idx="56">
                  <c:v>-4.289298</c:v>
                </c:pt>
                <c:pt idx="57">
                  <c:v>-4.385783</c:v>
                </c:pt>
                <c:pt idx="58">
                  <c:v>-4.481993</c:v>
                </c:pt>
                <c:pt idx="59">
                  <c:v>-4.577945</c:v>
                </c:pt>
                <c:pt idx="60">
                  <c:v>-4.673662</c:v>
                </c:pt>
                <c:pt idx="61">
                  <c:v>-4.769172</c:v>
                </c:pt>
                <c:pt idx="62">
                  <c:v>-4.864513</c:v>
                </c:pt>
                <c:pt idx="63">
                  <c:v>-4.959726</c:v>
                </c:pt>
                <c:pt idx="64">
                  <c:v>-5.054856</c:v>
                </c:pt>
                <c:pt idx="65">
                  <c:v>-5.149952</c:v>
                </c:pt>
                <c:pt idx="66">
                  <c:v>-5.245064</c:v>
                </c:pt>
                <c:pt idx="67">
                  <c:v>-5.340242</c:v>
                </c:pt>
                <c:pt idx="68">
                  <c:v>-5.435535</c:v>
                </c:pt>
                <c:pt idx="69">
                  <c:v>-5.530986</c:v>
                </c:pt>
                <c:pt idx="70">
                  <c:v>-5.626634</c:v>
                </c:pt>
                <c:pt idx="71">
                  <c:v>-5.722514</c:v>
                </c:pt>
                <c:pt idx="72">
                  <c:v>-5.818651</c:v>
                </c:pt>
                <c:pt idx="73">
                  <c:v>-5.915064</c:v>
                </c:pt>
                <c:pt idx="74">
                  <c:v>-6.011765</c:v>
                </c:pt>
                <c:pt idx="75">
                  <c:v>-6.108756</c:v>
                </c:pt>
                <c:pt idx="76">
                  <c:v>-6.206036</c:v>
                </c:pt>
                <c:pt idx="77">
                  <c:v>-6.303595</c:v>
                </c:pt>
                <c:pt idx="78">
                  <c:v>-6.401419</c:v>
                </c:pt>
                <c:pt idx="79">
                  <c:v>-6.499487</c:v>
                </c:pt>
                <c:pt idx="80">
                  <c:v>-6.597778</c:v>
                </c:pt>
                <c:pt idx="81">
                  <c:v>-6.696266</c:v>
                </c:pt>
                <c:pt idx="82">
                  <c:v>-6.794924</c:v>
                </c:pt>
                <c:pt idx="83">
                  <c:v>-6.893725</c:v>
                </c:pt>
                <c:pt idx="84">
                  <c:v>-6.992638</c:v>
                </c:pt>
                <c:pt idx="85">
                  <c:v>-7.091634</c:v>
                </c:pt>
                <c:pt idx="86">
                  <c:v>-7.19068</c:v>
                </c:pt>
                <c:pt idx="87">
                  <c:v>-7.289743</c:v>
                </c:pt>
                <c:pt idx="88">
                  <c:v>-7.388786</c:v>
                </c:pt>
                <c:pt idx="89">
                  <c:v>-7.487767</c:v>
                </c:pt>
                <c:pt idx="90">
                  <c:v>-7.586639</c:v>
                </c:pt>
                <c:pt idx="91">
                  <c:v>-7.685345</c:v>
                </c:pt>
                <c:pt idx="92">
                  <c:v>-7.783821</c:v>
                </c:pt>
                <c:pt idx="93">
                  <c:v>-7.881986</c:v>
                </c:pt>
                <c:pt idx="94">
                  <c:v>-7.979747</c:v>
                </c:pt>
                <c:pt idx="95">
                  <c:v>-8.076991</c:v>
                </c:pt>
                <c:pt idx="96">
                  <c:v>-8.173587</c:v>
                </c:pt>
                <c:pt idx="97">
                  <c:v>-8.269384</c:v>
                </c:pt>
                <c:pt idx="98">
                  <c:v>-8.364208</c:v>
                </c:pt>
                <c:pt idx="99">
                  <c:v>-8.457869</c:v>
                </c:pt>
                <c:pt idx="100">
                  <c:v>-8.550156</c:v>
                </c:pt>
                <c:pt idx="101">
                  <c:v>-8.640851</c:v>
                </c:pt>
                <c:pt idx="102">
                  <c:v>-8.729727</c:v>
                </c:pt>
                <c:pt idx="103">
                  <c:v>-8.816557</c:v>
                </c:pt>
                <c:pt idx="104">
                  <c:v>-8.901125</c:v>
                </c:pt>
                <c:pt idx="105">
                  <c:v>-8.983228</c:v>
                </c:pt>
                <c:pt idx="106">
                  <c:v>-9.062689</c:v>
                </c:pt>
                <c:pt idx="107">
                  <c:v>-9.139361</c:v>
                </c:pt>
                <c:pt idx="108">
                  <c:v>-9.213133</c:v>
                </c:pt>
                <c:pt idx="109">
                  <c:v>-9.283932</c:v>
                </c:pt>
                <c:pt idx="110">
                  <c:v>-9.351732</c:v>
                </c:pt>
                <c:pt idx="111">
                  <c:v>-9.416546</c:v>
                </c:pt>
                <c:pt idx="112">
                  <c:v>-9.478432</c:v>
                </c:pt>
                <c:pt idx="113">
                  <c:v>-9.537489</c:v>
                </c:pt>
                <c:pt idx="114">
                  <c:v>-9.593849</c:v>
                </c:pt>
                <c:pt idx="115">
                  <c:v>-9.647678</c:v>
                </c:pt>
                <c:pt idx="116">
                  <c:v>-9.699166</c:v>
                </c:pt>
                <c:pt idx="117">
                  <c:v>-9.74852</c:v>
                </c:pt>
                <c:pt idx="118">
                  <c:v>-9.795961</c:v>
                </c:pt>
                <c:pt idx="119">
                  <c:v>-9.841715</c:v>
                </c:pt>
                <c:pt idx="120">
                  <c:v>-9.88601</c:v>
                </c:pt>
                <c:pt idx="121">
                  <c:v>-9.929062</c:v>
                </c:pt>
                <c:pt idx="122">
                  <c:v>-9.970861</c:v>
                </c:pt>
                <c:pt idx="123">
                  <c:v>-10.010864</c:v>
                </c:pt>
                <c:pt idx="124">
                  <c:v>-10.04838</c:v>
                </c:pt>
                <c:pt idx="125">
                  <c:v>-10.082946</c:v>
                </c:pt>
                <c:pt idx="126">
                  <c:v>-10.114218</c:v>
                </c:pt>
              </c:numCache>
            </c:numRef>
          </c:xVal>
          <c:yVal>
            <c:numRef>
              <c:f>'Chart Data'!$D$2:$D$128</c:f>
              <c:numCache>
                <c:formatCode>General</c:formatCode>
                <c:ptCount val="127"/>
                <c:pt idx="0">
                  <c:v>-0.043285</c:v>
                </c:pt>
                <c:pt idx="1">
                  <c:v>-0.084753</c:v>
                </c:pt>
                <c:pt idx="2">
                  <c:v>-0.142539</c:v>
                </c:pt>
                <c:pt idx="3">
                  <c:v>-0.210665</c:v>
                </c:pt>
                <c:pt idx="4">
                  <c:v>-0.285093</c:v>
                </c:pt>
                <c:pt idx="5">
                  <c:v>-0.363149</c:v>
                </c:pt>
                <c:pt idx="6">
                  <c:v>-0.443128</c:v>
                </c:pt>
                <c:pt idx="7">
                  <c:v>-0.523999</c:v>
                </c:pt>
                <c:pt idx="8">
                  <c:v>-0.605189</c:v>
                </c:pt>
                <c:pt idx="9">
                  <c:v>-0.686414</c:v>
                </c:pt>
                <c:pt idx="10">
                  <c:v>-0.767556</c:v>
                </c:pt>
                <c:pt idx="11">
                  <c:v>-0.848566</c:v>
                </c:pt>
                <c:pt idx="12">
                  <c:v>-0.929408</c:v>
                </c:pt>
                <c:pt idx="13">
                  <c:v>-1.010013</c:v>
                </c:pt>
                <c:pt idx="14">
                  <c:v>-1.090258</c:v>
                </c:pt>
                <c:pt idx="15">
                  <c:v>-1.169953</c:v>
                </c:pt>
                <c:pt idx="16">
                  <c:v>-1.248843</c:v>
                </c:pt>
                <c:pt idx="17">
                  <c:v>-1.326616</c:v>
                </c:pt>
                <c:pt idx="18">
                  <c:v>-1.402911</c:v>
                </c:pt>
                <c:pt idx="19">
                  <c:v>-1.477341</c:v>
                </c:pt>
                <c:pt idx="20">
                  <c:v>-1.549504</c:v>
                </c:pt>
                <c:pt idx="21">
                  <c:v>-1.619006</c:v>
                </c:pt>
                <c:pt idx="22">
                  <c:v>-1.685478</c:v>
                </c:pt>
                <c:pt idx="23">
                  <c:v>-1.748592</c:v>
                </c:pt>
                <c:pt idx="24">
                  <c:v>-1.808071</c:v>
                </c:pt>
                <c:pt idx="25">
                  <c:v>-1.863702</c:v>
                </c:pt>
                <c:pt idx="26">
                  <c:v>-1.915339</c:v>
                </c:pt>
                <c:pt idx="27">
                  <c:v>-1.962908</c:v>
                </c:pt>
                <c:pt idx="28">
                  <c:v>-2.006408</c:v>
                </c:pt>
                <c:pt idx="29">
                  <c:v>-2.04591</c:v>
                </c:pt>
                <c:pt idx="30">
                  <c:v>-2.08155</c:v>
                </c:pt>
                <c:pt idx="31">
                  <c:v>-2.113526</c:v>
                </c:pt>
                <c:pt idx="32">
                  <c:v>-2.142088</c:v>
                </c:pt>
                <c:pt idx="33">
                  <c:v>-2.167528</c:v>
                </c:pt>
                <c:pt idx="34">
                  <c:v>-2.190173</c:v>
                </c:pt>
                <c:pt idx="35">
                  <c:v>-2.210367</c:v>
                </c:pt>
                <c:pt idx="36">
                  <c:v>-2.228467</c:v>
                </c:pt>
                <c:pt idx="37">
                  <c:v>-2.24483</c:v>
                </c:pt>
                <c:pt idx="38">
                  <c:v>-2.259803</c:v>
                </c:pt>
                <c:pt idx="39">
                  <c:v>-2.273722</c:v>
                </c:pt>
                <c:pt idx="40">
                  <c:v>-2.2869</c:v>
                </c:pt>
                <c:pt idx="41">
                  <c:v>-2.299628</c:v>
                </c:pt>
                <c:pt idx="42">
                  <c:v>-2.312172</c:v>
                </c:pt>
                <c:pt idx="43">
                  <c:v>-2.32477</c:v>
                </c:pt>
                <c:pt idx="44">
                  <c:v>-2.337638</c:v>
                </c:pt>
                <c:pt idx="45">
                  <c:v>-2.350964</c:v>
                </c:pt>
                <c:pt idx="46">
                  <c:v>-2.364914</c:v>
                </c:pt>
                <c:pt idx="47">
                  <c:v>-2.37963</c:v>
                </c:pt>
                <c:pt idx="48">
                  <c:v>-2.395236</c:v>
                </c:pt>
                <c:pt idx="49">
                  <c:v>-2.411832</c:v>
                </c:pt>
                <c:pt idx="50">
                  <c:v>-2.429501</c:v>
                </c:pt>
                <c:pt idx="51">
                  <c:v>-2.448305</c:v>
                </c:pt>
                <c:pt idx="52">
                  <c:v>-2.468289</c:v>
                </c:pt>
                <c:pt idx="53">
                  <c:v>-2.489478</c:v>
                </c:pt>
                <c:pt idx="54">
                  <c:v>-2.511879</c:v>
                </c:pt>
                <c:pt idx="55">
                  <c:v>-2.535478</c:v>
                </c:pt>
                <c:pt idx="56">
                  <c:v>-2.560243</c:v>
                </c:pt>
                <c:pt idx="57">
                  <c:v>-2.586122</c:v>
                </c:pt>
                <c:pt idx="58">
                  <c:v>-2.613046</c:v>
                </c:pt>
                <c:pt idx="59">
                  <c:v>-2.640924</c:v>
                </c:pt>
                <c:pt idx="60">
                  <c:v>-2.669651</c:v>
                </c:pt>
                <c:pt idx="61">
                  <c:v>-2.699105</c:v>
                </c:pt>
                <c:pt idx="62">
                  <c:v>-2.729149</c:v>
                </c:pt>
                <c:pt idx="63">
                  <c:v>-2.759635</c:v>
                </c:pt>
                <c:pt idx="64">
                  <c:v>-2.790405</c:v>
                </c:pt>
                <c:pt idx="65">
                  <c:v>-2.821294</c:v>
                </c:pt>
                <c:pt idx="66">
                  <c:v>-2.852134</c:v>
                </c:pt>
                <c:pt idx="67">
                  <c:v>-2.882757</c:v>
                </c:pt>
                <c:pt idx="68">
                  <c:v>-2.912996</c:v>
                </c:pt>
                <c:pt idx="69">
                  <c:v>-2.942692</c:v>
                </c:pt>
                <c:pt idx="70">
                  <c:v>-2.971697</c:v>
                </c:pt>
                <c:pt idx="71">
                  <c:v>-2.999872</c:v>
                </c:pt>
                <c:pt idx="72">
                  <c:v>-3.027098</c:v>
                </c:pt>
                <c:pt idx="73">
                  <c:v>-3.053272</c:v>
                </c:pt>
                <c:pt idx="74">
                  <c:v>-3.078311</c:v>
                </c:pt>
                <c:pt idx="75">
                  <c:v>-3.102158</c:v>
                </c:pt>
                <c:pt idx="76">
                  <c:v>-3.124774</c:v>
                </c:pt>
                <c:pt idx="77">
                  <c:v>-3.146151</c:v>
                </c:pt>
                <c:pt idx="78">
                  <c:v>-3.1663</c:v>
                </c:pt>
                <c:pt idx="79">
                  <c:v>-3.185259</c:v>
                </c:pt>
                <c:pt idx="80">
                  <c:v>-3.203093</c:v>
                </c:pt>
                <c:pt idx="81">
                  <c:v>-3.219886</c:v>
                </c:pt>
                <c:pt idx="82">
                  <c:v>-3.235747</c:v>
                </c:pt>
                <c:pt idx="83">
                  <c:v>-3.250807</c:v>
                </c:pt>
                <c:pt idx="84">
                  <c:v>-3.265216</c:v>
                </c:pt>
                <c:pt idx="85">
                  <c:v>-3.279142</c:v>
                </c:pt>
                <c:pt idx="86">
                  <c:v>-3.292773</c:v>
                </c:pt>
                <c:pt idx="87">
                  <c:v>-3.306311</c:v>
                </c:pt>
                <c:pt idx="88">
                  <c:v>-3.319975</c:v>
                </c:pt>
                <c:pt idx="89">
                  <c:v>-3.333997</c:v>
                </c:pt>
                <c:pt idx="90">
                  <c:v>-3.348623</c:v>
                </c:pt>
                <c:pt idx="91">
                  <c:v>-3.36411</c:v>
                </c:pt>
                <c:pt idx="92">
                  <c:v>-3.380726</c:v>
                </c:pt>
                <c:pt idx="93">
                  <c:v>-3.39875</c:v>
                </c:pt>
                <c:pt idx="94">
                  <c:v>-3.418464</c:v>
                </c:pt>
                <c:pt idx="95">
                  <c:v>-3.440155</c:v>
                </c:pt>
                <c:pt idx="96">
                  <c:v>-3.46411</c:v>
                </c:pt>
                <c:pt idx="97">
                  <c:v>-3.49061</c:v>
                </c:pt>
                <c:pt idx="98">
                  <c:v>-3.519922</c:v>
                </c:pt>
                <c:pt idx="99">
                  <c:v>-3.552296</c:v>
                </c:pt>
                <c:pt idx="100">
                  <c:v>-3.587954</c:v>
                </c:pt>
                <c:pt idx="101">
                  <c:v>-3.627086</c:v>
                </c:pt>
                <c:pt idx="102">
                  <c:v>-3.66984</c:v>
                </c:pt>
                <c:pt idx="103">
                  <c:v>-3.716318</c:v>
                </c:pt>
                <c:pt idx="104">
                  <c:v>-3.766574</c:v>
                </c:pt>
                <c:pt idx="105">
                  <c:v>-3.82061</c:v>
                </c:pt>
                <c:pt idx="106">
                  <c:v>-3.878379</c:v>
                </c:pt>
                <c:pt idx="107">
                  <c:v>-3.939785</c:v>
                </c:pt>
                <c:pt idx="108">
                  <c:v>-4.004688</c:v>
                </c:pt>
                <c:pt idx="109">
                  <c:v>-4.072913</c:v>
                </c:pt>
                <c:pt idx="110">
                  <c:v>-4.14425</c:v>
                </c:pt>
                <c:pt idx="111">
                  <c:v>-4.21847</c:v>
                </c:pt>
                <c:pt idx="112">
                  <c:v>-4.295326</c:v>
                </c:pt>
                <c:pt idx="113">
                  <c:v>-4.374563</c:v>
                </c:pt>
                <c:pt idx="114">
                  <c:v>-4.455927</c:v>
                </c:pt>
                <c:pt idx="115">
                  <c:v>-4.539166</c:v>
                </c:pt>
                <c:pt idx="116">
                  <c:v>-4.624041</c:v>
                </c:pt>
                <c:pt idx="117">
                  <c:v>-4.710326</c:v>
                </c:pt>
                <c:pt idx="118">
                  <c:v>-4.797811</c:v>
                </c:pt>
                <c:pt idx="119">
                  <c:v>-4.886306</c:v>
                </c:pt>
                <c:pt idx="120">
                  <c:v>-4.975638</c:v>
                </c:pt>
                <c:pt idx="121">
                  <c:v>-5.065656</c:v>
                </c:pt>
                <c:pt idx="122">
                  <c:v>-5.155816</c:v>
                </c:pt>
                <c:pt idx="123">
                  <c:v>-5.244404</c:v>
                </c:pt>
                <c:pt idx="124">
                  <c:v>-5.329287</c:v>
                </c:pt>
                <c:pt idx="125">
                  <c:v>-5.408783</c:v>
                </c:pt>
                <c:pt idx="126">
                  <c:v>-5.481498</c:v>
                </c:pt>
              </c:numCache>
            </c:numRef>
          </c:yVal>
        </c:ser>
        <c:ser>
          <c:idx val="2"/>
          <c:order val="2"/>
          <c:tx>
            <c:v>SAC seed 27</c:v>
          </c:tx>
          <c:spPr>
            <a:ln xmlns:a="http://schemas.openxmlformats.org/drawingml/2006/main" w="19050">
              <a:solidFill>
                <a:srgbClr val="D66343"/>
              </a:solidFill>
            </a:ln>
          </c:spPr>
          <c:marker>
            <c:symbol val="none"/>
          </c:marker>
          <c:xVal>
            <c:numRef>
              <c:f>'Chart Data'!$E$2:$E$122</c:f>
              <c:numCache>
                <c:formatCode>General</c:formatCode>
                <c:ptCount val="121"/>
                <c:pt idx="0">
                  <c:v>0.059462</c:v>
                </c:pt>
                <c:pt idx="1">
                  <c:v>0.053718</c:v>
                </c:pt>
                <c:pt idx="2">
                  <c:v>0.040833</c:v>
                </c:pt>
                <c:pt idx="3">
                  <c:v>0.013732</c:v>
                </c:pt>
                <c:pt idx="4">
                  <c:v>-0.027008</c:v>
                </c:pt>
                <c:pt idx="5">
                  <c:v>-0.075596</c:v>
                </c:pt>
                <c:pt idx="6">
                  <c:v>-0.127928</c:v>
                </c:pt>
                <c:pt idx="7">
                  <c:v>-0.182607</c:v>
                </c:pt>
                <c:pt idx="8">
                  <c:v>-0.239055</c:v>
                </c:pt>
                <c:pt idx="9">
                  <c:v>-0.297282</c:v>
                </c:pt>
                <c:pt idx="10">
                  <c:v>-0.35717</c:v>
                </c:pt>
                <c:pt idx="11">
                  <c:v>-0.41834</c:v>
                </c:pt>
                <c:pt idx="12">
                  <c:v>-0.481209</c:v>
                </c:pt>
                <c:pt idx="13">
                  <c:v>-0.545909</c:v>
                </c:pt>
                <c:pt idx="14">
                  <c:v>-0.612672</c:v>
                </c:pt>
                <c:pt idx="15">
                  <c:v>-0.681924</c:v>
                </c:pt>
                <c:pt idx="16">
                  <c:v>-0.753772</c:v>
                </c:pt>
                <c:pt idx="17">
                  <c:v>-0.828321</c:v>
                </c:pt>
                <c:pt idx="18">
                  <c:v>-0.905352</c:v>
                </c:pt>
                <c:pt idx="19">
                  <c:v>-0.985447</c:v>
                </c:pt>
                <c:pt idx="20">
                  <c:v>-1.069075</c:v>
                </c:pt>
                <c:pt idx="21">
                  <c:v>-1.156329</c:v>
                </c:pt>
                <c:pt idx="22">
                  <c:v>-1.247205</c:v>
                </c:pt>
                <c:pt idx="23">
                  <c:v>-1.341886</c:v>
                </c:pt>
                <c:pt idx="24">
                  <c:v>-1.440059</c:v>
                </c:pt>
                <c:pt idx="25">
                  <c:v>-1.541424</c:v>
                </c:pt>
                <c:pt idx="26">
                  <c:v>-1.645751</c:v>
                </c:pt>
                <c:pt idx="27">
                  <c:v>-1.75274</c:v>
                </c:pt>
                <c:pt idx="28">
                  <c:v>-1.861812</c:v>
                </c:pt>
                <c:pt idx="29">
                  <c:v>-1.972751</c:v>
                </c:pt>
                <c:pt idx="30">
                  <c:v>-2.085249</c:v>
                </c:pt>
                <c:pt idx="31">
                  <c:v>-2.199049</c:v>
                </c:pt>
                <c:pt idx="32">
                  <c:v>-2.313756</c:v>
                </c:pt>
                <c:pt idx="33">
                  <c:v>-2.429247</c:v>
                </c:pt>
                <c:pt idx="34">
                  <c:v>-2.54537</c:v>
                </c:pt>
                <c:pt idx="35">
                  <c:v>-2.662036</c:v>
                </c:pt>
                <c:pt idx="36">
                  <c:v>-2.779105</c:v>
                </c:pt>
                <c:pt idx="37">
                  <c:v>-2.896336</c:v>
                </c:pt>
                <c:pt idx="38">
                  <c:v>-3.013706</c:v>
                </c:pt>
                <c:pt idx="39">
                  <c:v>-3.131147</c:v>
                </c:pt>
                <c:pt idx="40">
                  <c:v>-3.248623</c:v>
                </c:pt>
                <c:pt idx="41">
                  <c:v>-3.365924</c:v>
                </c:pt>
                <c:pt idx="42">
                  <c:v>-3.483097</c:v>
                </c:pt>
                <c:pt idx="43">
                  <c:v>-3.600151</c:v>
                </c:pt>
                <c:pt idx="44">
                  <c:v>-3.717079</c:v>
                </c:pt>
                <c:pt idx="45">
                  <c:v>-3.83358</c:v>
                </c:pt>
                <c:pt idx="46">
                  <c:v>-3.949773</c:v>
                </c:pt>
                <c:pt idx="47">
                  <c:v>-4.065755</c:v>
                </c:pt>
                <c:pt idx="48">
                  <c:v>-4.18155</c:v>
                </c:pt>
                <c:pt idx="49">
                  <c:v>-4.296746</c:v>
                </c:pt>
                <c:pt idx="50">
                  <c:v>-4.411544</c:v>
                </c:pt>
                <c:pt idx="51">
                  <c:v>-4.526153</c:v>
                </c:pt>
                <c:pt idx="52">
                  <c:v>-4.640704</c:v>
                </c:pt>
                <c:pt idx="53">
                  <c:v>-4.755171</c:v>
                </c:pt>
                <c:pt idx="54">
                  <c:v>-4.869134</c:v>
                </c:pt>
                <c:pt idx="55">
                  <c:v>-4.982823</c:v>
                </c:pt>
                <c:pt idx="56">
                  <c:v>-5.096377</c:v>
                </c:pt>
                <c:pt idx="57">
                  <c:v>-5.20993</c:v>
                </c:pt>
                <c:pt idx="58">
                  <c:v>-5.323125</c:v>
                </c:pt>
                <c:pt idx="59">
                  <c:v>-5.43623</c:v>
                </c:pt>
                <c:pt idx="60">
                  <c:v>-5.549322</c:v>
                </c:pt>
                <c:pt idx="61">
                  <c:v>-5.662594</c:v>
                </c:pt>
                <c:pt idx="62">
                  <c:v>-5.775792</c:v>
                </c:pt>
                <c:pt idx="63">
                  <c:v>-5.889092</c:v>
                </c:pt>
                <c:pt idx="64">
                  <c:v>-6.002461</c:v>
                </c:pt>
                <c:pt idx="65">
                  <c:v>-6.116085</c:v>
                </c:pt>
                <c:pt idx="66">
                  <c:v>-6.229817</c:v>
                </c:pt>
                <c:pt idx="67">
                  <c:v>-6.343719</c:v>
                </c:pt>
                <c:pt idx="68">
                  <c:v>-6.457663</c:v>
                </c:pt>
                <c:pt idx="69">
                  <c:v>-6.571481</c:v>
                </c:pt>
                <c:pt idx="70">
                  <c:v>-6.685413</c:v>
                </c:pt>
                <c:pt idx="71">
                  <c:v>-6.799514</c:v>
                </c:pt>
                <c:pt idx="72">
                  <c:v>-6.913564</c:v>
                </c:pt>
                <c:pt idx="73">
                  <c:v>-7.027297</c:v>
                </c:pt>
                <c:pt idx="74">
                  <c:v>-7.140969</c:v>
                </c:pt>
                <c:pt idx="75">
                  <c:v>-7.254644</c:v>
                </c:pt>
                <c:pt idx="76">
                  <c:v>-7.368069</c:v>
                </c:pt>
                <c:pt idx="77">
                  <c:v>-7.480941</c:v>
                </c:pt>
                <c:pt idx="78">
                  <c:v>-7.593507</c:v>
                </c:pt>
                <c:pt idx="79">
                  <c:v>-7.705769</c:v>
                </c:pt>
                <c:pt idx="80">
                  <c:v>-7.817406</c:v>
                </c:pt>
                <c:pt idx="81">
                  <c:v>-7.928078</c:v>
                </c:pt>
                <c:pt idx="82">
                  <c:v>-8.03736</c:v>
                </c:pt>
                <c:pt idx="83">
                  <c:v>-8.145705</c:v>
                </c:pt>
                <c:pt idx="84">
                  <c:v>-8.253113</c:v>
                </c:pt>
                <c:pt idx="85">
                  <c:v>-8.35885</c:v>
                </c:pt>
                <c:pt idx="86">
                  <c:v>-8.462293</c:v>
                </c:pt>
                <c:pt idx="87">
                  <c:v>-8.564068</c:v>
                </c:pt>
                <c:pt idx="88">
                  <c:v>-8.664211</c:v>
                </c:pt>
                <c:pt idx="89">
                  <c:v>-8.761929</c:v>
                </c:pt>
                <c:pt idx="90">
                  <c:v>-8.856824</c:v>
                </c:pt>
                <c:pt idx="91">
                  <c:v>-8.948587</c:v>
                </c:pt>
                <c:pt idx="92">
                  <c:v>-9.037941</c:v>
                </c:pt>
                <c:pt idx="93">
                  <c:v>-9.124531</c:v>
                </c:pt>
                <c:pt idx="94">
                  <c:v>-9.207381</c:v>
                </c:pt>
                <c:pt idx="95">
                  <c:v>-9.286335</c:v>
                </c:pt>
                <c:pt idx="96">
                  <c:v>-9.362422</c:v>
                </c:pt>
                <c:pt idx="97">
                  <c:v>-9.435889</c:v>
                </c:pt>
                <c:pt idx="98">
                  <c:v>-9.505485</c:v>
                </c:pt>
                <c:pt idx="99">
                  <c:v>-9.570452</c:v>
                </c:pt>
                <c:pt idx="100">
                  <c:v>-9.629575</c:v>
                </c:pt>
                <c:pt idx="101">
                  <c:v>-9.685052</c:v>
                </c:pt>
                <c:pt idx="102">
                  <c:v>-9.737322</c:v>
                </c:pt>
                <c:pt idx="103">
                  <c:v>-9.782562</c:v>
                </c:pt>
                <c:pt idx="104">
                  <c:v>-9.819644</c:v>
                </c:pt>
                <c:pt idx="105">
                  <c:v>-9.850807</c:v>
                </c:pt>
                <c:pt idx="106">
                  <c:v>-9.877112</c:v>
                </c:pt>
                <c:pt idx="107">
                  <c:v>-9.899871</c:v>
                </c:pt>
                <c:pt idx="108">
                  <c:v>-9.921133</c:v>
                </c:pt>
                <c:pt idx="109">
                  <c:v>-9.939566</c:v>
                </c:pt>
                <c:pt idx="110">
                  <c:v>-9.956957</c:v>
                </c:pt>
                <c:pt idx="111">
                  <c:v>-9.973943</c:v>
                </c:pt>
                <c:pt idx="112">
                  <c:v>-9.989776</c:v>
                </c:pt>
                <c:pt idx="113">
                  <c:v>-10.006028</c:v>
                </c:pt>
                <c:pt idx="114">
                  <c:v>-10.0221</c:v>
                </c:pt>
                <c:pt idx="115">
                  <c:v>-10.038614</c:v>
                </c:pt>
                <c:pt idx="116">
                  <c:v>-10.055968</c:v>
                </c:pt>
                <c:pt idx="117">
                  <c:v>-10.073767</c:v>
                </c:pt>
                <c:pt idx="118">
                  <c:v>-10.09271</c:v>
                </c:pt>
                <c:pt idx="119">
                  <c:v>-10.113188</c:v>
                </c:pt>
                <c:pt idx="120">
                  <c:v>-10.135107</c:v>
                </c:pt>
              </c:numCache>
            </c:numRef>
          </c:xVal>
          <c:yVal>
            <c:numRef>
              <c:f>'Chart Data'!$F$2:$F$122</c:f>
              <c:numCache>
                <c:formatCode>General</c:formatCode>
                <c:ptCount val="121"/>
                <c:pt idx="0">
                  <c:v>-0.034397</c:v>
                </c:pt>
                <c:pt idx="1">
                  <c:v>-0.05134</c:v>
                </c:pt>
                <c:pt idx="2">
                  <c:v>-0.077836</c:v>
                </c:pt>
                <c:pt idx="3">
                  <c:v>-0.121072</c:v>
                </c:pt>
                <c:pt idx="4">
                  <c:v>-0.181768</c:v>
                </c:pt>
                <c:pt idx="5">
                  <c:v>-0.255375</c:v>
                </c:pt>
                <c:pt idx="6">
                  <c:v>-0.33854</c:v>
                </c:pt>
                <c:pt idx="7">
                  <c:v>-0.428067</c:v>
                </c:pt>
                <c:pt idx="8">
                  <c:v>-0.521578</c:v>
                </c:pt>
                <c:pt idx="9">
                  <c:v>-0.617188</c:v>
                </c:pt>
                <c:pt idx="10">
                  <c:v>-0.713898</c:v>
                </c:pt>
                <c:pt idx="11">
                  <c:v>-0.81131</c:v>
                </c:pt>
                <c:pt idx="12">
                  <c:v>-0.908425</c:v>
                </c:pt>
                <c:pt idx="13">
                  <c:v>-1.004513</c:v>
                </c:pt>
                <c:pt idx="14">
                  <c:v>-1.098717</c:v>
                </c:pt>
                <c:pt idx="15">
                  <c:v>-1.190989</c:v>
                </c:pt>
                <c:pt idx="16">
                  <c:v>-1.281562</c:v>
                </c:pt>
                <c:pt idx="17">
                  <c:v>-1.369681</c:v>
                </c:pt>
                <c:pt idx="18">
                  <c:v>-1.454249</c:v>
                </c:pt>
                <c:pt idx="19">
                  <c:v>-1.535442</c:v>
                </c:pt>
                <c:pt idx="20">
                  <c:v>-1.613845</c:v>
                </c:pt>
                <c:pt idx="21">
                  <c:v>-1.688627</c:v>
                </c:pt>
                <c:pt idx="22">
                  <c:v>-1.758986</c:v>
                </c:pt>
                <c:pt idx="23">
                  <c:v>-1.824743</c:v>
                </c:pt>
                <c:pt idx="24">
                  <c:v>-1.886289</c:v>
                </c:pt>
                <c:pt idx="25">
                  <c:v>-1.943235</c:v>
                </c:pt>
                <c:pt idx="26">
                  <c:v>-1.995162</c:v>
                </c:pt>
                <c:pt idx="27">
                  <c:v>-2.042194</c:v>
                </c:pt>
                <c:pt idx="28">
                  <c:v>-2.085298</c:v>
                </c:pt>
                <c:pt idx="29">
                  <c:v>-2.124243</c:v>
                </c:pt>
                <c:pt idx="30">
                  <c:v>-2.159043</c:v>
                </c:pt>
                <c:pt idx="31">
                  <c:v>-2.190055</c:v>
                </c:pt>
                <c:pt idx="32">
                  <c:v>-2.218447</c:v>
                </c:pt>
                <c:pt idx="33">
                  <c:v>-2.244165</c:v>
                </c:pt>
                <c:pt idx="34">
                  <c:v>-2.267312</c:v>
                </c:pt>
                <c:pt idx="35">
                  <c:v>-2.287753</c:v>
                </c:pt>
                <c:pt idx="36">
                  <c:v>-2.305942</c:v>
                </c:pt>
                <c:pt idx="37">
                  <c:v>-2.32351</c:v>
                </c:pt>
                <c:pt idx="38">
                  <c:v>-2.34034</c:v>
                </c:pt>
                <c:pt idx="39">
                  <c:v>-2.356511</c:v>
                </c:pt>
                <c:pt idx="40">
                  <c:v>-2.372236</c:v>
                </c:pt>
                <c:pt idx="41">
                  <c:v>-2.389237</c:v>
                </c:pt>
                <c:pt idx="42">
                  <c:v>-2.407095</c:v>
                </c:pt>
                <c:pt idx="43">
                  <c:v>-2.425434</c:v>
                </c:pt>
                <c:pt idx="44">
                  <c:v>-2.444327</c:v>
                </c:pt>
                <c:pt idx="45">
                  <c:v>-2.465713</c:v>
                </c:pt>
                <c:pt idx="46">
                  <c:v>-2.48863</c:v>
                </c:pt>
                <c:pt idx="47">
                  <c:v>-2.512234</c:v>
                </c:pt>
                <c:pt idx="48">
                  <c:v>-2.536527</c:v>
                </c:pt>
                <c:pt idx="49">
                  <c:v>-2.563618</c:v>
                </c:pt>
                <c:pt idx="50">
                  <c:v>-2.592241</c:v>
                </c:pt>
                <c:pt idx="51">
                  <c:v>-2.621137</c:v>
                </c:pt>
                <c:pt idx="52">
                  <c:v>-2.649323</c:v>
                </c:pt>
                <c:pt idx="53">
                  <c:v>-2.677302</c:v>
                </c:pt>
                <c:pt idx="54">
                  <c:v>-2.707431</c:v>
                </c:pt>
                <c:pt idx="55">
                  <c:v>-2.738375</c:v>
                </c:pt>
                <c:pt idx="56">
                  <c:v>-2.768968</c:v>
                </c:pt>
                <c:pt idx="57">
                  <c:v>-2.799048</c:v>
                </c:pt>
                <c:pt idx="58">
                  <c:v>-2.830641</c:v>
                </c:pt>
                <c:pt idx="59">
                  <c:v>-2.862188</c:v>
                </c:pt>
                <c:pt idx="60">
                  <c:v>-2.892583</c:v>
                </c:pt>
                <c:pt idx="61">
                  <c:v>-2.92169</c:v>
                </c:pt>
                <c:pt idx="62">
                  <c:v>-2.951488</c:v>
                </c:pt>
                <c:pt idx="63">
                  <c:v>-2.980557</c:v>
                </c:pt>
                <c:pt idx="64">
                  <c:v>-3.007882</c:v>
                </c:pt>
                <c:pt idx="65">
                  <c:v>-3.033531</c:v>
                </c:pt>
                <c:pt idx="66">
                  <c:v>-3.059506</c:v>
                </c:pt>
                <c:pt idx="67">
                  <c:v>-3.084634</c:v>
                </c:pt>
                <c:pt idx="68">
                  <c:v>-3.107875</c:v>
                </c:pt>
                <c:pt idx="69">
                  <c:v>-3.128684</c:v>
                </c:pt>
                <c:pt idx="70">
                  <c:v>-3.147792</c:v>
                </c:pt>
                <c:pt idx="71">
                  <c:v>-3.167656</c:v>
                </c:pt>
                <c:pt idx="72">
                  <c:v>-3.187854</c:v>
                </c:pt>
                <c:pt idx="73">
                  <c:v>-3.207005</c:v>
                </c:pt>
                <c:pt idx="74">
                  <c:v>-3.225499</c:v>
                </c:pt>
                <c:pt idx="75">
                  <c:v>-3.245725</c:v>
                </c:pt>
                <c:pt idx="76">
                  <c:v>-3.267283</c:v>
                </c:pt>
                <c:pt idx="77">
                  <c:v>-3.288615</c:v>
                </c:pt>
                <c:pt idx="78">
                  <c:v>-3.310045</c:v>
                </c:pt>
                <c:pt idx="79">
                  <c:v>-3.334194</c:v>
                </c:pt>
                <c:pt idx="80">
                  <c:v>-3.360751</c:v>
                </c:pt>
                <c:pt idx="81">
                  <c:v>-3.388111</c:v>
                </c:pt>
                <c:pt idx="82">
                  <c:v>-3.415736</c:v>
                </c:pt>
                <c:pt idx="83">
                  <c:v>-3.44502</c:v>
                </c:pt>
                <c:pt idx="84">
                  <c:v>-3.478952</c:v>
                </c:pt>
                <c:pt idx="85">
                  <c:v>-3.51726</c:v>
                </c:pt>
                <c:pt idx="86">
                  <c:v>-3.55805</c:v>
                </c:pt>
                <c:pt idx="87">
                  <c:v>-3.601552</c:v>
                </c:pt>
                <c:pt idx="88">
                  <c:v>-3.65032</c:v>
                </c:pt>
                <c:pt idx="89">
                  <c:v>-3.704088</c:v>
                </c:pt>
                <c:pt idx="90">
                  <c:v>-3.760742</c:v>
                </c:pt>
                <c:pt idx="91">
                  <c:v>-3.819057</c:v>
                </c:pt>
                <c:pt idx="92">
                  <c:v>-3.88089</c:v>
                </c:pt>
                <c:pt idx="93">
                  <c:v>-3.948642</c:v>
                </c:pt>
                <c:pt idx="94">
                  <c:v>-4.020677</c:v>
                </c:pt>
                <c:pt idx="95">
                  <c:v>-4.092525</c:v>
                </c:pt>
                <c:pt idx="96">
                  <c:v>-4.164879</c:v>
                </c:pt>
                <c:pt idx="97">
                  <c:v>-4.240628</c:v>
                </c:pt>
                <c:pt idx="98">
                  <c:v>-4.317703</c:v>
                </c:pt>
                <c:pt idx="99">
                  <c:v>-4.393288</c:v>
                </c:pt>
                <c:pt idx="100">
                  <c:v>-4.465748</c:v>
                </c:pt>
                <c:pt idx="101">
                  <c:v>-4.538011</c:v>
                </c:pt>
                <c:pt idx="102">
                  <c:v>-4.610805</c:v>
                </c:pt>
                <c:pt idx="103">
                  <c:v>-4.676494</c:v>
                </c:pt>
                <c:pt idx="104">
                  <c:v>-4.733262</c:v>
                </c:pt>
                <c:pt idx="105">
                  <c:v>-4.784273</c:v>
                </c:pt>
                <c:pt idx="106">
                  <c:v>-4.830327</c:v>
                </c:pt>
                <c:pt idx="107">
                  <c:v>-4.872901</c:v>
                </c:pt>
                <c:pt idx="108">
                  <c:v>-4.914865</c:v>
                </c:pt>
                <c:pt idx="109">
                  <c:v>-4.951558</c:v>
                </c:pt>
                <c:pt idx="110">
                  <c:v>-4.986705</c:v>
                </c:pt>
                <c:pt idx="111">
                  <c:v>-5.02187</c:v>
                </c:pt>
                <c:pt idx="112">
                  <c:v>-5.055492</c:v>
                </c:pt>
                <c:pt idx="113">
                  <c:v>-5.091698</c:v>
                </c:pt>
                <c:pt idx="114">
                  <c:v>-5.129142</c:v>
                </c:pt>
                <c:pt idx="115">
                  <c:v>-5.170256</c:v>
                </c:pt>
                <c:pt idx="116">
                  <c:v>-5.216473</c:v>
                </c:pt>
                <c:pt idx="117">
                  <c:v>-5.267662</c:v>
                </c:pt>
                <c:pt idx="118">
                  <c:v>-5.327145</c:v>
                </c:pt>
                <c:pt idx="119">
                  <c:v>-5.397708</c:v>
                </c:pt>
                <c:pt idx="120">
                  <c:v>-5.479567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E5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Pure Pursuit</c:v>
          </c:tx>
          <c:spPr>
            <a:solidFill xmlns:a="http://schemas.openxmlformats.org/drawingml/2006/main">
              <a:srgbClr val="087E8B"/>
            </a:solidFill>
          </c:spPr>
          <c:invertIfNegative val="0"/>
          <c:cat>
            <c:strRef>
              <c:f>'Chart Data'!$A$2:$A$5</c:f>
              <c:strCache>
                <c:ptCount val="4"/>
                <c:pt idx="0">
                  <c:v>Nominal</c:v>
                </c:pt>
                <c:pt idx="1">
                  <c:v>Noise</c:v>
                </c:pt>
                <c:pt idx="2">
                  <c:v>200 ms delay</c:v>
                </c:pt>
                <c:pt idx="3">
                  <c:v>Slower response</c:v>
                </c:pt>
              </c:strCache>
            </c:strRef>
          </c:cat>
          <c:val>
            <c:numRef>
              <c:f>'Chart Data'!$B$2:$B$5</c:f>
              <c:numCache>
                <c:formatCode>General</c:formatCode>
                <c:ptCount val="4"/>
                <c:pt idx="0">
                  <c:v>100</c:v>
                </c:pt>
                <c:pt idx="1">
                  <c:v>100</c:v>
                </c:pt>
                <c:pt idx="2">
                  <c:v>100</c:v>
                </c:pt>
                <c:pt idx="3">
                  <c:v>100</c:v>
                </c:pt>
              </c:numCache>
            </c:numRef>
          </c:val>
        </c:ser>
        <c:ser>
          <c:idx val="1"/>
          <c:order val="1"/>
          <c:tx>
            <c:v>SAC, mean of 3 seeds</c:v>
          </c:tx>
          <c:spPr>
            <a:solidFill xmlns:a="http://schemas.openxmlformats.org/drawingml/2006/main">
              <a:srgbClr val="D66343"/>
            </a:solidFill>
          </c:spPr>
          <c:invertIfNegative val="0"/>
          <c:cat>
            <c:strRef>
              <c:f>'Chart Data'!$C$2:$C$5</c:f>
              <c:strCache>
                <c:ptCount val="4"/>
                <c:pt idx="0">
                  <c:v>Nominal</c:v>
                </c:pt>
                <c:pt idx="1">
                  <c:v>Noise</c:v>
                </c:pt>
                <c:pt idx="2">
                  <c:v>200 ms delay</c:v>
                </c:pt>
                <c:pt idx="3">
                  <c:v>Slower response</c:v>
                </c:pt>
              </c:strCache>
            </c:strRef>
          </c:cat>
          <c:val>
            <c:numRef>
              <c:f>'Chart Data'!$D$2:$D$5</c:f>
              <c:numCache>
                <c:formatCode>General</c:formatCode>
                <c:ptCount val="4"/>
                <c:pt idx="0">
                  <c:v>100</c:v>
                </c:pt>
                <c:pt idx="1">
                  <c:v>100</c:v>
                </c:pt>
                <c:pt idx="2">
                  <c:v>90.277778</c:v>
                </c:pt>
                <c:pt idx="3">
                  <c:v>100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Arial"/>
                  <a:ea typeface="Arial"/>
                  <a:cs typeface="Arial"/>
                </a:defRPr>
              </a:pPr>
            </a:p>
          </c:txPr>
          <c:dLblPos val="in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E5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052C48-FA92-43B5-B083-516F0DD7FDE2}"/>
              </a:ext>
            </a:extLst>
          </p:cNvPr>
          <p:cNvSpPr>
            <a:spLocks xmlns:a="http://schemas.openxmlformats.org/drawingml/2006/main" noGrp="1"/>
          </p:cNvSpPr>
          <p:nvPr/>
        </p:nvSpPr>
        <p:spPr>
          <a:xfrm xmlns:a="http://schemas.openxmlformats.org/drawingml/2006/main">
            <a:off x="647700" y="4572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8"/>
                </a:solidFill>
                <a:latin typeface="Arial"/>
                <a:ea typeface="Arial"/>
                <a:cs typeface="Arial"/>
              </a:defRPr>
            </a:defPPr>
            <a:lvl1pPr>
              <a:defRPr sz="3300" b="1">
                <a:solidFill>
                  <a:srgbClr val="102738"/>
                </a:solidFill>
                <a:latin typeface="Arial"/>
                <a:ea typeface="Arial"/>
                <a:cs typeface="Arial"/>
              </a:defRPr>
            </a:lvl1pPr>
            <a:lvl2pPr>
              <a:defRPr sz="3300" b="1">
                <a:solidFill>
                  <a:srgbClr val="102738"/>
                </a:solidFill>
                <a:latin typeface="Arial"/>
                <a:ea typeface="Arial"/>
                <a:cs typeface="Arial"/>
              </a:defRPr>
            </a:lvl2pPr>
            <a:lvl3pPr>
              <a:defRPr sz="3300" b="1">
                <a:solidFill>
                  <a:srgbClr val="102738"/>
                </a:solidFill>
                <a:latin typeface="Arial"/>
                <a:ea typeface="Arial"/>
                <a:cs typeface="Arial"/>
              </a:defRPr>
            </a:lvl3pPr>
            <a:lvl4pPr>
              <a:defRPr sz="3300" b="1">
                <a:solidFill>
                  <a:srgbClr val="102738"/>
                </a:solidFill>
                <a:latin typeface="Arial"/>
                <a:ea typeface="Arial"/>
                <a:cs typeface="Arial"/>
              </a:defRPr>
            </a:lvl4pPr>
            <a:lvl5pPr>
              <a:defRPr sz="3300" b="1">
                <a:solidFill>
                  <a:srgbClr val="102738"/>
                </a:solidFill>
                <a:latin typeface="Arial"/>
                <a:ea typeface="Arial"/>
                <a:cs typeface="Arial"/>
              </a:defRPr>
            </a:lvl5pPr>
            <a:lvl6pPr>
              <a:defRPr sz="3300" b="1">
                <a:solidFill>
                  <a:srgbClr val="102738"/>
                </a:solidFill>
                <a:latin typeface="Arial"/>
                <a:ea typeface="Arial"/>
                <a:cs typeface="Arial"/>
              </a:defRPr>
            </a:lvl6pPr>
            <a:lvl7pPr>
              <a:defRPr sz="3300" b="1">
                <a:solidFill>
                  <a:srgbClr val="102738"/>
                </a:solidFill>
                <a:latin typeface="Arial"/>
                <a:ea typeface="Arial"/>
                <a:cs typeface="Arial"/>
              </a:defRPr>
            </a:lvl7pPr>
            <a:lvl8pPr>
              <a:defRPr sz="3300" b="1">
                <a:solidFill>
                  <a:srgbClr val="102738"/>
                </a:solidFill>
                <a:latin typeface="Arial"/>
                <a:ea typeface="Arial"/>
                <a:cs typeface="Arial"/>
              </a:defRPr>
            </a:lvl8pPr>
            <a:lvl9pPr>
              <a:defRPr sz="3300" b="1">
                <a:solidFill>
                  <a:srgbClr val="102738"/>
                </a:solidFill>
                <a:latin typeface="Arial"/>
                <a:ea typeface="Arial"/>
                <a:cs typeface="Arial"/>
              </a:defRPr>
            </a:lvl9pPr>
          </a:lstStyle>
          <a:p xmlns:a="http://schemas.openxmlformats.org/drawingml/2006/main">
            <a:pPr>
              <a:defRPr sz="3300" b="1">
                <a:solidFill>
                  <a:srgbClr val="102738"/>
                </a:solidFill>
                <a:latin typeface="Arial"/>
                <a:ea typeface="Arial"/>
                <a:cs typeface="Arial"/>
              </a:defRPr>
            </a:pPr>
            <a:r>
              <a:rPr sz="3300" b="1">
                <a:solidFill>
                  <a:srgbClr val="102738"/>
                </a:solidFill>
                <a:latin typeface="Arial"/>
                <a:ea typeface="Arial"/>
                <a:cs typeface="Arial"/>
              </a:rPr>
              <a:t>Kinesis</a:t>
            </a:r>
          </a:p>
        </p:txBody>
      </p:sp>
      <p:sp>
        <p:nvSpPr>
          <p:cNvPr id="2" name="">
            <a:extLst xmlns:a="http://schemas.openxmlformats.org/drawingml/2006/main">
              <a:ext uri="{FF2B5EF4-FFF2-40B4-BE49-F238E27FC236}">
                <a16:creationId xmlns:a16="http://schemas.microsoft.com/office/drawing/2014/main" id="{1744242C-8D8C-4E3E-BC1F-37F983E53A27}"/>
              </a:ext>
            </a:extLst>
          </p:cNvPr>
          <p:cNvSpPr>
            <a:spLocks xmlns:a="http://schemas.openxmlformats.org/drawingml/2006/main" noGrp="1"/>
          </p:cNvSpPr>
          <p:nvPr/>
        </p:nvSpPr>
        <p:spPr>
          <a:xfrm xmlns:a="http://schemas.openxmlformats.org/drawingml/2006/main">
            <a:off x="64770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Kinesis · Ankit Prajapati</a:t>
            </a:r>
          </a:p>
        </p:txBody>
      </p:sp>
      <p:sp>
        <p:nvSpPr>
          <p:cNvPr id="3" name="">
            <a:extLst xmlns:a="http://schemas.openxmlformats.org/drawingml/2006/main">
              <a:ext uri="{FF2B5EF4-FFF2-40B4-BE49-F238E27FC236}">
                <a16:creationId xmlns:a16="http://schemas.microsoft.com/office/drawing/2014/main" id="{D830E9D2-4ECA-49A8-A0F2-B6124C30C526}"/>
              </a:ext>
            </a:extLst>
          </p:cNvPr>
          <p:cNvSpPr>
            <a:spLocks xmlns:a="http://schemas.openxmlformats.org/drawingml/2006/main" noGrp="1"/>
          </p:cNvSpPr>
          <p:nvPr/>
        </p:nvSpPr>
        <p:spPr>
          <a:xfrm xmlns:a="http://schemas.openxmlformats.org/drawingml/2006/main">
            <a:off x="11049000" y="6362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A3699F6B-206D-4354-9FFD-D8DFF638CB7F}"/>
              </a:ext>
            </a:extLst>
          </p:cNvPr>
          <p:cNvSpPr>
            <a:spLocks xmlns:a="http://schemas.openxmlformats.org/drawingml/2006/main" noGrp="1"/>
          </p:cNvSpPr>
          <p:nvPr/>
        </p:nvSpPr>
        <p:spPr>
          <a:xfrm xmlns:a="http://schemas.openxmlformats.org/drawingml/2006/main">
            <a:off x="647700" y="1638300"/>
            <a:ext cx="10477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02738"/>
                </a:solidFill>
                <a:latin typeface="Arial"/>
                <a:ea typeface="Arial"/>
                <a:cs typeface="Arial"/>
              </a:defRPr>
            </a:defPPr>
            <a:lvl1pPr>
              <a:defRPr sz="3675" b="1">
                <a:solidFill>
                  <a:srgbClr val="102738"/>
                </a:solidFill>
                <a:latin typeface="Arial"/>
                <a:ea typeface="Arial"/>
                <a:cs typeface="Arial"/>
              </a:defRPr>
            </a:lvl1pPr>
            <a:lvl2pPr>
              <a:defRPr sz="3675" b="1">
                <a:solidFill>
                  <a:srgbClr val="102738"/>
                </a:solidFill>
                <a:latin typeface="Arial"/>
                <a:ea typeface="Arial"/>
                <a:cs typeface="Arial"/>
              </a:defRPr>
            </a:lvl2pPr>
            <a:lvl3pPr>
              <a:defRPr sz="3675" b="1">
                <a:solidFill>
                  <a:srgbClr val="102738"/>
                </a:solidFill>
                <a:latin typeface="Arial"/>
                <a:ea typeface="Arial"/>
                <a:cs typeface="Arial"/>
              </a:defRPr>
            </a:lvl3pPr>
            <a:lvl4pPr>
              <a:defRPr sz="3675" b="1">
                <a:solidFill>
                  <a:srgbClr val="102738"/>
                </a:solidFill>
                <a:latin typeface="Arial"/>
                <a:ea typeface="Arial"/>
                <a:cs typeface="Arial"/>
              </a:defRPr>
            </a:lvl4pPr>
            <a:lvl5pPr>
              <a:defRPr sz="3675" b="1">
                <a:solidFill>
                  <a:srgbClr val="102738"/>
                </a:solidFill>
                <a:latin typeface="Arial"/>
                <a:ea typeface="Arial"/>
                <a:cs typeface="Arial"/>
              </a:defRPr>
            </a:lvl5pPr>
            <a:lvl6pPr>
              <a:defRPr sz="3675" b="1">
                <a:solidFill>
                  <a:srgbClr val="102738"/>
                </a:solidFill>
                <a:latin typeface="Arial"/>
                <a:ea typeface="Arial"/>
                <a:cs typeface="Arial"/>
              </a:defRPr>
            </a:lvl6pPr>
            <a:lvl7pPr>
              <a:defRPr sz="3675" b="1">
                <a:solidFill>
                  <a:srgbClr val="102738"/>
                </a:solidFill>
                <a:latin typeface="Arial"/>
                <a:ea typeface="Arial"/>
                <a:cs typeface="Arial"/>
              </a:defRPr>
            </a:lvl7pPr>
            <a:lvl8pPr>
              <a:defRPr sz="3675" b="1">
                <a:solidFill>
                  <a:srgbClr val="102738"/>
                </a:solidFill>
                <a:latin typeface="Arial"/>
                <a:ea typeface="Arial"/>
                <a:cs typeface="Arial"/>
              </a:defRPr>
            </a:lvl8pPr>
            <a:lvl9pPr>
              <a:defRPr sz="3675" b="1">
                <a:solidFill>
                  <a:srgbClr val="102738"/>
                </a:solidFill>
                <a:latin typeface="Arial"/>
                <a:ea typeface="Arial"/>
                <a:cs typeface="Arial"/>
              </a:defRPr>
            </a:lvl9pPr>
          </a:lstStyle>
          <a:p xmlns:a="http://schemas.openxmlformats.org/drawingml/2006/main">
            <a:pPr>
              <a:defRPr sz="3675" b="1">
                <a:solidFill>
                  <a:srgbClr val="102738"/>
                </a:solidFill>
                <a:latin typeface="Arial"/>
                <a:ea typeface="Arial"/>
                <a:cs typeface="Arial"/>
              </a:defRPr>
            </a:pPr>
            <a:r>
              <a:rPr sz="3675" b="1">
                <a:solidFill>
                  <a:srgbClr val="102738"/>
                </a:solidFill>
                <a:latin typeface="Arial"/>
                <a:ea typeface="Arial"/>
                <a:cs typeface="Arial"/>
              </a:rPr>
              <a:t>Deep reinforcement learning for</a:t>
            </a:r>
          </a:p>
          <a:p xmlns:a="http://schemas.openxmlformats.org/drawingml/2006/main">
            <a:pPr>
              <a:defRPr sz="3675" b="1">
                <a:solidFill>
                  <a:srgbClr val="102738"/>
                </a:solidFill>
                <a:latin typeface="Arial"/>
                <a:ea typeface="Arial"/>
                <a:cs typeface="Arial"/>
              </a:defRPr>
            </a:pPr>
            <a:r>
              <a:rPr sz="3675" b="1">
                <a:solidFill>
                  <a:srgbClr val="102738"/>
                </a:solidFill>
                <a:latin typeface="Arial"/>
                <a:ea typeface="Arial"/>
                <a:cs typeface="Arial"/>
              </a:rPr>
              <a:t>simulated mobile-robot path tracking</a:t>
            </a:r>
          </a:p>
        </p:txBody>
      </p:sp>
      <p:sp>
        <p:nvSpPr>
          <p:cNvPr id="5" name="">
            <a:extLst xmlns:a="http://schemas.openxmlformats.org/drawingml/2006/main">
              <a:ext uri="{FF2B5EF4-FFF2-40B4-BE49-F238E27FC236}">
                <a16:creationId xmlns:a16="http://schemas.microsoft.com/office/drawing/2014/main" id="{3AD5713A-CFF9-4065-9A85-8D9AB739E9D1}"/>
              </a:ext>
            </a:extLst>
          </p:cNvPr>
          <p:cNvSpPr>
            <a:spLocks xmlns:a="http://schemas.openxmlformats.org/drawingml/2006/main" noGrp="1"/>
          </p:cNvSpPr>
          <p:nvPr/>
        </p:nvSpPr>
        <p:spPr>
          <a:xfrm xmlns:a="http://schemas.openxmlformats.org/drawingml/2006/main">
            <a:off x="647700" y="3486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87E8B"/>
                </a:solidFill>
                <a:latin typeface="Arial"/>
                <a:ea typeface="Arial"/>
                <a:cs typeface="Arial"/>
              </a:defRPr>
            </a:defPPr>
            <a:lvl1pPr>
              <a:defRPr sz="2325" b="0">
                <a:solidFill>
                  <a:srgbClr val="087E8B"/>
                </a:solidFill>
                <a:latin typeface="Arial"/>
                <a:ea typeface="Arial"/>
                <a:cs typeface="Arial"/>
              </a:defRPr>
            </a:lvl1pPr>
            <a:lvl2pPr>
              <a:defRPr sz="2325" b="0">
                <a:solidFill>
                  <a:srgbClr val="087E8B"/>
                </a:solidFill>
                <a:latin typeface="Arial"/>
                <a:ea typeface="Arial"/>
                <a:cs typeface="Arial"/>
              </a:defRPr>
            </a:lvl2pPr>
            <a:lvl3pPr>
              <a:defRPr sz="2325" b="0">
                <a:solidFill>
                  <a:srgbClr val="087E8B"/>
                </a:solidFill>
                <a:latin typeface="Arial"/>
                <a:ea typeface="Arial"/>
                <a:cs typeface="Arial"/>
              </a:defRPr>
            </a:lvl3pPr>
            <a:lvl4pPr>
              <a:defRPr sz="2325" b="0">
                <a:solidFill>
                  <a:srgbClr val="087E8B"/>
                </a:solidFill>
                <a:latin typeface="Arial"/>
                <a:ea typeface="Arial"/>
                <a:cs typeface="Arial"/>
              </a:defRPr>
            </a:lvl4pPr>
            <a:lvl5pPr>
              <a:defRPr sz="2325" b="0">
                <a:solidFill>
                  <a:srgbClr val="087E8B"/>
                </a:solidFill>
                <a:latin typeface="Arial"/>
                <a:ea typeface="Arial"/>
                <a:cs typeface="Arial"/>
              </a:defRPr>
            </a:lvl5pPr>
            <a:lvl6pPr>
              <a:defRPr sz="2325" b="0">
                <a:solidFill>
                  <a:srgbClr val="087E8B"/>
                </a:solidFill>
                <a:latin typeface="Arial"/>
                <a:ea typeface="Arial"/>
                <a:cs typeface="Arial"/>
              </a:defRPr>
            </a:lvl6pPr>
            <a:lvl7pPr>
              <a:defRPr sz="2325" b="0">
                <a:solidFill>
                  <a:srgbClr val="087E8B"/>
                </a:solidFill>
                <a:latin typeface="Arial"/>
                <a:ea typeface="Arial"/>
                <a:cs typeface="Arial"/>
              </a:defRPr>
            </a:lvl7pPr>
            <a:lvl8pPr>
              <a:defRPr sz="2325" b="0">
                <a:solidFill>
                  <a:srgbClr val="087E8B"/>
                </a:solidFill>
                <a:latin typeface="Arial"/>
                <a:ea typeface="Arial"/>
                <a:cs typeface="Arial"/>
              </a:defRPr>
            </a:lvl8pPr>
            <a:lvl9pPr>
              <a:defRPr sz="2325" b="0">
                <a:solidFill>
                  <a:srgbClr val="087E8B"/>
                </a:solidFill>
                <a:latin typeface="Arial"/>
                <a:ea typeface="Arial"/>
                <a:cs typeface="Arial"/>
              </a:defRPr>
            </a:lvl9pPr>
          </a:lstStyle>
          <a:p xmlns:a="http://schemas.openxmlformats.org/drawingml/2006/main">
            <a:pPr>
              <a:defRPr sz="2325" b="0">
                <a:solidFill>
                  <a:srgbClr val="087E8B"/>
                </a:solidFill>
                <a:latin typeface="Arial"/>
                <a:ea typeface="Arial"/>
                <a:cs typeface="Arial"/>
              </a:defRPr>
            </a:pPr>
            <a:r>
              <a:rPr sz="2325" b="0">
                <a:solidFill>
                  <a:srgbClr val="087E8B"/>
                </a:solidFill>
                <a:latin typeface="Arial"/>
                <a:ea typeface="Arial"/>
                <a:cs typeface="Arial"/>
              </a:rPr>
              <a:t>Pure Pursuit and SAC under shared constraints</a:t>
            </a:r>
          </a:p>
        </p:txBody>
      </p:sp>
      <p:sp>
        <p:nvSpPr>
          <p:cNvPr id="6" name="">
            <a:extLst xmlns:a="http://schemas.openxmlformats.org/drawingml/2006/main">
              <a:ext uri="{FF2B5EF4-FFF2-40B4-BE49-F238E27FC236}">
                <a16:creationId xmlns:a16="http://schemas.microsoft.com/office/drawing/2014/main" id="{00FA7589-1C3E-4DC6-8D01-4A5F0ABA3128}"/>
              </a:ext>
            </a:extLst>
          </p:cNvPr>
          <p:cNvSpPr>
            <a:spLocks xmlns:a="http://schemas.openxmlformats.org/drawingml/2006/main" noGrp="1"/>
          </p:cNvSpPr>
          <p:nvPr/>
        </p:nvSpPr>
        <p:spPr>
          <a:xfrm xmlns:a="http://schemas.openxmlformats.org/drawingml/2006/main">
            <a:off x="647700" y="4476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02738"/>
                </a:solidFill>
                <a:latin typeface="Arial"/>
                <a:ea typeface="Arial"/>
                <a:cs typeface="Arial"/>
              </a:defRPr>
            </a:defPPr>
            <a:lvl1pPr>
              <a:defRPr sz="2400" b="0">
                <a:solidFill>
                  <a:srgbClr val="102738"/>
                </a:solidFill>
                <a:latin typeface="Arial"/>
                <a:ea typeface="Arial"/>
                <a:cs typeface="Arial"/>
              </a:defRPr>
            </a:lvl1pPr>
            <a:lvl2pPr>
              <a:defRPr sz="2400" b="0">
                <a:solidFill>
                  <a:srgbClr val="102738"/>
                </a:solidFill>
                <a:latin typeface="Arial"/>
                <a:ea typeface="Arial"/>
                <a:cs typeface="Arial"/>
              </a:defRPr>
            </a:lvl2pPr>
            <a:lvl3pPr>
              <a:defRPr sz="2400" b="0">
                <a:solidFill>
                  <a:srgbClr val="102738"/>
                </a:solidFill>
                <a:latin typeface="Arial"/>
                <a:ea typeface="Arial"/>
                <a:cs typeface="Arial"/>
              </a:defRPr>
            </a:lvl3pPr>
            <a:lvl4pPr>
              <a:defRPr sz="2400" b="0">
                <a:solidFill>
                  <a:srgbClr val="102738"/>
                </a:solidFill>
                <a:latin typeface="Arial"/>
                <a:ea typeface="Arial"/>
                <a:cs typeface="Arial"/>
              </a:defRPr>
            </a:lvl4pPr>
            <a:lvl5pPr>
              <a:defRPr sz="2400" b="0">
                <a:solidFill>
                  <a:srgbClr val="102738"/>
                </a:solidFill>
                <a:latin typeface="Arial"/>
                <a:ea typeface="Arial"/>
                <a:cs typeface="Arial"/>
              </a:defRPr>
            </a:lvl5pPr>
            <a:lvl6pPr>
              <a:defRPr sz="2400" b="0">
                <a:solidFill>
                  <a:srgbClr val="102738"/>
                </a:solidFill>
                <a:latin typeface="Arial"/>
                <a:ea typeface="Arial"/>
                <a:cs typeface="Arial"/>
              </a:defRPr>
            </a:lvl6pPr>
            <a:lvl7pPr>
              <a:defRPr sz="2400" b="0">
                <a:solidFill>
                  <a:srgbClr val="102738"/>
                </a:solidFill>
                <a:latin typeface="Arial"/>
                <a:ea typeface="Arial"/>
                <a:cs typeface="Arial"/>
              </a:defRPr>
            </a:lvl7pPr>
            <a:lvl8pPr>
              <a:defRPr sz="2400" b="0">
                <a:solidFill>
                  <a:srgbClr val="102738"/>
                </a:solidFill>
                <a:latin typeface="Arial"/>
                <a:ea typeface="Arial"/>
                <a:cs typeface="Arial"/>
              </a:defRPr>
            </a:lvl8pPr>
            <a:lvl9pPr>
              <a:defRPr sz="2400" b="0">
                <a:solidFill>
                  <a:srgbClr val="102738"/>
                </a:solidFill>
                <a:latin typeface="Arial"/>
                <a:ea typeface="Arial"/>
                <a:cs typeface="Arial"/>
              </a:defRPr>
            </a:lvl9pPr>
          </a:lstStyle>
          <a:p xmlns:a="http://schemas.openxmlformats.org/drawingml/2006/main">
            <a:pPr>
              <a:defRPr sz="2400" b="0">
                <a:solidFill>
                  <a:srgbClr val="102738"/>
                </a:solidFill>
                <a:latin typeface="Arial"/>
                <a:ea typeface="Arial"/>
                <a:cs typeface="Arial"/>
              </a:defRPr>
            </a:pPr>
            <a:r>
              <a:rPr sz="2400" b="0">
                <a:solidFill>
                  <a:srgbClr val="102738"/>
                </a:solidFill>
                <a:latin typeface="Arial"/>
                <a:ea typeface="Arial"/>
                <a:cs typeface="Arial"/>
              </a:rPr>
              <a:t>Both finish the nominal routes.</a:t>
            </a:r>
          </a:p>
          <a:p xmlns:a="http://schemas.openxmlformats.org/drawingml/2006/main">
            <a:pPr>
              <a:defRPr sz="2400" b="0">
                <a:solidFill>
                  <a:srgbClr val="102738"/>
                </a:solidFill>
                <a:latin typeface="Arial"/>
                <a:ea typeface="Arial"/>
                <a:cs typeface="Arial"/>
              </a:defRPr>
            </a:pPr>
            <a:r>
              <a:rPr sz="2400" b="0">
                <a:solidFill>
                  <a:srgbClr val="102738"/>
                </a:solidFill>
                <a:latin typeface="Arial"/>
                <a:ea typeface="Arial"/>
                <a:cs typeface="Arial"/>
              </a:rPr>
              <a:t>The conventional baseline tracks more accurately.</a:t>
            </a:r>
          </a:p>
        </p:txBody>
      </p:sp>
      <p:sp>
        <p:nvSpPr>
          <p:cNvPr id="7" name="">
            <a:extLst xmlns:a="http://schemas.openxmlformats.org/drawingml/2006/main">
              <a:ext uri="{FF2B5EF4-FFF2-40B4-BE49-F238E27FC236}">
                <a16:creationId xmlns:a16="http://schemas.microsoft.com/office/drawing/2014/main" id="{CB5C2895-05CE-4817-9AD2-0E0F57084ACF}"/>
              </a:ext>
            </a:extLst>
          </p:cNvPr>
          <p:cNvSpPr>
            <a:spLocks xmlns:a="http://schemas.openxmlformats.org/drawingml/2006/main" noGrp="1"/>
          </p:cNvSpPr>
          <p:nvPr/>
        </p:nvSpPr>
        <p:spPr>
          <a:xfrm xmlns:a="http://schemas.openxmlformats.org/drawingml/2006/main">
            <a:off x="647700" y="576262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16778"/>
                </a:solidFill>
                <a:latin typeface="Arial"/>
                <a:ea typeface="Arial"/>
                <a:cs typeface="Arial"/>
              </a:defRPr>
            </a:defPPr>
            <a:lvl1pPr>
              <a:defRPr sz="1650" b="0">
                <a:solidFill>
                  <a:srgbClr val="516778"/>
                </a:solidFill>
                <a:latin typeface="Arial"/>
                <a:ea typeface="Arial"/>
                <a:cs typeface="Arial"/>
              </a:defRPr>
            </a:lvl1pPr>
            <a:lvl2pPr>
              <a:defRPr sz="1650" b="0">
                <a:solidFill>
                  <a:srgbClr val="516778"/>
                </a:solidFill>
                <a:latin typeface="Arial"/>
                <a:ea typeface="Arial"/>
                <a:cs typeface="Arial"/>
              </a:defRPr>
            </a:lvl2pPr>
            <a:lvl3pPr>
              <a:defRPr sz="1650" b="0">
                <a:solidFill>
                  <a:srgbClr val="516778"/>
                </a:solidFill>
                <a:latin typeface="Arial"/>
                <a:ea typeface="Arial"/>
                <a:cs typeface="Arial"/>
              </a:defRPr>
            </a:lvl3pPr>
            <a:lvl4pPr>
              <a:defRPr sz="1650" b="0">
                <a:solidFill>
                  <a:srgbClr val="516778"/>
                </a:solidFill>
                <a:latin typeface="Arial"/>
                <a:ea typeface="Arial"/>
                <a:cs typeface="Arial"/>
              </a:defRPr>
            </a:lvl4pPr>
            <a:lvl5pPr>
              <a:defRPr sz="1650" b="0">
                <a:solidFill>
                  <a:srgbClr val="516778"/>
                </a:solidFill>
                <a:latin typeface="Arial"/>
                <a:ea typeface="Arial"/>
                <a:cs typeface="Arial"/>
              </a:defRPr>
            </a:lvl5pPr>
            <a:lvl6pPr>
              <a:defRPr sz="1650" b="0">
                <a:solidFill>
                  <a:srgbClr val="516778"/>
                </a:solidFill>
                <a:latin typeface="Arial"/>
                <a:ea typeface="Arial"/>
                <a:cs typeface="Arial"/>
              </a:defRPr>
            </a:lvl6pPr>
            <a:lvl7pPr>
              <a:defRPr sz="1650" b="0">
                <a:solidFill>
                  <a:srgbClr val="516778"/>
                </a:solidFill>
                <a:latin typeface="Arial"/>
                <a:ea typeface="Arial"/>
                <a:cs typeface="Arial"/>
              </a:defRPr>
            </a:lvl7pPr>
            <a:lvl8pPr>
              <a:defRPr sz="1650" b="0">
                <a:solidFill>
                  <a:srgbClr val="516778"/>
                </a:solidFill>
                <a:latin typeface="Arial"/>
                <a:ea typeface="Arial"/>
                <a:cs typeface="Arial"/>
              </a:defRPr>
            </a:lvl8pPr>
            <a:lvl9pPr>
              <a:defRPr sz="1650" b="0">
                <a:solidFill>
                  <a:srgbClr val="516778"/>
                </a:solidFill>
                <a:latin typeface="Arial"/>
                <a:ea typeface="Arial"/>
                <a:cs typeface="Arial"/>
              </a:defRPr>
            </a:lvl9pPr>
          </a:lstStyle>
          <a:p xmlns:a="http://schemas.openxmlformats.org/drawingml/2006/main">
            <a:pPr>
              <a:defRPr sz="1650" b="0">
                <a:solidFill>
                  <a:srgbClr val="516778"/>
                </a:solidFill>
                <a:latin typeface="Arial"/>
                <a:ea typeface="Arial"/>
                <a:cs typeface="Arial"/>
              </a:defRPr>
            </a:pPr>
            <a:r>
              <a:rPr sz="1650" b="0">
                <a:solidFill>
                  <a:srgbClr val="516778"/>
                </a:solidFill>
                <a:latin typeface="Arial"/>
                <a:ea typeface="Arial"/>
                <a:cs typeface="Arial"/>
              </a:rPr>
              <a:t>28 October 2026</a:t>
            </a:r>
          </a:p>
        </p:txBody>
      </p:sp>
    </p:spTree>
    <p:extLst>
      <p:ext uri="{BB962C8B-B14F-4D97-AF65-F5344CB8AC3E}">
        <p14:creationId xmlns:p14="http://schemas.microsoft.com/office/powerpoint/2010/main" val="631748781"/>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F3D608-E2BA-44DC-8A8F-23AAFA030B30}"/>
              </a:ext>
            </a:extLst>
          </p:cNvPr>
          <p:cNvSpPr>
            <a:spLocks xmlns:a="http://schemas.openxmlformats.org/drawingml/2006/main" noGrp="1"/>
          </p:cNvSpPr>
          <p:nvPr/>
        </p:nvSpPr>
        <p:spPr>
          <a:xfrm xmlns:a="http://schemas.openxmlformats.org/drawingml/2006/main">
            <a:off x="647700" y="4572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8"/>
                </a:solidFill>
                <a:latin typeface="Arial"/>
                <a:ea typeface="Arial"/>
                <a:cs typeface="Arial"/>
              </a:defRPr>
            </a:defPPr>
            <a:lvl1pPr>
              <a:defRPr sz="3300" b="1">
                <a:solidFill>
                  <a:srgbClr val="102738"/>
                </a:solidFill>
                <a:latin typeface="Arial"/>
                <a:ea typeface="Arial"/>
                <a:cs typeface="Arial"/>
              </a:defRPr>
            </a:lvl1pPr>
            <a:lvl2pPr>
              <a:defRPr sz="3300" b="1">
                <a:solidFill>
                  <a:srgbClr val="102738"/>
                </a:solidFill>
                <a:latin typeface="Arial"/>
                <a:ea typeface="Arial"/>
                <a:cs typeface="Arial"/>
              </a:defRPr>
            </a:lvl2pPr>
            <a:lvl3pPr>
              <a:defRPr sz="3300" b="1">
                <a:solidFill>
                  <a:srgbClr val="102738"/>
                </a:solidFill>
                <a:latin typeface="Arial"/>
                <a:ea typeface="Arial"/>
                <a:cs typeface="Arial"/>
              </a:defRPr>
            </a:lvl3pPr>
            <a:lvl4pPr>
              <a:defRPr sz="3300" b="1">
                <a:solidFill>
                  <a:srgbClr val="102738"/>
                </a:solidFill>
                <a:latin typeface="Arial"/>
                <a:ea typeface="Arial"/>
                <a:cs typeface="Arial"/>
              </a:defRPr>
            </a:lvl4pPr>
            <a:lvl5pPr>
              <a:defRPr sz="3300" b="1">
                <a:solidFill>
                  <a:srgbClr val="102738"/>
                </a:solidFill>
                <a:latin typeface="Arial"/>
                <a:ea typeface="Arial"/>
                <a:cs typeface="Arial"/>
              </a:defRPr>
            </a:lvl5pPr>
            <a:lvl6pPr>
              <a:defRPr sz="3300" b="1">
                <a:solidFill>
                  <a:srgbClr val="102738"/>
                </a:solidFill>
                <a:latin typeface="Arial"/>
                <a:ea typeface="Arial"/>
                <a:cs typeface="Arial"/>
              </a:defRPr>
            </a:lvl6pPr>
            <a:lvl7pPr>
              <a:defRPr sz="3300" b="1">
                <a:solidFill>
                  <a:srgbClr val="102738"/>
                </a:solidFill>
                <a:latin typeface="Arial"/>
                <a:ea typeface="Arial"/>
                <a:cs typeface="Arial"/>
              </a:defRPr>
            </a:lvl7pPr>
            <a:lvl8pPr>
              <a:defRPr sz="3300" b="1">
                <a:solidFill>
                  <a:srgbClr val="102738"/>
                </a:solidFill>
                <a:latin typeface="Arial"/>
                <a:ea typeface="Arial"/>
                <a:cs typeface="Arial"/>
              </a:defRPr>
            </a:lvl8pPr>
            <a:lvl9pPr>
              <a:defRPr sz="3300" b="1">
                <a:solidFill>
                  <a:srgbClr val="102738"/>
                </a:solidFill>
                <a:latin typeface="Arial"/>
                <a:ea typeface="Arial"/>
                <a:cs typeface="Arial"/>
              </a:defRPr>
            </a:lvl9pPr>
          </a:lstStyle>
          <a:p xmlns:a="http://schemas.openxmlformats.org/drawingml/2006/main">
            <a:pPr>
              <a:defRPr sz="3300" b="1">
                <a:solidFill>
                  <a:srgbClr val="102738"/>
                </a:solidFill>
                <a:latin typeface="Arial"/>
                <a:ea typeface="Arial"/>
                <a:cs typeface="Arial"/>
              </a:defRPr>
            </a:pPr>
            <a:r>
              <a:rPr sz="3300" b="1">
                <a:solidFill>
                  <a:srgbClr val="102738"/>
                </a:solidFill>
                <a:latin typeface="Arial"/>
                <a:ea typeface="Arial"/>
                <a:cs typeface="Arial"/>
              </a:rPr>
              <a:t>Robot model and control task</a:t>
            </a:r>
          </a:p>
        </p:txBody>
      </p:sp>
      <p:sp>
        <p:nvSpPr>
          <p:cNvPr id="2" name="">
            <a:extLst xmlns:a="http://schemas.openxmlformats.org/drawingml/2006/main">
              <a:ext uri="{FF2B5EF4-FFF2-40B4-BE49-F238E27FC236}">
                <a16:creationId xmlns:a16="http://schemas.microsoft.com/office/drawing/2014/main" id="{B162510D-4E14-479A-9656-511D4BB6A4AA}"/>
              </a:ext>
            </a:extLst>
          </p:cNvPr>
          <p:cNvSpPr>
            <a:spLocks xmlns:a="http://schemas.openxmlformats.org/drawingml/2006/main" noGrp="1"/>
          </p:cNvSpPr>
          <p:nvPr/>
        </p:nvSpPr>
        <p:spPr>
          <a:xfrm xmlns:a="http://schemas.openxmlformats.org/drawingml/2006/main">
            <a:off x="64770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Kinesis · Ankit Prajapati</a:t>
            </a:r>
          </a:p>
        </p:txBody>
      </p:sp>
      <p:sp>
        <p:nvSpPr>
          <p:cNvPr id="3" name="">
            <a:extLst xmlns:a="http://schemas.openxmlformats.org/drawingml/2006/main">
              <a:ext uri="{FF2B5EF4-FFF2-40B4-BE49-F238E27FC236}">
                <a16:creationId xmlns:a16="http://schemas.microsoft.com/office/drawing/2014/main" id="{B23EFD88-BBBB-4AC1-A892-F4D6F3E251AD}"/>
              </a:ext>
            </a:extLst>
          </p:cNvPr>
          <p:cNvSpPr>
            <a:spLocks xmlns:a="http://schemas.openxmlformats.org/drawingml/2006/main" noGrp="1"/>
          </p:cNvSpPr>
          <p:nvPr/>
        </p:nvSpPr>
        <p:spPr>
          <a:xfrm xmlns:a="http://schemas.openxmlformats.org/drawingml/2006/main">
            <a:off x="11049000" y="6362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C2831BE4-C6BE-42C7-A639-095F349E1CE3}"/>
              </a:ext>
            </a:extLst>
          </p:cNvPr>
          <p:cNvSpPr>
            <a:spLocks xmlns:a="http://schemas.openxmlformats.org/drawingml/2006/main" noGrp="1"/>
          </p:cNvSpPr>
          <p:nvPr/>
        </p:nvSpPr>
        <p:spPr>
          <a:xfrm xmlns:a="http://schemas.openxmlformats.org/drawingml/2006/main">
            <a:off x="647700" y="1638300"/>
            <a:ext cx="49530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E8B"/>
                </a:solidFill>
                <a:latin typeface="Arial"/>
                <a:ea typeface="Arial"/>
                <a:cs typeface="Arial"/>
              </a:defRPr>
            </a:defPPr>
            <a:lvl1pPr>
              <a:defRPr sz="2850" b="1">
                <a:solidFill>
                  <a:srgbClr val="087E8B"/>
                </a:solidFill>
                <a:latin typeface="Arial"/>
                <a:ea typeface="Arial"/>
                <a:cs typeface="Arial"/>
              </a:defRPr>
            </a:lvl1pPr>
            <a:lvl2pPr>
              <a:defRPr sz="2850" b="1">
                <a:solidFill>
                  <a:srgbClr val="087E8B"/>
                </a:solidFill>
                <a:latin typeface="Arial"/>
                <a:ea typeface="Arial"/>
                <a:cs typeface="Arial"/>
              </a:defRPr>
            </a:lvl2pPr>
            <a:lvl3pPr>
              <a:defRPr sz="2850" b="1">
                <a:solidFill>
                  <a:srgbClr val="087E8B"/>
                </a:solidFill>
                <a:latin typeface="Arial"/>
                <a:ea typeface="Arial"/>
                <a:cs typeface="Arial"/>
              </a:defRPr>
            </a:lvl3pPr>
            <a:lvl4pPr>
              <a:defRPr sz="2850" b="1">
                <a:solidFill>
                  <a:srgbClr val="087E8B"/>
                </a:solidFill>
                <a:latin typeface="Arial"/>
                <a:ea typeface="Arial"/>
                <a:cs typeface="Arial"/>
              </a:defRPr>
            </a:lvl4pPr>
            <a:lvl5pPr>
              <a:defRPr sz="2850" b="1">
                <a:solidFill>
                  <a:srgbClr val="087E8B"/>
                </a:solidFill>
                <a:latin typeface="Arial"/>
                <a:ea typeface="Arial"/>
                <a:cs typeface="Arial"/>
              </a:defRPr>
            </a:lvl5pPr>
            <a:lvl6pPr>
              <a:defRPr sz="2850" b="1">
                <a:solidFill>
                  <a:srgbClr val="087E8B"/>
                </a:solidFill>
                <a:latin typeface="Arial"/>
                <a:ea typeface="Arial"/>
                <a:cs typeface="Arial"/>
              </a:defRPr>
            </a:lvl6pPr>
            <a:lvl7pPr>
              <a:defRPr sz="2850" b="1">
                <a:solidFill>
                  <a:srgbClr val="087E8B"/>
                </a:solidFill>
                <a:latin typeface="Arial"/>
                <a:ea typeface="Arial"/>
                <a:cs typeface="Arial"/>
              </a:defRPr>
            </a:lvl7pPr>
            <a:lvl8pPr>
              <a:defRPr sz="2850" b="1">
                <a:solidFill>
                  <a:srgbClr val="087E8B"/>
                </a:solidFill>
                <a:latin typeface="Arial"/>
                <a:ea typeface="Arial"/>
                <a:cs typeface="Arial"/>
              </a:defRPr>
            </a:lvl8pPr>
            <a:lvl9pPr>
              <a:defRPr sz="2850" b="1">
                <a:solidFill>
                  <a:srgbClr val="087E8B"/>
                </a:solidFill>
                <a:latin typeface="Arial"/>
                <a:ea typeface="Arial"/>
                <a:cs typeface="Arial"/>
              </a:defRPr>
            </a:lvl9pPr>
          </a:lstStyle>
          <a:p xmlns:a="http://schemas.openxmlformats.org/drawingml/2006/main">
            <a:pPr>
              <a:defRPr sz="2850" b="1">
                <a:solidFill>
                  <a:srgbClr val="087E8B"/>
                </a:solidFill>
                <a:latin typeface="Arial"/>
                <a:ea typeface="Arial"/>
                <a:cs typeface="Arial"/>
              </a:defRPr>
            </a:pPr>
            <a:r>
              <a:rPr sz="2850" b="1">
                <a:solidFill>
                  <a:srgbClr val="087E8B"/>
                </a:solidFill>
                <a:latin typeface="Arial"/>
                <a:ea typeface="Arial"/>
                <a:cs typeface="Arial"/>
              </a:rPr>
              <a:t>dx/dt = v cos θ</a:t>
            </a:r>
          </a:p>
          <a:p xmlns:a="http://schemas.openxmlformats.org/drawingml/2006/main">
            <a:pPr>
              <a:defRPr sz="2850" b="1">
                <a:solidFill>
                  <a:srgbClr val="087E8B"/>
                </a:solidFill>
                <a:latin typeface="Arial"/>
                <a:ea typeface="Arial"/>
                <a:cs typeface="Arial"/>
              </a:defRPr>
            </a:pPr>
            <a:r>
              <a:rPr sz="2850" b="1">
                <a:solidFill>
                  <a:srgbClr val="087E8B"/>
                </a:solidFill>
                <a:latin typeface="Arial"/>
                <a:ea typeface="Arial"/>
                <a:cs typeface="Arial"/>
              </a:rPr>
              <a:t>dy/dt = v sin θ</a:t>
            </a:r>
          </a:p>
          <a:p xmlns:a="http://schemas.openxmlformats.org/drawingml/2006/main">
            <a:pPr>
              <a:defRPr sz="2850" b="1">
                <a:solidFill>
                  <a:srgbClr val="087E8B"/>
                </a:solidFill>
                <a:latin typeface="Arial"/>
                <a:ea typeface="Arial"/>
                <a:cs typeface="Arial"/>
              </a:defRPr>
            </a:pPr>
            <a:r>
              <a:rPr sz="2850" b="1">
                <a:solidFill>
                  <a:srgbClr val="087E8B"/>
                </a:solidFill>
                <a:latin typeface="Arial"/>
                <a:ea typeface="Arial"/>
                <a:cs typeface="Arial"/>
              </a:rPr>
              <a:t>dθ/dt = ω</a:t>
            </a:r>
          </a:p>
        </p:txBody>
      </p:sp>
      <p:sp>
        <p:nvSpPr>
          <p:cNvPr id="5" name="">
            <a:extLst xmlns:a="http://schemas.openxmlformats.org/drawingml/2006/main">
              <a:ext uri="{FF2B5EF4-FFF2-40B4-BE49-F238E27FC236}">
                <a16:creationId xmlns:a16="http://schemas.microsoft.com/office/drawing/2014/main" id="{9D2EFCE2-6FF6-4D03-8A83-E6577ADF6E6B}"/>
              </a:ext>
            </a:extLst>
          </p:cNvPr>
          <p:cNvSpPr>
            <a:spLocks xmlns:a="http://schemas.openxmlformats.org/drawingml/2006/main" noGrp="1"/>
          </p:cNvSpPr>
          <p:nvPr/>
        </p:nvSpPr>
        <p:spPr>
          <a:xfrm xmlns:a="http://schemas.openxmlformats.org/drawingml/2006/main">
            <a:off x="647700" y="41338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738"/>
                </a:solidFill>
                <a:latin typeface="Arial"/>
                <a:ea typeface="Arial"/>
                <a:cs typeface="Arial"/>
              </a:defRPr>
            </a:defPPr>
            <a:lvl1pPr>
              <a:defRPr sz="2100" b="0">
                <a:solidFill>
                  <a:srgbClr val="102738"/>
                </a:solidFill>
                <a:latin typeface="Arial"/>
                <a:ea typeface="Arial"/>
                <a:cs typeface="Arial"/>
              </a:defRPr>
            </a:lvl1pPr>
            <a:lvl2pPr>
              <a:defRPr sz="2100" b="0">
                <a:solidFill>
                  <a:srgbClr val="102738"/>
                </a:solidFill>
                <a:latin typeface="Arial"/>
                <a:ea typeface="Arial"/>
                <a:cs typeface="Arial"/>
              </a:defRPr>
            </a:lvl2pPr>
            <a:lvl3pPr>
              <a:defRPr sz="2100" b="0">
                <a:solidFill>
                  <a:srgbClr val="102738"/>
                </a:solidFill>
                <a:latin typeface="Arial"/>
                <a:ea typeface="Arial"/>
                <a:cs typeface="Arial"/>
              </a:defRPr>
            </a:lvl3pPr>
            <a:lvl4pPr>
              <a:defRPr sz="2100" b="0">
                <a:solidFill>
                  <a:srgbClr val="102738"/>
                </a:solidFill>
                <a:latin typeface="Arial"/>
                <a:ea typeface="Arial"/>
                <a:cs typeface="Arial"/>
              </a:defRPr>
            </a:lvl4pPr>
            <a:lvl5pPr>
              <a:defRPr sz="2100" b="0">
                <a:solidFill>
                  <a:srgbClr val="102738"/>
                </a:solidFill>
                <a:latin typeface="Arial"/>
                <a:ea typeface="Arial"/>
                <a:cs typeface="Arial"/>
              </a:defRPr>
            </a:lvl5pPr>
            <a:lvl6pPr>
              <a:defRPr sz="2100" b="0">
                <a:solidFill>
                  <a:srgbClr val="102738"/>
                </a:solidFill>
                <a:latin typeface="Arial"/>
                <a:ea typeface="Arial"/>
                <a:cs typeface="Arial"/>
              </a:defRPr>
            </a:lvl6pPr>
            <a:lvl7pPr>
              <a:defRPr sz="2100" b="0">
                <a:solidFill>
                  <a:srgbClr val="102738"/>
                </a:solidFill>
                <a:latin typeface="Arial"/>
                <a:ea typeface="Arial"/>
                <a:cs typeface="Arial"/>
              </a:defRPr>
            </a:lvl7pPr>
            <a:lvl8pPr>
              <a:defRPr sz="2100" b="0">
                <a:solidFill>
                  <a:srgbClr val="102738"/>
                </a:solidFill>
                <a:latin typeface="Arial"/>
                <a:ea typeface="Arial"/>
                <a:cs typeface="Arial"/>
              </a:defRPr>
            </a:lvl8pPr>
            <a:lvl9pPr>
              <a:defRPr sz="2100" b="0">
                <a:solidFill>
                  <a:srgbClr val="102738"/>
                </a:solidFill>
                <a:latin typeface="Arial"/>
                <a:ea typeface="Arial"/>
                <a:cs typeface="Arial"/>
              </a:defRPr>
            </a:lvl9pPr>
          </a:lstStyle>
          <a:p xmlns:a="http://schemas.openxmlformats.org/drawingml/2006/main">
            <a:pPr>
              <a:defRPr sz="2100" b="0">
                <a:solidFill>
                  <a:srgbClr val="102738"/>
                </a:solidFill>
                <a:latin typeface="Arial"/>
                <a:ea typeface="Arial"/>
                <a:cs typeface="Arial"/>
              </a:defRPr>
            </a:pPr>
            <a:r>
              <a:rPr sz="2100" b="0">
                <a:solidFill>
                  <a:srgbClr val="102738"/>
                </a:solidFill>
                <a:latin typeface="Arial"/>
                <a:ea typeface="Arial"/>
                <a:cs typeface="Arial"/>
              </a:rPr>
              <a:t>Speed response includes actuator lag.</a:t>
            </a:r>
          </a:p>
          <a:p xmlns:a="http://schemas.openxmlformats.org/drawingml/2006/main">
            <a:pPr>
              <a:defRPr sz="2100" b="0">
                <a:solidFill>
                  <a:srgbClr val="102738"/>
                </a:solidFill>
                <a:latin typeface="Arial"/>
                <a:ea typeface="Arial"/>
                <a:cs typeface="Arial"/>
              </a:defRPr>
            </a:pPr>
            <a:r>
              <a:rPr sz="2100" b="0">
                <a:solidFill>
                  <a:srgbClr val="102738"/>
                </a:solidFill>
                <a:latin typeface="Arial"/>
                <a:ea typeface="Arial"/>
                <a:cs typeface="Arial"/>
              </a:rPr>
              <a:t>Control updates occur every 0.1 s.</a:t>
            </a:r>
          </a:p>
        </p:txBody>
      </p:sp>
      <p:graphicFrame>
        <p:nvGraphicFramePr>
          <p:cNvPr id="6" name="">
            <a:extLst xmlns:a="http://schemas.openxmlformats.org/drawingml/2006/main">
              <a:ext uri="{FF2B5EF4-FFF2-40B4-BE49-F238E27FC236}">
                <a16:creationId xmlns:a16="http://schemas.microsoft.com/office/drawing/2014/main" id="{C24C0DEA-AE4F-40A7-AC2E-48654698FD46}"/>
              </a:ext>
            </a:extLst>
          </p:cNvPr>
          <p:cNvGraphicFramePr/>
          <p:nvPr/>
        </p:nvGraphicFramePr>
        <p:xfrm>
          <a:off xmlns:a="http://schemas.openxmlformats.org/drawingml/2006/main" x="6229350" y="1600200"/>
          <a:ext xmlns:a="http://schemas.openxmlformats.org/drawingml/2006/main" cx="5314950" cy="3676650"/>
        </p:xfrm>
        <a:graphic xmlns:a="http://schemas.openxmlformats.org/drawingml/2006/main">
          <a:graphicData uri="http://schemas.openxmlformats.org/drawingml/2006/table">
            <a:tbl>
              <a:tblPr/>
              <a:tblGrid>
                <a:gridCol w="2590800"/>
                <a:gridCol w="2724150"/>
              </a:tblGrid>
              <a:tr h="735330">
                <a:tc>
                  <a:txBody>
                    <a:bodyPr/>
                    <a:lstStyle/>
                    <a:p>
                      <a:r>
                        <a:rPr sz="1800" b="1">
                          <a:solidFill>
                            <a:srgbClr val="FFFFFF"/>
                          </a:solidFill>
                          <a:latin typeface="Arial"/>
                          <a:ea typeface="Arial"/>
                          <a:cs typeface="Arial"/>
                        </a:rPr>
                        <a:t>Setting</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02738"/>
                    </a:solidFill>
                  </a:tcPr>
                </a:tc>
                <a:tc>
                  <a:txBody>
                    <a:bodyPr/>
                    <a:lstStyle/>
                    <a:p>
                      <a:r>
                        <a:rPr sz="1800" b="1">
                          <a:solidFill>
                            <a:srgbClr val="FFFFFF"/>
                          </a:solidFill>
                          <a:latin typeface="Arial"/>
                          <a:ea typeface="Arial"/>
                          <a:cs typeface="Arial"/>
                        </a:rPr>
                        <a:t>Value</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02738"/>
                    </a:solidFill>
                  </a:tcPr>
                </a:tc>
              </a:tr>
              <a:tr h="735330">
                <a:tc>
                  <a:txBody>
                    <a:bodyPr/>
                    <a:lstStyle/>
                    <a:p>
                      <a:r>
                        <a:rPr sz="1800" b="0">
                          <a:solidFill>
                            <a:srgbClr val="102738"/>
                          </a:solidFill>
                          <a:latin typeface="Arial"/>
                          <a:ea typeface="Arial"/>
                          <a:cs typeface="Arial"/>
                        </a:rPr>
                        <a:t>Forward speed</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0–1.2 m/s</a:t>
                      </a:r>
                    </a:p>
                  </a:txBody>
                  <a:tcPr marL="91440" marR="91440" marT="45720" marB="45720">
                    <a:lnR w="9525">
                      <a:solidFill>
                        <a:srgbClr val="CBD5E1"/>
                      </a:solidFill>
                      <a:prstDash val="solid"/>
                    </a:lnR>
                    <a:lnB w="9525">
                      <a:solidFill>
                        <a:srgbClr val="CBD5E1"/>
                      </a:solidFill>
                      <a:prstDash val="solid"/>
                    </a:lnB>
                    <a:solidFill>
                      <a:srgbClr val="FFFFFF"/>
                    </a:solidFill>
                  </a:tcPr>
                </a:tc>
              </a:tr>
              <a:tr h="735330">
                <a:tc>
                  <a:txBody>
                    <a:bodyPr/>
                    <a:lstStyle/>
                    <a:p>
                      <a:r>
                        <a:rPr sz="1800" b="0">
                          <a:solidFill>
                            <a:srgbClr val="102738"/>
                          </a:solidFill>
                          <a:latin typeface="Arial"/>
                          <a:ea typeface="Arial"/>
                          <a:cs typeface="Arial"/>
                        </a:rPr>
                        <a:t>Turn rate</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EFF4F7"/>
                    </a:solidFill>
                  </a:tcPr>
                </a:tc>
                <a:tc>
                  <a:txBody>
                    <a:bodyPr/>
                    <a:lstStyle/>
                    <a:p>
                      <a:r>
                        <a:rPr sz="1800" b="0">
                          <a:solidFill>
                            <a:srgbClr val="102738"/>
                          </a:solidFill>
                          <a:latin typeface="Arial"/>
                          <a:ea typeface="Arial"/>
                          <a:cs typeface="Arial"/>
                        </a:rPr>
                        <a:t>−2 to 2 rad/s</a:t>
                      </a:r>
                    </a:p>
                  </a:txBody>
                  <a:tcPr marL="91440" marR="91440" marT="45720" marB="45720">
                    <a:lnR w="9525">
                      <a:solidFill>
                        <a:srgbClr val="CBD5E1"/>
                      </a:solidFill>
                      <a:prstDash val="solid"/>
                    </a:lnR>
                    <a:lnB w="9525">
                      <a:solidFill>
                        <a:srgbClr val="CBD5E1"/>
                      </a:solidFill>
                      <a:prstDash val="solid"/>
                    </a:lnB>
                    <a:solidFill>
                      <a:srgbClr val="EFF4F7"/>
                    </a:solidFill>
                  </a:tcPr>
                </a:tc>
              </a:tr>
              <a:tr h="735330">
                <a:tc>
                  <a:txBody>
                    <a:bodyPr/>
                    <a:lstStyle/>
                    <a:p>
                      <a:r>
                        <a:rPr sz="1800" b="0">
                          <a:solidFill>
                            <a:srgbClr val="102738"/>
                          </a:solidFill>
                          <a:latin typeface="Arial"/>
                          <a:ea typeface="Arial"/>
                          <a:cs typeface="Arial"/>
                        </a:rPr>
                        <a:t>Response constants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0.25 s / 0.18 s</a:t>
                      </a:r>
                    </a:p>
                  </a:txBody>
                  <a:tcPr marL="91440" marR="91440" marT="45720" marB="45720">
                    <a:lnR w="9525">
                      <a:solidFill>
                        <a:srgbClr val="CBD5E1"/>
                      </a:solidFill>
                      <a:prstDash val="solid"/>
                    </a:lnR>
                    <a:lnB w="9525">
                      <a:solidFill>
                        <a:srgbClr val="CBD5E1"/>
                      </a:solidFill>
                      <a:prstDash val="solid"/>
                    </a:lnB>
                    <a:solidFill>
                      <a:srgbClr val="FFFFFF"/>
                    </a:solidFill>
                  </a:tcPr>
                </a:tc>
              </a:tr>
              <a:tr h="735330">
                <a:tc>
                  <a:txBody>
                    <a:bodyPr/>
                    <a:lstStyle/>
                    <a:p>
                      <a:r>
                        <a:rPr sz="1800" b="0">
                          <a:solidFill>
                            <a:srgbClr val="102738"/>
                          </a:solidFill>
                          <a:latin typeface="Arial"/>
                          <a:ea typeface="Arial"/>
                          <a:cs typeface="Arial"/>
                        </a:rPr>
                        <a:t>Integration</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EFF4F7"/>
                    </a:solidFill>
                  </a:tcPr>
                </a:tc>
                <a:tc>
                  <a:txBody>
                    <a:bodyPr/>
                    <a:lstStyle/>
                    <a:p>
                      <a:r>
                        <a:rPr sz="1800" b="0">
                          <a:solidFill>
                            <a:srgbClr val="102738"/>
                          </a:solidFill>
                          <a:latin typeface="Arial"/>
                          <a:ea typeface="Arial"/>
                          <a:cs typeface="Arial"/>
                        </a:rPr>
                        <a:t>5 substeps</a:t>
                      </a:r>
                    </a:p>
                  </a:txBody>
                  <a:tcPr marL="91440" marR="91440" marT="45720" marB="45720">
                    <a:lnR w="9525">
                      <a:solidFill>
                        <a:srgbClr val="CBD5E1"/>
                      </a:solidFill>
                      <a:prstDash val="solid"/>
                    </a:lnR>
                    <a:lnB w="9525">
                      <a:solidFill>
                        <a:srgbClr val="CBD5E1"/>
                      </a:solidFill>
                      <a:prstDash val="solid"/>
                    </a:lnB>
                    <a:solidFill>
                      <a:srgbClr val="EFF4F7"/>
                    </a:solidFill>
                  </a:tcPr>
                </a:tc>
              </a:tr>
            </a:tbl>
          </a:graphicData>
        </a:graphic>
      </p:graphicFrame>
      <p:sp>
        <p:nvSpPr>
          <p:cNvPr id="7" name="">
            <a:extLst xmlns:a="http://schemas.openxmlformats.org/drawingml/2006/main">
              <a:ext uri="{FF2B5EF4-FFF2-40B4-BE49-F238E27FC236}">
                <a16:creationId xmlns:a16="http://schemas.microsoft.com/office/drawing/2014/main" id="{4A91671E-9FF8-4A9D-998D-F3EACA73BFC7}"/>
              </a:ext>
            </a:extLst>
          </p:cNvPr>
          <p:cNvSpPr>
            <a:spLocks xmlns:a="http://schemas.openxmlformats.org/drawingml/2006/main" noGrp="1"/>
          </p:cNvSpPr>
          <p:nvPr/>
        </p:nvSpPr>
        <p:spPr>
          <a:xfrm xmlns:a="http://schemas.openxmlformats.org/drawingml/2006/main">
            <a:off x="647700" y="57150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778"/>
                </a:solidFill>
                <a:latin typeface="Arial"/>
                <a:ea typeface="Arial"/>
                <a:cs typeface="Arial"/>
              </a:defRPr>
            </a:defPPr>
            <a:lvl1pPr>
              <a:defRPr sz="1725" b="0">
                <a:solidFill>
                  <a:srgbClr val="516778"/>
                </a:solidFill>
                <a:latin typeface="Arial"/>
                <a:ea typeface="Arial"/>
                <a:cs typeface="Arial"/>
              </a:defRPr>
            </a:lvl1pPr>
            <a:lvl2pPr>
              <a:defRPr sz="1725" b="0">
                <a:solidFill>
                  <a:srgbClr val="516778"/>
                </a:solidFill>
                <a:latin typeface="Arial"/>
                <a:ea typeface="Arial"/>
                <a:cs typeface="Arial"/>
              </a:defRPr>
            </a:lvl2pPr>
            <a:lvl3pPr>
              <a:defRPr sz="1725" b="0">
                <a:solidFill>
                  <a:srgbClr val="516778"/>
                </a:solidFill>
                <a:latin typeface="Arial"/>
                <a:ea typeface="Arial"/>
                <a:cs typeface="Arial"/>
              </a:defRPr>
            </a:lvl3pPr>
            <a:lvl4pPr>
              <a:defRPr sz="1725" b="0">
                <a:solidFill>
                  <a:srgbClr val="516778"/>
                </a:solidFill>
                <a:latin typeface="Arial"/>
                <a:ea typeface="Arial"/>
                <a:cs typeface="Arial"/>
              </a:defRPr>
            </a:lvl4pPr>
            <a:lvl5pPr>
              <a:defRPr sz="1725" b="0">
                <a:solidFill>
                  <a:srgbClr val="516778"/>
                </a:solidFill>
                <a:latin typeface="Arial"/>
                <a:ea typeface="Arial"/>
                <a:cs typeface="Arial"/>
              </a:defRPr>
            </a:lvl5pPr>
            <a:lvl6pPr>
              <a:defRPr sz="1725" b="0">
                <a:solidFill>
                  <a:srgbClr val="516778"/>
                </a:solidFill>
                <a:latin typeface="Arial"/>
                <a:ea typeface="Arial"/>
                <a:cs typeface="Arial"/>
              </a:defRPr>
            </a:lvl6pPr>
            <a:lvl7pPr>
              <a:defRPr sz="1725" b="0">
                <a:solidFill>
                  <a:srgbClr val="516778"/>
                </a:solidFill>
                <a:latin typeface="Arial"/>
                <a:ea typeface="Arial"/>
                <a:cs typeface="Arial"/>
              </a:defRPr>
            </a:lvl7pPr>
            <a:lvl8pPr>
              <a:defRPr sz="1725" b="0">
                <a:solidFill>
                  <a:srgbClr val="516778"/>
                </a:solidFill>
                <a:latin typeface="Arial"/>
                <a:ea typeface="Arial"/>
                <a:cs typeface="Arial"/>
              </a:defRPr>
            </a:lvl8pPr>
            <a:lvl9pPr>
              <a:defRPr sz="1725" b="0">
                <a:solidFill>
                  <a:srgbClr val="516778"/>
                </a:solidFill>
                <a:latin typeface="Arial"/>
                <a:ea typeface="Arial"/>
                <a:cs typeface="Arial"/>
              </a:defRPr>
            </a:lvl9pPr>
          </a:lstStyle>
          <a:p xmlns:a="http://schemas.openxmlformats.org/drawingml/2006/main">
            <a:pPr>
              <a:defRPr sz="1725" b="0">
                <a:solidFill>
                  <a:srgbClr val="516778"/>
                </a:solidFill>
                <a:latin typeface="Arial"/>
                <a:ea typeface="Arial"/>
                <a:cs typeface="Arial"/>
              </a:defRPr>
            </a:pPr>
            <a:r>
              <a:rPr sz="1725" b="0">
                <a:solidFill>
                  <a:srgbClr val="516778"/>
                </a:solidFill>
                <a:latin typeface="Arial"/>
                <a:ea typeface="Arial"/>
                <a:cs typeface="Arial"/>
              </a:rPr>
              <a:t>Planar kinematic abstraction; no hardware validation</a:t>
            </a:r>
          </a:p>
        </p:txBody>
      </p:sp>
    </p:spTree>
    <p:extLst>
      <p:ext uri="{BB962C8B-B14F-4D97-AF65-F5344CB8AC3E}">
        <p14:creationId xmlns:p14="http://schemas.microsoft.com/office/powerpoint/2010/main" val="106225129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BB3E2E-013A-41EE-AAAB-2521E22FF4C9}"/>
              </a:ext>
            </a:extLst>
          </p:cNvPr>
          <p:cNvSpPr>
            <a:spLocks xmlns:a="http://schemas.openxmlformats.org/drawingml/2006/main" noGrp="1"/>
          </p:cNvSpPr>
          <p:nvPr/>
        </p:nvSpPr>
        <p:spPr>
          <a:xfrm xmlns:a="http://schemas.openxmlformats.org/drawingml/2006/main">
            <a:off x="647700" y="4572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8"/>
                </a:solidFill>
                <a:latin typeface="Arial"/>
                <a:ea typeface="Arial"/>
                <a:cs typeface="Arial"/>
              </a:defRPr>
            </a:defPPr>
            <a:lvl1pPr>
              <a:defRPr sz="3300" b="1">
                <a:solidFill>
                  <a:srgbClr val="102738"/>
                </a:solidFill>
                <a:latin typeface="Arial"/>
                <a:ea typeface="Arial"/>
                <a:cs typeface="Arial"/>
              </a:defRPr>
            </a:lvl1pPr>
            <a:lvl2pPr>
              <a:defRPr sz="3300" b="1">
                <a:solidFill>
                  <a:srgbClr val="102738"/>
                </a:solidFill>
                <a:latin typeface="Arial"/>
                <a:ea typeface="Arial"/>
                <a:cs typeface="Arial"/>
              </a:defRPr>
            </a:lvl2pPr>
            <a:lvl3pPr>
              <a:defRPr sz="3300" b="1">
                <a:solidFill>
                  <a:srgbClr val="102738"/>
                </a:solidFill>
                <a:latin typeface="Arial"/>
                <a:ea typeface="Arial"/>
                <a:cs typeface="Arial"/>
              </a:defRPr>
            </a:lvl3pPr>
            <a:lvl4pPr>
              <a:defRPr sz="3300" b="1">
                <a:solidFill>
                  <a:srgbClr val="102738"/>
                </a:solidFill>
                <a:latin typeface="Arial"/>
                <a:ea typeface="Arial"/>
                <a:cs typeface="Arial"/>
              </a:defRPr>
            </a:lvl4pPr>
            <a:lvl5pPr>
              <a:defRPr sz="3300" b="1">
                <a:solidFill>
                  <a:srgbClr val="102738"/>
                </a:solidFill>
                <a:latin typeface="Arial"/>
                <a:ea typeface="Arial"/>
                <a:cs typeface="Arial"/>
              </a:defRPr>
            </a:lvl5pPr>
            <a:lvl6pPr>
              <a:defRPr sz="3300" b="1">
                <a:solidFill>
                  <a:srgbClr val="102738"/>
                </a:solidFill>
                <a:latin typeface="Arial"/>
                <a:ea typeface="Arial"/>
                <a:cs typeface="Arial"/>
              </a:defRPr>
            </a:lvl6pPr>
            <a:lvl7pPr>
              <a:defRPr sz="3300" b="1">
                <a:solidFill>
                  <a:srgbClr val="102738"/>
                </a:solidFill>
                <a:latin typeface="Arial"/>
                <a:ea typeface="Arial"/>
                <a:cs typeface="Arial"/>
              </a:defRPr>
            </a:lvl7pPr>
            <a:lvl8pPr>
              <a:defRPr sz="3300" b="1">
                <a:solidFill>
                  <a:srgbClr val="102738"/>
                </a:solidFill>
                <a:latin typeface="Arial"/>
                <a:ea typeface="Arial"/>
                <a:cs typeface="Arial"/>
              </a:defRPr>
            </a:lvl8pPr>
            <a:lvl9pPr>
              <a:defRPr sz="3300" b="1">
                <a:solidFill>
                  <a:srgbClr val="102738"/>
                </a:solidFill>
                <a:latin typeface="Arial"/>
                <a:ea typeface="Arial"/>
                <a:cs typeface="Arial"/>
              </a:defRPr>
            </a:lvl9pPr>
          </a:lstStyle>
          <a:p xmlns:a="http://schemas.openxmlformats.org/drawingml/2006/main">
            <a:pPr>
              <a:defRPr sz="3300" b="1">
                <a:solidFill>
                  <a:srgbClr val="102738"/>
                </a:solidFill>
                <a:latin typeface="Arial"/>
                <a:ea typeface="Arial"/>
                <a:cs typeface="Arial"/>
              </a:defRPr>
            </a:pPr>
            <a:r>
              <a:rPr sz="3300" b="1">
                <a:solidFill>
                  <a:srgbClr val="102738"/>
                </a:solidFill>
                <a:latin typeface="Arial"/>
                <a:ea typeface="Arial"/>
                <a:cs typeface="Arial"/>
              </a:rPr>
              <a:t>Shared observations and completion rules</a:t>
            </a:r>
          </a:p>
        </p:txBody>
      </p:sp>
      <p:sp>
        <p:nvSpPr>
          <p:cNvPr id="2" name="">
            <a:extLst xmlns:a="http://schemas.openxmlformats.org/drawingml/2006/main">
              <a:ext uri="{FF2B5EF4-FFF2-40B4-BE49-F238E27FC236}">
                <a16:creationId xmlns:a16="http://schemas.microsoft.com/office/drawing/2014/main" id="{68C628A3-1011-4123-99E9-47C778FF076D}"/>
              </a:ext>
            </a:extLst>
          </p:cNvPr>
          <p:cNvSpPr>
            <a:spLocks xmlns:a="http://schemas.openxmlformats.org/drawingml/2006/main" noGrp="1"/>
          </p:cNvSpPr>
          <p:nvPr/>
        </p:nvSpPr>
        <p:spPr>
          <a:xfrm xmlns:a="http://schemas.openxmlformats.org/drawingml/2006/main">
            <a:off x="64770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Kinesis · Ankit Prajapati</a:t>
            </a:r>
          </a:p>
        </p:txBody>
      </p:sp>
      <p:sp>
        <p:nvSpPr>
          <p:cNvPr id="3" name="">
            <a:extLst xmlns:a="http://schemas.openxmlformats.org/drawingml/2006/main">
              <a:ext uri="{FF2B5EF4-FFF2-40B4-BE49-F238E27FC236}">
                <a16:creationId xmlns:a16="http://schemas.microsoft.com/office/drawing/2014/main" id="{368C5736-FD8D-4F42-800B-7A829D210552}"/>
              </a:ext>
            </a:extLst>
          </p:cNvPr>
          <p:cNvSpPr>
            <a:spLocks xmlns:a="http://schemas.openxmlformats.org/drawingml/2006/main" noGrp="1"/>
          </p:cNvSpPr>
          <p:nvPr/>
        </p:nvSpPr>
        <p:spPr>
          <a:xfrm xmlns:a="http://schemas.openxmlformats.org/drawingml/2006/main">
            <a:off x="11049000" y="6362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65D82473-B541-493B-B7E5-83DF13CC1E84}"/>
              </a:ext>
            </a:extLst>
          </p:cNvPr>
          <p:cNvSpPr>
            <a:spLocks xmlns:a="http://schemas.openxmlformats.org/drawingml/2006/main" noGrp="1"/>
          </p:cNvSpPr>
          <p:nvPr/>
        </p:nvSpPr>
        <p:spPr>
          <a:xfrm xmlns:a="http://schemas.openxmlformats.org/drawingml/2006/main">
            <a:off x="647700" y="156210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7E8B"/>
                </a:solidFill>
                <a:latin typeface="Arial"/>
                <a:ea typeface="Arial"/>
                <a:cs typeface="Arial"/>
              </a:defRPr>
            </a:defPPr>
            <a:lvl1pPr>
              <a:defRPr sz="2475" b="1">
                <a:solidFill>
                  <a:srgbClr val="087E8B"/>
                </a:solidFill>
                <a:latin typeface="Arial"/>
                <a:ea typeface="Arial"/>
                <a:cs typeface="Arial"/>
              </a:defRPr>
            </a:lvl1pPr>
            <a:lvl2pPr>
              <a:defRPr sz="2475" b="1">
                <a:solidFill>
                  <a:srgbClr val="087E8B"/>
                </a:solidFill>
                <a:latin typeface="Arial"/>
                <a:ea typeface="Arial"/>
                <a:cs typeface="Arial"/>
              </a:defRPr>
            </a:lvl2pPr>
            <a:lvl3pPr>
              <a:defRPr sz="2475" b="1">
                <a:solidFill>
                  <a:srgbClr val="087E8B"/>
                </a:solidFill>
                <a:latin typeface="Arial"/>
                <a:ea typeface="Arial"/>
                <a:cs typeface="Arial"/>
              </a:defRPr>
            </a:lvl3pPr>
            <a:lvl4pPr>
              <a:defRPr sz="2475" b="1">
                <a:solidFill>
                  <a:srgbClr val="087E8B"/>
                </a:solidFill>
                <a:latin typeface="Arial"/>
                <a:ea typeface="Arial"/>
                <a:cs typeface="Arial"/>
              </a:defRPr>
            </a:lvl4pPr>
            <a:lvl5pPr>
              <a:defRPr sz="2475" b="1">
                <a:solidFill>
                  <a:srgbClr val="087E8B"/>
                </a:solidFill>
                <a:latin typeface="Arial"/>
                <a:ea typeface="Arial"/>
                <a:cs typeface="Arial"/>
              </a:defRPr>
            </a:lvl5pPr>
            <a:lvl6pPr>
              <a:defRPr sz="2475" b="1">
                <a:solidFill>
                  <a:srgbClr val="087E8B"/>
                </a:solidFill>
                <a:latin typeface="Arial"/>
                <a:ea typeface="Arial"/>
                <a:cs typeface="Arial"/>
              </a:defRPr>
            </a:lvl6pPr>
            <a:lvl7pPr>
              <a:defRPr sz="2475" b="1">
                <a:solidFill>
                  <a:srgbClr val="087E8B"/>
                </a:solidFill>
                <a:latin typeface="Arial"/>
                <a:ea typeface="Arial"/>
                <a:cs typeface="Arial"/>
              </a:defRPr>
            </a:lvl7pPr>
            <a:lvl8pPr>
              <a:defRPr sz="2475" b="1">
                <a:solidFill>
                  <a:srgbClr val="087E8B"/>
                </a:solidFill>
                <a:latin typeface="Arial"/>
                <a:ea typeface="Arial"/>
                <a:cs typeface="Arial"/>
              </a:defRPr>
            </a:lvl8pPr>
            <a:lvl9pPr>
              <a:defRPr sz="2475" b="1">
                <a:solidFill>
                  <a:srgbClr val="087E8B"/>
                </a:solidFill>
                <a:latin typeface="Arial"/>
                <a:ea typeface="Arial"/>
                <a:cs typeface="Arial"/>
              </a:defRPr>
            </a:lvl9pPr>
          </a:lstStyle>
          <a:p xmlns:a="http://schemas.openxmlformats.org/drawingml/2006/main">
            <a:pPr>
              <a:defRPr sz="2475" b="1">
                <a:solidFill>
                  <a:srgbClr val="087E8B"/>
                </a:solidFill>
                <a:latin typeface="Arial"/>
                <a:ea typeface="Arial"/>
                <a:cs typeface="Arial"/>
              </a:defRPr>
            </a:pPr>
            <a:r>
              <a:rPr sz="2475" b="1">
                <a:solidFill>
                  <a:srgbClr val="087E8B"/>
                </a:solidFill>
                <a:latin typeface="Arial"/>
                <a:ea typeface="Arial"/>
                <a:cs typeface="Arial"/>
              </a:rPr>
              <a:t>25 observation values</a:t>
            </a:r>
          </a:p>
        </p:txBody>
      </p:sp>
      <p:sp>
        <p:nvSpPr>
          <p:cNvPr id="5" name="">
            <a:extLst xmlns:a="http://schemas.openxmlformats.org/drawingml/2006/main">
              <a:ext uri="{FF2B5EF4-FFF2-40B4-BE49-F238E27FC236}">
                <a16:creationId xmlns:a16="http://schemas.microsoft.com/office/drawing/2014/main" id="{8530451E-0244-4140-895B-FAF79AE41353}"/>
              </a:ext>
            </a:extLst>
          </p:cNvPr>
          <p:cNvSpPr>
            <a:spLocks xmlns:a="http://schemas.openxmlformats.org/drawingml/2006/main" noGrp="1"/>
          </p:cNvSpPr>
          <p:nvPr/>
        </p:nvSpPr>
        <p:spPr>
          <a:xfrm xmlns:a="http://schemas.openxmlformats.org/drawingml/2006/main">
            <a:off x="647700" y="2343150"/>
            <a:ext cx="106680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738"/>
                </a:solidFill>
                <a:latin typeface="Arial"/>
                <a:ea typeface="Arial"/>
                <a:cs typeface="Arial"/>
              </a:defRPr>
            </a:defPPr>
            <a:lvl1pPr>
              <a:defRPr sz="2175" b="0">
                <a:solidFill>
                  <a:srgbClr val="102738"/>
                </a:solidFill>
                <a:latin typeface="Arial"/>
                <a:ea typeface="Arial"/>
                <a:cs typeface="Arial"/>
              </a:defRPr>
            </a:lvl1pPr>
            <a:lvl2pPr>
              <a:defRPr sz="2175" b="0">
                <a:solidFill>
                  <a:srgbClr val="102738"/>
                </a:solidFill>
                <a:latin typeface="Arial"/>
                <a:ea typeface="Arial"/>
                <a:cs typeface="Arial"/>
              </a:defRPr>
            </a:lvl2pPr>
            <a:lvl3pPr>
              <a:defRPr sz="2175" b="0">
                <a:solidFill>
                  <a:srgbClr val="102738"/>
                </a:solidFill>
                <a:latin typeface="Arial"/>
                <a:ea typeface="Arial"/>
                <a:cs typeface="Arial"/>
              </a:defRPr>
            </a:lvl3pPr>
            <a:lvl4pPr>
              <a:defRPr sz="2175" b="0">
                <a:solidFill>
                  <a:srgbClr val="102738"/>
                </a:solidFill>
                <a:latin typeface="Arial"/>
                <a:ea typeface="Arial"/>
                <a:cs typeface="Arial"/>
              </a:defRPr>
            </a:lvl4pPr>
            <a:lvl5pPr>
              <a:defRPr sz="2175" b="0">
                <a:solidFill>
                  <a:srgbClr val="102738"/>
                </a:solidFill>
                <a:latin typeface="Arial"/>
                <a:ea typeface="Arial"/>
                <a:cs typeface="Arial"/>
              </a:defRPr>
            </a:lvl5pPr>
            <a:lvl6pPr>
              <a:defRPr sz="2175" b="0">
                <a:solidFill>
                  <a:srgbClr val="102738"/>
                </a:solidFill>
                <a:latin typeface="Arial"/>
                <a:ea typeface="Arial"/>
                <a:cs typeface="Arial"/>
              </a:defRPr>
            </a:lvl6pPr>
            <a:lvl7pPr>
              <a:defRPr sz="2175" b="0">
                <a:solidFill>
                  <a:srgbClr val="102738"/>
                </a:solidFill>
                <a:latin typeface="Arial"/>
                <a:ea typeface="Arial"/>
                <a:cs typeface="Arial"/>
              </a:defRPr>
            </a:lvl7pPr>
            <a:lvl8pPr>
              <a:defRPr sz="2175" b="0">
                <a:solidFill>
                  <a:srgbClr val="102738"/>
                </a:solidFill>
                <a:latin typeface="Arial"/>
                <a:ea typeface="Arial"/>
                <a:cs typeface="Arial"/>
              </a:defRPr>
            </a:lvl8pPr>
            <a:lvl9pPr>
              <a:defRPr sz="2175" b="0">
                <a:solidFill>
                  <a:srgbClr val="102738"/>
                </a:solidFill>
                <a:latin typeface="Arial"/>
                <a:ea typeface="Arial"/>
                <a:cs typeface="Arial"/>
              </a:defRPr>
            </a:lvl9pPr>
          </a:lstStyle>
          <a:p xmlns:a="http://schemas.openxmlformats.org/drawingml/2006/main">
            <a:pPr>
              <a:defRPr sz="2175" b="0">
                <a:solidFill>
                  <a:srgbClr val="102738"/>
                </a:solidFill>
                <a:latin typeface="Arial"/>
                <a:ea typeface="Arial"/>
                <a:cs typeface="Arial"/>
              </a:defRPr>
            </a:pPr>
            <a:r>
              <a:rPr sz="2175" b="0">
                <a:solidFill>
                  <a:srgbClr val="102738"/>
                </a:solidFill>
                <a:latin typeface="Arial"/>
                <a:ea typeface="Arial"/>
                <a:cs typeface="Arial"/>
              </a:rPr>
              <a:t>Reference points in the robot frame</a:t>
            </a:r>
          </a:p>
          <a:p xmlns:a="http://schemas.openxmlformats.org/drawingml/2006/main">
            <a:pPr>
              <a:defRPr sz="2175" b="0">
                <a:solidFill>
                  <a:srgbClr val="102738"/>
                </a:solidFill>
                <a:latin typeface="Arial"/>
                <a:ea typeface="Arial"/>
                <a:cs typeface="Arial"/>
              </a:defRPr>
            </a:pPr>
            <a:r>
              <a:rPr sz="2175" b="0">
                <a:solidFill>
                  <a:srgbClr val="102738"/>
                </a:solidFill>
                <a:latin typeface="Arial"/>
                <a:ea typeface="Arial"/>
                <a:cs typeface="Arial"/>
              </a:rPr>
              <a:t>Tracking error, heading and current speeds</a:t>
            </a:r>
          </a:p>
          <a:p xmlns:a="http://schemas.openxmlformats.org/drawingml/2006/main">
            <a:pPr>
              <a:defRPr sz="2175" b="0">
                <a:solidFill>
                  <a:srgbClr val="102738"/>
                </a:solidFill>
                <a:latin typeface="Arial"/>
                <a:ea typeface="Arial"/>
                <a:cs typeface="Arial"/>
              </a:defRPr>
            </a:pPr>
            <a:r>
              <a:rPr sz="2175" b="0">
                <a:solidFill>
                  <a:srgbClr val="102738"/>
                </a:solidFill>
                <a:latin typeface="Arial"/>
                <a:ea typeface="Arial"/>
                <a:cs typeface="Arial"/>
              </a:rPr>
              <a:t>Previous action and command-delay queue</a:t>
            </a:r>
          </a:p>
          <a:p xmlns:a="http://schemas.openxmlformats.org/drawingml/2006/main">
            <a:pPr>
              <a:defRPr sz="2175" b="0">
                <a:solidFill>
                  <a:srgbClr val="102738"/>
                </a:solidFill>
                <a:latin typeface="Arial"/>
                <a:ea typeface="Arial"/>
                <a:cs typeface="Arial"/>
              </a:defRPr>
            </a:pPr>
            <a:r>
              <a:rPr sz="2175" b="0">
                <a:solidFill>
                  <a:srgbClr val="102738"/>
                </a:solidFill>
                <a:latin typeface="Arial"/>
                <a:ea typeface="Arial"/>
                <a:cs typeface="Arial"/>
              </a:rPr>
              <a:t>Next route gate and remaining time</a:t>
            </a:r>
          </a:p>
        </p:txBody>
      </p:sp>
      <p:sp>
        <p:nvSpPr>
          <p:cNvPr id="6" name="">
            <a:extLst xmlns:a="http://schemas.openxmlformats.org/drawingml/2006/main">
              <a:ext uri="{FF2B5EF4-FFF2-40B4-BE49-F238E27FC236}">
                <a16:creationId xmlns:a16="http://schemas.microsoft.com/office/drawing/2014/main" id="{EF5A6782-7C92-4C25-B130-94290E2573BE}"/>
              </a:ext>
            </a:extLst>
          </p:cNvPr>
          <p:cNvSpPr>
            <a:spLocks xmlns:a="http://schemas.openxmlformats.org/drawingml/2006/main" noGrp="1"/>
          </p:cNvSpPr>
          <p:nvPr/>
        </p:nvSpPr>
        <p:spPr>
          <a:xfrm xmlns:a="http://schemas.openxmlformats.org/drawingml/2006/main">
            <a:off x="647700" y="4914900"/>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02738"/>
                </a:solidFill>
                <a:latin typeface="Arial"/>
                <a:ea typeface="Arial"/>
                <a:cs typeface="Arial"/>
              </a:defRPr>
            </a:defPPr>
            <a:lvl1pPr>
              <a:defRPr sz="2250" b="1">
                <a:solidFill>
                  <a:srgbClr val="102738"/>
                </a:solidFill>
                <a:latin typeface="Arial"/>
                <a:ea typeface="Arial"/>
                <a:cs typeface="Arial"/>
              </a:defRPr>
            </a:lvl1pPr>
            <a:lvl2pPr>
              <a:defRPr sz="2250" b="1">
                <a:solidFill>
                  <a:srgbClr val="102738"/>
                </a:solidFill>
                <a:latin typeface="Arial"/>
                <a:ea typeface="Arial"/>
                <a:cs typeface="Arial"/>
              </a:defRPr>
            </a:lvl2pPr>
            <a:lvl3pPr>
              <a:defRPr sz="2250" b="1">
                <a:solidFill>
                  <a:srgbClr val="102738"/>
                </a:solidFill>
                <a:latin typeface="Arial"/>
                <a:ea typeface="Arial"/>
                <a:cs typeface="Arial"/>
              </a:defRPr>
            </a:lvl3pPr>
            <a:lvl4pPr>
              <a:defRPr sz="2250" b="1">
                <a:solidFill>
                  <a:srgbClr val="102738"/>
                </a:solidFill>
                <a:latin typeface="Arial"/>
                <a:ea typeface="Arial"/>
                <a:cs typeface="Arial"/>
              </a:defRPr>
            </a:lvl4pPr>
            <a:lvl5pPr>
              <a:defRPr sz="2250" b="1">
                <a:solidFill>
                  <a:srgbClr val="102738"/>
                </a:solidFill>
                <a:latin typeface="Arial"/>
                <a:ea typeface="Arial"/>
                <a:cs typeface="Arial"/>
              </a:defRPr>
            </a:lvl5pPr>
            <a:lvl6pPr>
              <a:defRPr sz="2250" b="1">
                <a:solidFill>
                  <a:srgbClr val="102738"/>
                </a:solidFill>
                <a:latin typeface="Arial"/>
                <a:ea typeface="Arial"/>
                <a:cs typeface="Arial"/>
              </a:defRPr>
            </a:lvl6pPr>
            <a:lvl7pPr>
              <a:defRPr sz="2250" b="1">
                <a:solidFill>
                  <a:srgbClr val="102738"/>
                </a:solidFill>
                <a:latin typeface="Arial"/>
                <a:ea typeface="Arial"/>
                <a:cs typeface="Arial"/>
              </a:defRPr>
            </a:lvl7pPr>
            <a:lvl8pPr>
              <a:defRPr sz="2250" b="1">
                <a:solidFill>
                  <a:srgbClr val="102738"/>
                </a:solidFill>
                <a:latin typeface="Arial"/>
                <a:ea typeface="Arial"/>
                <a:cs typeface="Arial"/>
              </a:defRPr>
            </a:lvl8pPr>
            <a:lvl9pPr>
              <a:defRPr sz="2250" b="1">
                <a:solidFill>
                  <a:srgbClr val="102738"/>
                </a:solidFill>
                <a:latin typeface="Arial"/>
                <a:ea typeface="Arial"/>
                <a:cs typeface="Arial"/>
              </a:defRPr>
            </a:lvl9pPr>
          </a:lstStyle>
          <a:p xmlns:a="http://schemas.openxmlformats.org/drawingml/2006/main">
            <a:pPr>
              <a:defRPr sz="2250" b="1">
                <a:solidFill>
                  <a:srgbClr val="102738"/>
                </a:solidFill>
                <a:latin typeface="Arial"/>
                <a:ea typeface="Arial"/>
                <a:cs typeface="Arial"/>
              </a:defRPr>
            </a:pPr>
            <a:r>
              <a:rPr sz="2250" b="1">
                <a:solidFill>
                  <a:srgbClr val="102738"/>
                </a:solidFill>
                <a:latin typeface="Arial"/>
                <a:ea typeface="Arial"/>
                <a:cs typeface="Arial"/>
              </a:rPr>
              <a:t>Success requires every ordered gate and the endpoint.</a:t>
            </a:r>
          </a:p>
          <a:p xmlns:a="http://schemas.openxmlformats.org/drawingml/2006/main">
            <a:pPr>
              <a:defRPr sz="2250" b="1">
                <a:solidFill>
                  <a:srgbClr val="102738"/>
                </a:solidFill>
                <a:latin typeface="Arial"/>
                <a:ea typeface="Arial"/>
                <a:cs typeface="Arial"/>
              </a:defRPr>
            </a:pPr>
            <a:r>
              <a:rPr sz="2250" b="1">
                <a:solidFill>
                  <a:srgbClr val="102738"/>
                </a:solidFill>
                <a:latin typeface="Arial"/>
                <a:ea typeface="Arial"/>
                <a:cs typeface="Arial"/>
              </a:rPr>
              <a:t>Stopping or skipping the route does not count.</a:t>
            </a:r>
          </a:p>
        </p:txBody>
      </p:sp>
    </p:spTree>
    <p:extLst>
      <p:ext uri="{BB962C8B-B14F-4D97-AF65-F5344CB8AC3E}">
        <p14:creationId xmlns:p14="http://schemas.microsoft.com/office/powerpoint/2010/main" val="1074405301"/>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2783E0-CD73-4299-AFC4-DDB5D803D90A}"/>
              </a:ext>
            </a:extLst>
          </p:cNvPr>
          <p:cNvSpPr>
            <a:spLocks xmlns:a="http://schemas.openxmlformats.org/drawingml/2006/main" noGrp="1"/>
          </p:cNvSpPr>
          <p:nvPr/>
        </p:nvSpPr>
        <p:spPr>
          <a:xfrm xmlns:a="http://schemas.openxmlformats.org/drawingml/2006/main">
            <a:off x="647700" y="4572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8"/>
                </a:solidFill>
                <a:latin typeface="Arial"/>
                <a:ea typeface="Arial"/>
                <a:cs typeface="Arial"/>
              </a:defRPr>
            </a:defPPr>
            <a:lvl1pPr>
              <a:defRPr sz="3300" b="1">
                <a:solidFill>
                  <a:srgbClr val="102738"/>
                </a:solidFill>
                <a:latin typeface="Arial"/>
                <a:ea typeface="Arial"/>
                <a:cs typeface="Arial"/>
              </a:defRPr>
            </a:lvl1pPr>
            <a:lvl2pPr>
              <a:defRPr sz="3300" b="1">
                <a:solidFill>
                  <a:srgbClr val="102738"/>
                </a:solidFill>
                <a:latin typeface="Arial"/>
                <a:ea typeface="Arial"/>
                <a:cs typeface="Arial"/>
              </a:defRPr>
            </a:lvl2pPr>
            <a:lvl3pPr>
              <a:defRPr sz="3300" b="1">
                <a:solidFill>
                  <a:srgbClr val="102738"/>
                </a:solidFill>
                <a:latin typeface="Arial"/>
                <a:ea typeface="Arial"/>
                <a:cs typeface="Arial"/>
              </a:defRPr>
            </a:lvl3pPr>
            <a:lvl4pPr>
              <a:defRPr sz="3300" b="1">
                <a:solidFill>
                  <a:srgbClr val="102738"/>
                </a:solidFill>
                <a:latin typeface="Arial"/>
                <a:ea typeface="Arial"/>
                <a:cs typeface="Arial"/>
              </a:defRPr>
            </a:lvl4pPr>
            <a:lvl5pPr>
              <a:defRPr sz="3300" b="1">
                <a:solidFill>
                  <a:srgbClr val="102738"/>
                </a:solidFill>
                <a:latin typeface="Arial"/>
                <a:ea typeface="Arial"/>
                <a:cs typeface="Arial"/>
              </a:defRPr>
            </a:lvl5pPr>
            <a:lvl6pPr>
              <a:defRPr sz="3300" b="1">
                <a:solidFill>
                  <a:srgbClr val="102738"/>
                </a:solidFill>
                <a:latin typeface="Arial"/>
                <a:ea typeface="Arial"/>
                <a:cs typeface="Arial"/>
              </a:defRPr>
            </a:lvl6pPr>
            <a:lvl7pPr>
              <a:defRPr sz="3300" b="1">
                <a:solidFill>
                  <a:srgbClr val="102738"/>
                </a:solidFill>
                <a:latin typeface="Arial"/>
                <a:ea typeface="Arial"/>
                <a:cs typeface="Arial"/>
              </a:defRPr>
            </a:lvl7pPr>
            <a:lvl8pPr>
              <a:defRPr sz="3300" b="1">
                <a:solidFill>
                  <a:srgbClr val="102738"/>
                </a:solidFill>
                <a:latin typeface="Arial"/>
                <a:ea typeface="Arial"/>
                <a:cs typeface="Arial"/>
              </a:defRPr>
            </a:lvl8pPr>
            <a:lvl9pPr>
              <a:defRPr sz="3300" b="1">
                <a:solidFill>
                  <a:srgbClr val="102738"/>
                </a:solidFill>
                <a:latin typeface="Arial"/>
                <a:ea typeface="Arial"/>
                <a:cs typeface="Arial"/>
              </a:defRPr>
            </a:lvl9pPr>
          </a:lstStyle>
          <a:p xmlns:a="http://schemas.openxmlformats.org/drawingml/2006/main">
            <a:pPr>
              <a:defRPr sz="3300" b="1">
                <a:solidFill>
                  <a:srgbClr val="102738"/>
                </a:solidFill>
                <a:latin typeface="Arial"/>
                <a:ea typeface="Arial"/>
                <a:cs typeface="Arial"/>
              </a:defRPr>
            </a:pPr>
            <a:r>
              <a:rPr sz="3300" b="1">
                <a:solidFill>
                  <a:srgbClr val="102738"/>
                </a:solidFill>
                <a:latin typeface="Arial"/>
                <a:ea typeface="Arial"/>
                <a:cs typeface="Arial"/>
              </a:rPr>
              <a:t>Validation before held-out testing</a:t>
            </a:r>
          </a:p>
        </p:txBody>
      </p:sp>
      <p:sp>
        <p:nvSpPr>
          <p:cNvPr id="2" name="">
            <a:extLst xmlns:a="http://schemas.openxmlformats.org/drawingml/2006/main">
              <a:ext uri="{FF2B5EF4-FFF2-40B4-BE49-F238E27FC236}">
                <a16:creationId xmlns:a16="http://schemas.microsoft.com/office/drawing/2014/main" id="{6796702F-BF19-4954-BE7A-165F3AFD0561}"/>
              </a:ext>
            </a:extLst>
          </p:cNvPr>
          <p:cNvSpPr>
            <a:spLocks xmlns:a="http://schemas.openxmlformats.org/drawingml/2006/main" noGrp="1"/>
          </p:cNvSpPr>
          <p:nvPr/>
        </p:nvSpPr>
        <p:spPr>
          <a:xfrm xmlns:a="http://schemas.openxmlformats.org/drawingml/2006/main">
            <a:off x="64770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Kinesis · Ankit Prajapati</a:t>
            </a:r>
          </a:p>
        </p:txBody>
      </p:sp>
      <p:sp>
        <p:nvSpPr>
          <p:cNvPr id="3" name="">
            <a:extLst xmlns:a="http://schemas.openxmlformats.org/drawingml/2006/main">
              <a:ext uri="{FF2B5EF4-FFF2-40B4-BE49-F238E27FC236}">
                <a16:creationId xmlns:a16="http://schemas.microsoft.com/office/drawing/2014/main" id="{4E34B30C-F647-49FD-9E26-CE8370129ADC}"/>
              </a:ext>
            </a:extLst>
          </p:cNvPr>
          <p:cNvSpPr>
            <a:spLocks xmlns:a="http://schemas.openxmlformats.org/drawingml/2006/main" noGrp="1"/>
          </p:cNvSpPr>
          <p:nvPr/>
        </p:nvSpPr>
        <p:spPr>
          <a:xfrm xmlns:a="http://schemas.openxmlformats.org/drawingml/2006/main">
            <a:off x="11049000" y="6362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4</a:t>
            </a:r>
          </a:p>
        </p:txBody>
      </p:sp>
      <p:graphicFrame>
        <p:nvGraphicFramePr>
          <p:cNvPr id="4" name="">
            <a:extLst xmlns:a="http://schemas.openxmlformats.org/drawingml/2006/main">
              <a:ext uri="{FF2B5EF4-FFF2-40B4-BE49-F238E27FC236}">
                <a16:creationId xmlns:a16="http://schemas.microsoft.com/office/drawing/2014/main" id="{CC0AFE42-0047-48B1-938B-A1D92CAC6E35}"/>
              </a:ext>
            </a:extLst>
          </p:cNvPr>
          <p:cNvGraphicFramePr/>
          <p:nvPr/>
        </p:nvGraphicFramePr>
        <p:xfrm>
          <a:off xmlns:a="http://schemas.openxmlformats.org/drawingml/2006/main" x="647700" y="1543050"/>
          <a:ext xmlns:a="http://schemas.openxmlformats.org/drawingml/2006/main" cx="10896600" cy="2514600"/>
        </p:xfrm>
        <a:graphic xmlns:a="http://schemas.openxmlformats.org/drawingml/2006/main">
          <a:graphicData uri="http://schemas.openxmlformats.org/drawingml/2006/table">
            <a:tbl>
              <a:tblPr/>
              <a:tblGrid>
                <a:gridCol w="2381250"/>
                <a:gridCol w="1809750"/>
                <a:gridCol w="6705600"/>
              </a:tblGrid>
              <a:tr h="628650">
                <a:tc>
                  <a:txBody>
                    <a:bodyPr/>
                    <a:lstStyle/>
                    <a:p>
                      <a:r>
                        <a:rPr sz="1800" b="1">
                          <a:solidFill>
                            <a:srgbClr val="FFFFFF"/>
                          </a:solidFill>
                          <a:latin typeface="Arial"/>
                          <a:ea typeface="Arial"/>
                          <a:cs typeface="Arial"/>
                        </a:rPr>
                        <a:t>Split</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02738"/>
                    </a:solidFill>
                  </a:tcPr>
                </a:tc>
                <a:tc>
                  <a:txBody>
                    <a:bodyPr/>
                    <a:lstStyle/>
                    <a:p>
                      <a:r>
                        <a:rPr sz="1800" b="1">
                          <a:solidFill>
                            <a:srgbClr val="FFFFFF"/>
                          </a:solidFill>
                          <a:latin typeface="Arial"/>
                          <a:ea typeface="Arial"/>
                          <a:cs typeface="Arial"/>
                        </a:rPr>
                        <a:t>Scenarios</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02738"/>
                    </a:solidFill>
                  </a:tcPr>
                </a:tc>
                <a:tc>
                  <a:txBody>
                    <a:bodyPr/>
                    <a:lstStyle/>
                    <a:p>
                      <a:r>
                        <a:rPr sz="1800" b="1">
                          <a:solidFill>
                            <a:srgbClr val="FFFFFF"/>
                          </a:solidFill>
                          <a:latin typeface="Arial"/>
                          <a:ea typeface="Arial"/>
                          <a:cs typeface="Arial"/>
                        </a:rPr>
                        <a:t>Purpose</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02738"/>
                    </a:solidFill>
                  </a:tcPr>
                </a:tc>
              </a:tr>
              <a:tr h="628650">
                <a:tc>
                  <a:txBody>
                    <a:bodyPr/>
                    <a:lstStyle/>
                    <a:p>
                      <a:r>
                        <a:rPr sz="1800" b="0">
                          <a:solidFill>
                            <a:srgbClr val="102738"/>
                          </a:solidFill>
                          <a:latin typeface="Arial"/>
                          <a:ea typeface="Arial"/>
                          <a:cs typeface="Arial"/>
                        </a:rPr>
                        <a:t>Training</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24</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Policy experience</a:t>
                      </a:r>
                    </a:p>
                  </a:txBody>
                  <a:tcPr marL="91440" marR="91440" marT="45720" marB="45720">
                    <a:lnR w="9525">
                      <a:solidFill>
                        <a:srgbClr val="CBD5E1"/>
                      </a:solidFill>
                      <a:prstDash val="solid"/>
                    </a:lnR>
                    <a:lnB w="9525">
                      <a:solidFill>
                        <a:srgbClr val="CBD5E1"/>
                      </a:solidFill>
                      <a:prstDash val="solid"/>
                    </a:lnB>
                    <a:solidFill>
                      <a:srgbClr val="FFFFFF"/>
                    </a:solidFill>
                  </a:tcPr>
                </a:tc>
              </a:tr>
              <a:tr h="628650">
                <a:tc>
                  <a:txBody>
                    <a:bodyPr/>
                    <a:lstStyle/>
                    <a:p>
                      <a:r>
                        <a:rPr sz="1800" b="0">
                          <a:solidFill>
                            <a:srgbClr val="102738"/>
                          </a:solidFill>
                          <a:latin typeface="Arial"/>
                          <a:ea typeface="Arial"/>
                          <a:cs typeface="Arial"/>
                        </a:rPr>
                        <a:t>Validation</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EFF4F7"/>
                    </a:solidFill>
                  </a:tcPr>
                </a:tc>
                <a:tc>
                  <a:txBody>
                    <a:bodyPr/>
                    <a:lstStyle/>
                    <a:p>
                      <a:r>
                        <a:rPr sz="1800" b="0">
                          <a:solidFill>
                            <a:srgbClr val="102738"/>
                          </a:solidFill>
                          <a:latin typeface="Arial"/>
                          <a:ea typeface="Arial"/>
                          <a:cs typeface="Arial"/>
                        </a:rPr>
                        <a:t>12</a:t>
                      </a:r>
                    </a:p>
                  </a:txBody>
                  <a:tcPr marL="91440" marR="91440" marT="45720" marB="45720">
                    <a:lnR w="9525">
                      <a:solidFill>
                        <a:srgbClr val="CBD5E1"/>
                      </a:solidFill>
                      <a:prstDash val="solid"/>
                    </a:lnR>
                    <a:lnB w="9525">
                      <a:solidFill>
                        <a:srgbClr val="CBD5E1"/>
                      </a:solidFill>
                      <a:prstDash val="solid"/>
                    </a:lnB>
                    <a:solidFill>
                      <a:srgbClr val="EFF4F7"/>
                    </a:solidFill>
                  </a:tcPr>
                </a:tc>
                <a:tc>
                  <a:txBody>
                    <a:bodyPr/>
                    <a:lstStyle/>
                    <a:p>
                      <a:r>
                        <a:rPr sz="1800" b="0">
                          <a:solidFill>
                            <a:srgbClr val="102738"/>
                          </a:solidFill>
                          <a:latin typeface="Arial"/>
                          <a:ea typeface="Arial"/>
                          <a:cs typeface="Arial"/>
                        </a:rPr>
                        <a:t>Choose controller settings</a:t>
                      </a:r>
                    </a:p>
                  </a:txBody>
                  <a:tcPr marL="91440" marR="91440" marT="45720" marB="45720">
                    <a:lnR w="9525">
                      <a:solidFill>
                        <a:srgbClr val="CBD5E1"/>
                      </a:solidFill>
                      <a:prstDash val="solid"/>
                    </a:lnR>
                    <a:lnB w="9525">
                      <a:solidFill>
                        <a:srgbClr val="CBD5E1"/>
                      </a:solidFill>
                      <a:prstDash val="solid"/>
                    </a:lnB>
                    <a:solidFill>
                      <a:srgbClr val="EFF4F7"/>
                    </a:solidFill>
                  </a:tcPr>
                </a:tc>
              </a:tr>
              <a:tr h="628650">
                <a:tc>
                  <a:txBody>
                    <a:bodyPr/>
                    <a:lstStyle/>
                    <a:p>
                      <a:r>
                        <a:rPr sz="1800" b="0">
                          <a:solidFill>
                            <a:srgbClr val="102738"/>
                          </a:solidFill>
                          <a:latin typeface="Arial"/>
                          <a:ea typeface="Arial"/>
                          <a:cs typeface="Arial"/>
                        </a:rPr>
                        <a:t>Test</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24</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Final paired comparison</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26CDF4C-7575-4D38-A24B-39439579BE07}"/>
              </a:ext>
            </a:extLst>
          </p:cNvPr>
          <p:cNvSpPr>
            <a:spLocks xmlns:a="http://schemas.openxmlformats.org/drawingml/2006/main" noGrp="1"/>
          </p:cNvSpPr>
          <p:nvPr/>
        </p:nvSpPr>
        <p:spPr>
          <a:xfrm xmlns:a="http://schemas.openxmlformats.org/drawingml/2006/main">
            <a:off x="647700" y="44577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87E8B"/>
                </a:solidFill>
                <a:latin typeface="Arial"/>
                <a:ea typeface="Arial"/>
                <a:cs typeface="Arial"/>
              </a:defRPr>
            </a:defPPr>
            <a:lvl1pPr>
              <a:defRPr sz="2325" b="1">
                <a:solidFill>
                  <a:srgbClr val="087E8B"/>
                </a:solidFill>
                <a:latin typeface="Arial"/>
                <a:ea typeface="Arial"/>
                <a:cs typeface="Arial"/>
              </a:defRPr>
            </a:lvl1pPr>
            <a:lvl2pPr>
              <a:defRPr sz="2325" b="1">
                <a:solidFill>
                  <a:srgbClr val="087E8B"/>
                </a:solidFill>
                <a:latin typeface="Arial"/>
                <a:ea typeface="Arial"/>
                <a:cs typeface="Arial"/>
              </a:defRPr>
            </a:lvl2pPr>
            <a:lvl3pPr>
              <a:defRPr sz="2325" b="1">
                <a:solidFill>
                  <a:srgbClr val="087E8B"/>
                </a:solidFill>
                <a:latin typeface="Arial"/>
                <a:ea typeface="Arial"/>
                <a:cs typeface="Arial"/>
              </a:defRPr>
            </a:lvl3pPr>
            <a:lvl4pPr>
              <a:defRPr sz="2325" b="1">
                <a:solidFill>
                  <a:srgbClr val="087E8B"/>
                </a:solidFill>
                <a:latin typeface="Arial"/>
                <a:ea typeface="Arial"/>
                <a:cs typeface="Arial"/>
              </a:defRPr>
            </a:lvl4pPr>
            <a:lvl5pPr>
              <a:defRPr sz="2325" b="1">
                <a:solidFill>
                  <a:srgbClr val="087E8B"/>
                </a:solidFill>
                <a:latin typeface="Arial"/>
                <a:ea typeface="Arial"/>
                <a:cs typeface="Arial"/>
              </a:defRPr>
            </a:lvl5pPr>
            <a:lvl6pPr>
              <a:defRPr sz="2325" b="1">
                <a:solidFill>
                  <a:srgbClr val="087E8B"/>
                </a:solidFill>
                <a:latin typeface="Arial"/>
                <a:ea typeface="Arial"/>
                <a:cs typeface="Arial"/>
              </a:defRPr>
            </a:lvl6pPr>
            <a:lvl7pPr>
              <a:defRPr sz="2325" b="1">
                <a:solidFill>
                  <a:srgbClr val="087E8B"/>
                </a:solidFill>
                <a:latin typeface="Arial"/>
                <a:ea typeface="Arial"/>
                <a:cs typeface="Arial"/>
              </a:defRPr>
            </a:lvl7pPr>
            <a:lvl8pPr>
              <a:defRPr sz="2325" b="1">
                <a:solidFill>
                  <a:srgbClr val="087E8B"/>
                </a:solidFill>
                <a:latin typeface="Arial"/>
                <a:ea typeface="Arial"/>
                <a:cs typeface="Arial"/>
              </a:defRPr>
            </a:lvl8pPr>
            <a:lvl9pPr>
              <a:defRPr sz="2325" b="1">
                <a:solidFill>
                  <a:srgbClr val="087E8B"/>
                </a:solidFill>
                <a:latin typeface="Arial"/>
                <a:ea typeface="Arial"/>
                <a:cs typeface="Arial"/>
              </a:defRPr>
            </a:lvl9pPr>
          </a:lstStyle>
          <a:p xmlns:a="http://schemas.openxmlformats.org/drawingml/2006/main">
            <a:pPr>
              <a:defRPr sz="2325" b="1">
                <a:solidFill>
                  <a:srgbClr val="087E8B"/>
                </a:solidFill>
                <a:latin typeface="Arial"/>
                <a:ea typeface="Arial"/>
                <a:cs typeface="Arial"/>
              </a:defRPr>
            </a:pPr>
            <a:r>
              <a:rPr sz="2325" b="1">
                <a:solidFill>
                  <a:srgbClr val="087E8B"/>
                </a:solidFill>
                <a:latin typeface="Arial"/>
                <a:ea typeface="Arial"/>
                <a:cs typeface="Arial"/>
              </a:rPr>
              <a:t>4 candidate settings per method</a:t>
            </a:r>
          </a:p>
          <a:p xmlns:a="http://schemas.openxmlformats.org/drawingml/2006/main">
            <a:pPr>
              <a:defRPr sz="2325" b="1">
                <a:solidFill>
                  <a:srgbClr val="087E8B"/>
                </a:solidFill>
                <a:latin typeface="Arial"/>
                <a:ea typeface="Arial"/>
                <a:cs typeface="Arial"/>
              </a:defRPr>
            </a:pPr>
            <a:r>
              <a:rPr sz="2325" b="1">
                <a:solidFill>
                  <a:srgbClr val="087E8B"/>
                </a:solidFill>
                <a:latin typeface="Arial"/>
                <a:ea typeface="Arial"/>
                <a:cs typeface="Arial"/>
              </a:rPr>
              <a:t>SAC: 3 independent seeds × 80,000 final training steps</a:t>
            </a:r>
          </a:p>
        </p:txBody>
      </p:sp>
      <p:sp>
        <p:nvSpPr>
          <p:cNvPr id="6" name="">
            <a:extLst xmlns:a="http://schemas.openxmlformats.org/drawingml/2006/main">
              <a:ext uri="{FF2B5EF4-FFF2-40B4-BE49-F238E27FC236}">
                <a16:creationId xmlns:a16="http://schemas.microsoft.com/office/drawing/2014/main" id="{2DBEB364-51F1-42D8-88C5-D51AE7681909}"/>
              </a:ext>
            </a:extLst>
          </p:cNvPr>
          <p:cNvSpPr>
            <a:spLocks xmlns:a="http://schemas.openxmlformats.org/drawingml/2006/main" noGrp="1"/>
          </p:cNvSpPr>
          <p:nvPr/>
        </p:nvSpPr>
        <p:spPr>
          <a:xfrm xmlns:a="http://schemas.openxmlformats.org/drawingml/2006/main">
            <a:off x="647700" y="57721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16778"/>
                </a:solidFill>
                <a:latin typeface="Arial"/>
                <a:ea typeface="Arial"/>
                <a:cs typeface="Arial"/>
              </a:defRPr>
            </a:defPPr>
            <a:lvl1pPr>
              <a:defRPr sz="1650" b="0">
                <a:solidFill>
                  <a:srgbClr val="516778"/>
                </a:solidFill>
                <a:latin typeface="Arial"/>
                <a:ea typeface="Arial"/>
                <a:cs typeface="Arial"/>
              </a:defRPr>
            </a:lvl1pPr>
            <a:lvl2pPr>
              <a:defRPr sz="1650" b="0">
                <a:solidFill>
                  <a:srgbClr val="516778"/>
                </a:solidFill>
                <a:latin typeface="Arial"/>
                <a:ea typeface="Arial"/>
                <a:cs typeface="Arial"/>
              </a:defRPr>
            </a:lvl2pPr>
            <a:lvl3pPr>
              <a:defRPr sz="1650" b="0">
                <a:solidFill>
                  <a:srgbClr val="516778"/>
                </a:solidFill>
                <a:latin typeface="Arial"/>
                <a:ea typeface="Arial"/>
                <a:cs typeface="Arial"/>
              </a:defRPr>
            </a:lvl3pPr>
            <a:lvl4pPr>
              <a:defRPr sz="1650" b="0">
                <a:solidFill>
                  <a:srgbClr val="516778"/>
                </a:solidFill>
                <a:latin typeface="Arial"/>
                <a:ea typeface="Arial"/>
                <a:cs typeface="Arial"/>
              </a:defRPr>
            </a:lvl4pPr>
            <a:lvl5pPr>
              <a:defRPr sz="1650" b="0">
                <a:solidFill>
                  <a:srgbClr val="516778"/>
                </a:solidFill>
                <a:latin typeface="Arial"/>
                <a:ea typeface="Arial"/>
                <a:cs typeface="Arial"/>
              </a:defRPr>
            </a:lvl5pPr>
            <a:lvl6pPr>
              <a:defRPr sz="1650" b="0">
                <a:solidFill>
                  <a:srgbClr val="516778"/>
                </a:solidFill>
                <a:latin typeface="Arial"/>
                <a:ea typeface="Arial"/>
                <a:cs typeface="Arial"/>
              </a:defRPr>
            </a:lvl6pPr>
            <a:lvl7pPr>
              <a:defRPr sz="1650" b="0">
                <a:solidFill>
                  <a:srgbClr val="516778"/>
                </a:solidFill>
                <a:latin typeface="Arial"/>
                <a:ea typeface="Arial"/>
                <a:cs typeface="Arial"/>
              </a:defRPr>
            </a:lvl7pPr>
            <a:lvl8pPr>
              <a:defRPr sz="1650" b="0">
                <a:solidFill>
                  <a:srgbClr val="516778"/>
                </a:solidFill>
                <a:latin typeface="Arial"/>
                <a:ea typeface="Arial"/>
                <a:cs typeface="Arial"/>
              </a:defRPr>
            </a:lvl8pPr>
            <a:lvl9pPr>
              <a:defRPr sz="1650" b="0">
                <a:solidFill>
                  <a:srgbClr val="516778"/>
                </a:solidFill>
                <a:latin typeface="Arial"/>
                <a:ea typeface="Arial"/>
                <a:cs typeface="Arial"/>
              </a:defRPr>
            </a:lvl9pPr>
          </a:lstStyle>
          <a:p xmlns:a="http://schemas.openxmlformats.org/drawingml/2006/main">
            <a:pPr>
              <a:defRPr sz="1650" b="0">
                <a:solidFill>
                  <a:srgbClr val="516778"/>
                </a:solidFill>
                <a:latin typeface="Arial"/>
                <a:ea typeface="Arial"/>
                <a:cs typeface="Arial"/>
              </a:defRPr>
            </a:pPr>
            <a:r>
              <a:rPr sz="1650" b="0">
                <a:solidFill>
                  <a:srgbClr val="516778"/>
                </a:solidFill>
                <a:latin typeface="Arial"/>
                <a:ea typeface="Arial"/>
                <a:cs typeface="Arial"/>
              </a:rPr>
              <a:t>Equal candidate counts; different computational tuning costs</a:t>
            </a:r>
          </a:p>
        </p:txBody>
      </p:sp>
    </p:spTree>
    <p:extLst>
      <p:ext uri="{BB962C8B-B14F-4D97-AF65-F5344CB8AC3E}">
        <p14:creationId xmlns:p14="http://schemas.microsoft.com/office/powerpoint/2010/main" val="1161308532"/>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AE1046-A447-4E7E-AC57-5542301CB1E2}"/>
              </a:ext>
            </a:extLst>
          </p:cNvPr>
          <p:cNvSpPr>
            <a:spLocks xmlns:a="http://schemas.openxmlformats.org/drawingml/2006/main" noGrp="1"/>
          </p:cNvSpPr>
          <p:nvPr/>
        </p:nvSpPr>
        <p:spPr>
          <a:xfrm xmlns:a="http://schemas.openxmlformats.org/drawingml/2006/main">
            <a:off x="647700" y="4572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8"/>
                </a:solidFill>
                <a:latin typeface="Arial"/>
                <a:ea typeface="Arial"/>
                <a:cs typeface="Arial"/>
              </a:defRPr>
            </a:defPPr>
            <a:lvl1pPr>
              <a:defRPr sz="3300" b="1">
                <a:solidFill>
                  <a:srgbClr val="102738"/>
                </a:solidFill>
                <a:latin typeface="Arial"/>
                <a:ea typeface="Arial"/>
                <a:cs typeface="Arial"/>
              </a:defRPr>
            </a:lvl1pPr>
            <a:lvl2pPr>
              <a:defRPr sz="3300" b="1">
                <a:solidFill>
                  <a:srgbClr val="102738"/>
                </a:solidFill>
                <a:latin typeface="Arial"/>
                <a:ea typeface="Arial"/>
                <a:cs typeface="Arial"/>
              </a:defRPr>
            </a:lvl2pPr>
            <a:lvl3pPr>
              <a:defRPr sz="3300" b="1">
                <a:solidFill>
                  <a:srgbClr val="102738"/>
                </a:solidFill>
                <a:latin typeface="Arial"/>
                <a:ea typeface="Arial"/>
                <a:cs typeface="Arial"/>
              </a:defRPr>
            </a:lvl3pPr>
            <a:lvl4pPr>
              <a:defRPr sz="3300" b="1">
                <a:solidFill>
                  <a:srgbClr val="102738"/>
                </a:solidFill>
                <a:latin typeface="Arial"/>
                <a:ea typeface="Arial"/>
                <a:cs typeface="Arial"/>
              </a:defRPr>
            </a:lvl4pPr>
            <a:lvl5pPr>
              <a:defRPr sz="3300" b="1">
                <a:solidFill>
                  <a:srgbClr val="102738"/>
                </a:solidFill>
                <a:latin typeface="Arial"/>
                <a:ea typeface="Arial"/>
                <a:cs typeface="Arial"/>
              </a:defRPr>
            </a:lvl5pPr>
            <a:lvl6pPr>
              <a:defRPr sz="3300" b="1">
                <a:solidFill>
                  <a:srgbClr val="102738"/>
                </a:solidFill>
                <a:latin typeface="Arial"/>
                <a:ea typeface="Arial"/>
                <a:cs typeface="Arial"/>
              </a:defRPr>
            </a:lvl6pPr>
            <a:lvl7pPr>
              <a:defRPr sz="3300" b="1">
                <a:solidFill>
                  <a:srgbClr val="102738"/>
                </a:solidFill>
                <a:latin typeface="Arial"/>
                <a:ea typeface="Arial"/>
                <a:cs typeface="Arial"/>
              </a:defRPr>
            </a:lvl7pPr>
            <a:lvl8pPr>
              <a:defRPr sz="3300" b="1">
                <a:solidFill>
                  <a:srgbClr val="102738"/>
                </a:solidFill>
                <a:latin typeface="Arial"/>
                <a:ea typeface="Arial"/>
                <a:cs typeface="Arial"/>
              </a:defRPr>
            </a:lvl8pPr>
            <a:lvl9pPr>
              <a:defRPr sz="3300" b="1">
                <a:solidFill>
                  <a:srgbClr val="102738"/>
                </a:solidFill>
                <a:latin typeface="Arial"/>
                <a:ea typeface="Arial"/>
                <a:cs typeface="Arial"/>
              </a:defRPr>
            </a:lvl9pPr>
          </a:lstStyle>
          <a:p xmlns:a="http://schemas.openxmlformats.org/drawingml/2006/main">
            <a:pPr>
              <a:defRPr sz="3300" b="1">
                <a:solidFill>
                  <a:srgbClr val="102738"/>
                </a:solidFill>
                <a:latin typeface="Arial"/>
                <a:ea typeface="Arial"/>
                <a:cs typeface="Arial"/>
              </a:defRPr>
            </a:pPr>
            <a:r>
              <a:rPr sz="3300" b="1">
                <a:solidFill>
                  <a:srgbClr val="102738"/>
                </a:solidFill>
                <a:latin typeface="Arial"/>
                <a:ea typeface="Arial"/>
                <a:cs typeface="Arial"/>
              </a:rPr>
              <a:t>Training returns vary across random seeds</a:t>
            </a:r>
          </a:p>
        </p:txBody>
      </p:sp>
      <p:sp>
        <p:nvSpPr>
          <p:cNvPr id="2" name="">
            <a:extLst xmlns:a="http://schemas.openxmlformats.org/drawingml/2006/main">
              <a:ext uri="{FF2B5EF4-FFF2-40B4-BE49-F238E27FC236}">
                <a16:creationId xmlns:a16="http://schemas.microsoft.com/office/drawing/2014/main" id="{53940335-0D6B-4DD8-82BA-2BF69C8677E0}"/>
              </a:ext>
            </a:extLst>
          </p:cNvPr>
          <p:cNvSpPr>
            <a:spLocks xmlns:a="http://schemas.openxmlformats.org/drawingml/2006/main" noGrp="1"/>
          </p:cNvSpPr>
          <p:nvPr/>
        </p:nvSpPr>
        <p:spPr>
          <a:xfrm xmlns:a="http://schemas.openxmlformats.org/drawingml/2006/main">
            <a:off x="64770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Kinesis · Ankit Prajapati</a:t>
            </a:r>
          </a:p>
        </p:txBody>
      </p:sp>
      <p:sp>
        <p:nvSpPr>
          <p:cNvPr id="3" name="">
            <a:extLst xmlns:a="http://schemas.openxmlformats.org/drawingml/2006/main">
              <a:ext uri="{FF2B5EF4-FFF2-40B4-BE49-F238E27FC236}">
                <a16:creationId xmlns:a16="http://schemas.microsoft.com/office/drawing/2014/main" id="{A785BC7F-B464-42CB-9552-6F3E09BC6868}"/>
              </a:ext>
            </a:extLst>
          </p:cNvPr>
          <p:cNvSpPr>
            <a:spLocks xmlns:a="http://schemas.openxmlformats.org/drawingml/2006/main" noGrp="1"/>
          </p:cNvSpPr>
          <p:nvPr/>
        </p:nvSpPr>
        <p:spPr>
          <a:xfrm xmlns:a="http://schemas.openxmlformats.org/drawingml/2006/main">
            <a:off x="11049000" y="6362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5</a:t>
            </a:r>
          </a:p>
        </p:txBody>
      </p:sp>
      <p:graphicFrame>
        <p:nvGraphicFramePr>
          <p:cNvPr id="4" name="Chart">
            <a:extLst xmlns:a="http://schemas.openxmlformats.org/drawingml/2006/main">
              <a:ext uri="{FF2B5EF4-FFF2-40B4-BE49-F238E27FC236}">
                <a16:creationId xmlns:a16="http://schemas.microsoft.com/office/drawing/2014/main" id="{E3FCC5CB-BA3C-49DE-8B4B-253C15FBECD6}"/>
              </a:ext>
            </a:extLst>
          </p:cNvPr>
          <p:cNvGraphicFramePr/>
          <p:nvPr/>
        </p:nvGraphicFramePr>
        <p:xfrm>
          <a:off xmlns:a="http://schemas.openxmlformats.org/drawingml/2006/main" x="800100" y="1466850"/>
          <a:ext xmlns:a="http://schemas.openxmlformats.org/drawingml/2006/main" cx="10382250" cy="4000500"/>
        </p:xfrm>
        <a:graphic xmlns:a="http://schemas.openxmlformats.org/drawingml/2006/main">
          <a:graphicData uri="http://schemas.openxmlformats.org/drawingml/2006/chart">
            <c:chart xmlns:r="http://schemas.openxmlformats.org/officeDocument/2006/relationships" xmlns:c="http://schemas.openxmlformats.org/drawingml/2006/chart" r:id="R86b063bf1292449f"/>
          </a:graphicData>
        </a:graphic>
      </p:graphicFrame>
      <p:sp>
        <p:nvSpPr>
          <p:cNvPr id="5" name="">
            <a:extLst xmlns:a="http://schemas.openxmlformats.org/drawingml/2006/main">
              <a:ext uri="{FF2B5EF4-FFF2-40B4-BE49-F238E27FC236}">
                <a16:creationId xmlns:a16="http://schemas.microsoft.com/office/drawing/2014/main" id="{7D928860-25F9-4879-BB8E-A4101B24F6FC}"/>
              </a:ext>
            </a:extLst>
          </p:cNvPr>
          <p:cNvSpPr>
            <a:spLocks xmlns:a="http://schemas.openxmlformats.org/drawingml/2006/main" noGrp="1"/>
          </p:cNvSpPr>
          <p:nvPr/>
        </p:nvSpPr>
        <p:spPr>
          <a:xfrm xmlns:a="http://schemas.openxmlformats.org/drawingml/2006/main">
            <a:off x="800100" y="5600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16778"/>
                </a:solidFill>
                <a:latin typeface="Arial"/>
                <a:ea typeface="Arial"/>
                <a:cs typeface="Arial"/>
              </a:defRPr>
            </a:defPPr>
            <a:lvl1pPr>
              <a:defRPr sz="1650" b="0">
                <a:solidFill>
                  <a:srgbClr val="516778"/>
                </a:solidFill>
                <a:latin typeface="Arial"/>
                <a:ea typeface="Arial"/>
                <a:cs typeface="Arial"/>
              </a:defRPr>
            </a:lvl1pPr>
            <a:lvl2pPr>
              <a:defRPr sz="1650" b="0">
                <a:solidFill>
                  <a:srgbClr val="516778"/>
                </a:solidFill>
                <a:latin typeface="Arial"/>
                <a:ea typeface="Arial"/>
                <a:cs typeface="Arial"/>
              </a:defRPr>
            </a:lvl2pPr>
            <a:lvl3pPr>
              <a:defRPr sz="1650" b="0">
                <a:solidFill>
                  <a:srgbClr val="516778"/>
                </a:solidFill>
                <a:latin typeface="Arial"/>
                <a:ea typeface="Arial"/>
                <a:cs typeface="Arial"/>
              </a:defRPr>
            </a:lvl3pPr>
            <a:lvl4pPr>
              <a:defRPr sz="1650" b="0">
                <a:solidFill>
                  <a:srgbClr val="516778"/>
                </a:solidFill>
                <a:latin typeface="Arial"/>
                <a:ea typeface="Arial"/>
                <a:cs typeface="Arial"/>
              </a:defRPr>
            </a:lvl4pPr>
            <a:lvl5pPr>
              <a:defRPr sz="1650" b="0">
                <a:solidFill>
                  <a:srgbClr val="516778"/>
                </a:solidFill>
                <a:latin typeface="Arial"/>
                <a:ea typeface="Arial"/>
                <a:cs typeface="Arial"/>
              </a:defRPr>
            </a:lvl5pPr>
            <a:lvl6pPr>
              <a:defRPr sz="1650" b="0">
                <a:solidFill>
                  <a:srgbClr val="516778"/>
                </a:solidFill>
                <a:latin typeface="Arial"/>
                <a:ea typeface="Arial"/>
                <a:cs typeface="Arial"/>
              </a:defRPr>
            </a:lvl6pPr>
            <a:lvl7pPr>
              <a:defRPr sz="1650" b="0">
                <a:solidFill>
                  <a:srgbClr val="516778"/>
                </a:solidFill>
                <a:latin typeface="Arial"/>
                <a:ea typeface="Arial"/>
                <a:cs typeface="Arial"/>
              </a:defRPr>
            </a:lvl7pPr>
            <a:lvl8pPr>
              <a:defRPr sz="1650" b="0">
                <a:solidFill>
                  <a:srgbClr val="516778"/>
                </a:solidFill>
                <a:latin typeface="Arial"/>
                <a:ea typeface="Arial"/>
                <a:cs typeface="Arial"/>
              </a:defRPr>
            </a:lvl8pPr>
            <a:lvl9pPr>
              <a:defRPr sz="1650" b="0">
                <a:solidFill>
                  <a:srgbClr val="516778"/>
                </a:solidFill>
                <a:latin typeface="Arial"/>
                <a:ea typeface="Arial"/>
                <a:cs typeface="Arial"/>
              </a:defRPr>
            </a:lvl9pPr>
          </a:lstStyle>
          <a:p xmlns:a="http://schemas.openxmlformats.org/drawingml/2006/main">
            <a:pPr>
              <a:defRPr sz="1650" b="0">
                <a:solidFill>
                  <a:srgbClr val="516778"/>
                </a:solidFill>
                <a:latin typeface="Arial"/>
                <a:ea typeface="Arial"/>
                <a:cs typeface="Arial"/>
              </a:defRPr>
            </a:pPr>
            <a:r>
              <a:rPr sz="1650" b="0">
                <a:solidFill>
                  <a:srgbClr val="516778"/>
                </a:solidFill>
                <a:latin typeface="Arial"/>
                <a:ea typeface="Arial"/>
                <a:cs typeface="Arial"/>
              </a:rPr>
              <a:t>Environment steps →  |  Episode return: 20-episode moving mean</a:t>
            </a:r>
          </a:p>
        </p:txBody>
      </p:sp>
    </p:spTree>
    <p:extLst>
      <p:ext uri="{BB962C8B-B14F-4D97-AF65-F5344CB8AC3E}">
        <p14:creationId xmlns:p14="http://schemas.microsoft.com/office/powerpoint/2010/main" val="328081453"/>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BA08C2-5DC1-4F67-8BF6-9FF1A9F145FC}"/>
              </a:ext>
            </a:extLst>
          </p:cNvPr>
          <p:cNvSpPr>
            <a:spLocks xmlns:a="http://schemas.openxmlformats.org/drawingml/2006/main" noGrp="1"/>
          </p:cNvSpPr>
          <p:nvPr/>
        </p:nvSpPr>
        <p:spPr>
          <a:xfrm xmlns:a="http://schemas.openxmlformats.org/drawingml/2006/main">
            <a:off x="647700" y="4572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8"/>
                </a:solidFill>
                <a:latin typeface="Arial"/>
                <a:ea typeface="Arial"/>
                <a:cs typeface="Arial"/>
              </a:defRPr>
            </a:defPPr>
            <a:lvl1pPr>
              <a:defRPr sz="3300" b="1">
                <a:solidFill>
                  <a:srgbClr val="102738"/>
                </a:solidFill>
                <a:latin typeface="Arial"/>
                <a:ea typeface="Arial"/>
                <a:cs typeface="Arial"/>
              </a:defRPr>
            </a:lvl1pPr>
            <a:lvl2pPr>
              <a:defRPr sz="3300" b="1">
                <a:solidFill>
                  <a:srgbClr val="102738"/>
                </a:solidFill>
                <a:latin typeface="Arial"/>
                <a:ea typeface="Arial"/>
                <a:cs typeface="Arial"/>
              </a:defRPr>
            </a:lvl2pPr>
            <a:lvl3pPr>
              <a:defRPr sz="3300" b="1">
                <a:solidFill>
                  <a:srgbClr val="102738"/>
                </a:solidFill>
                <a:latin typeface="Arial"/>
                <a:ea typeface="Arial"/>
                <a:cs typeface="Arial"/>
              </a:defRPr>
            </a:lvl3pPr>
            <a:lvl4pPr>
              <a:defRPr sz="3300" b="1">
                <a:solidFill>
                  <a:srgbClr val="102738"/>
                </a:solidFill>
                <a:latin typeface="Arial"/>
                <a:ea typeface="Arial"/>
                <a:cs typeface="Arial"/>
              </a:defRPr>
            </a:lvl4pPr>
            <a:lvl5pPr>
              <a:defRPr sz="3300" b="1">
                <a:solidFill>
                  <a:srgbClr val="102738"/>
                </a:solidFill>
                <a:latin typeface="Arial"/>
                <a:ea typeface="Arial"/>
                <a:cs typeface="Arial"/>
              </a:defRPr>
            </a:lvl5pPr>
            <a:lvl6pPr>
              <a:defRPr sz="3300" b="1">
                <a:solidFill>
                  <a:srgbClr val="102738"/>
                </a:solidFill>
                <a:latin typeface="Arial"/>
                <a:ea typeface="Arial"/>
                <a:cs typeface="Arial"/>
              </a:defRPr>
            </a:lvl6pPr>
            <a:lvl7pPr>
              <a:defRPr sz="3300" b="1">
                <a:solidFill>
                  <a:srgbClr val="102738"/>
                </a:solidFill>
                <a:latin typeface="Arial"/>
                <a:ea typeface="Arial"/>
                <a:cs typeface="Arial"/>
              </a:defRPr>
            </a:lvl7pPr>
            <a:lvl8pPr>
              <a:defRPr sz="3300" b="1">
                <a:solidFill>
                  <a:srgbClr val="102738"/>
                </a:solidFill>
                <a:latin typeface="Arial"/>
                <a:ea typeface="Arial"/>
                <a:cs typeface="Arial"/>
              </a:defRPr>
            </a:lvl8pPr>
            <a:lvl9pPr>
              <a:defRPr sz="3300" b="1">
                <a:solidFill>
                  <a:srgbClr val="102738"/>
                </a:solidFill>
                <a:latin typeface="Arial"/>
                <a:ea typeface="Arial"/>
                <a:cs typeface="Arial"/>
              </a:defRPr>
            </a:lvl9pPr>
          </a:lstStyle>
          <a:p xmlns:a="http://schemas.openxmlformats.org/drawingml/2006/main">
            <a:pPr>
              <a:defRPr sz="3300" b="1">
                <a:solidFill>
                  <a:srgbClr val="102738"/>
                </a:solidFill>
                <a:latin typeface="Arial"/>
                <a:ea typeface="Arial"/>
                <a:cs typeface="Arial"/>
              </a:defRPr>
            </a:pPr>
            <a:r>
              <a:rPr sz="3300" b="1">
                <a:solidFill>
                  <a:srgbClr val="102738"/>
                </a:solidFill>
                <a:latin typeface="Arial"/>
                <a:ea typeface="Arial"/>
                <a:cs typeface="Arial"/>
              </a:rPr>
              <a:t>Pure Pursuit tracks more accurately</a:t>
            </a:r>
          </a:p>
        </p:txBody>
      </p:sp>
      <p:sp>
        <p:nvSpPr>
          <p:cNvPr id="2" name="">
            <a:extLst xmlns:a="http://schemas.openxmlformats.org/drawingml/2006/main">
              <a:ext uri="{FF2B5EF4-FFF2-40B4-BE49-F238E27FC236}">
                <a16:creationId xmlns:a16="http://schemas.microsoft.com/office/drawing/2014/main" id="{B04844FB-37AD-4B76-9523-6C4FBE9158E1}"/>
              </a:ext>
            </a:extLst>
          </p:cNvPr>
          <p:cNvSpPr>
            <a:spLocks xmlns:a="http://schemas.openxmlformats.org/drawingml/2006/main" noGrp="1"/>
          </p:cNvSpPr>
          <p:nvPr/>
        </p:nvSpPr>
        <p:spPr>
          <a:xfrm xmlns:a="http://schemas.openxmlformats.org/drawingml/2006/main">
            <a:off x="64770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Kinesis · Ankit Prajapati</a:t>
            </a:r>
          </a:p>
        </p:txBody>
      </p:sp>
      <p:sp>
        <p:nvSpPr>
          <p:cNvPr id="3" name="">
            <a:extLst xmlns:a="http://schemas.openxmlformats.org/drawingml/2006/main">
              <a:ext uri="{FF2B5EF4-FFF2-40B4-BE49-F238E27FC236}">
                <a16:creationId xmlns:a16="http://schemas.microsoft.com/office/drawing/2014/main" id="{4A4E0B27-3315-44AC-8707-5B8437693BB1}"/>
              </a:ext>
            </a:extLst>
          </p:cNvPr>
          <p:cNvSpPr>
            <a:spLocks xmlns:a="http://schemas.openxmlformats.org/drawingml/2006/main" noGrp="1"/>
          </p:cNvSpPr>
          <p:nvPr/>
        </p:nvSpPr>
        <p:spPr>
          <a:xfrm xmlns:a="http://schemas.openxmlformats.org/drawingml/2006/main">
            <a:off x="11049000" y="6362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6</a:t>
            </a:r>
          </a:p>
        </p:txBody>
      </p:sp>
      <p:graphicFrame>
        <p:nvGraphicFramePr>
          <p:cNvPr id="4" name="">
            <a:extLst xmlns:a="http://schemas.openxmlformats.org/drawingml/2006/main">
              <a:ext uri="{FF2B5EF4-FFF2-40B4-BE49-F238E27FC236}">
                <a16:creationId xmlns:a16="http://schemas.microsoft.com/office/drawing/2014/main" id="{CCABB628-9EB0-4414-B5D8-7D1981459105}"/>
              </a:ext>
            </a:extLst>
          </p:cNvPr>
          <p:cNvGraphicFramePr/>
          <p:nvPr/>
        </p:nvGraphicFramePr>
        <p:xfrm>
          <a:off xmlns:a="http://schemas.openxmlformats.org/drawingml/2006/main" x="647700" y="1581150"/>
          <a:ext xmlns:a="http://schemas.openxmlformats.org/drawingml/2006/main" cx="10896600" cy="3486150"/>
        </p:xfrm>
        <a:graphic xmlns:a="http://schemas.openxmlformats.org/drawingml/2006/main">
          <a:graphicData uri="http://schemas.openxmlformats.org/drawingml/2006/table">
            <a:tbl>
              <a:tblPr/>
              <a:tblGrid>
                <a:gridCol w="4514850"/>
                <a:gridCol w="2524125"/>
                <a:gridCol w="3857625"/>
              </a:tblGrid>
              <a:tr h="581025">
                <a:tc>
                  <a:txBody>
                    <a:bodyPr/>
                    <a:lstStyle/>
                    <a:p>
                      <a:r>
                        <a:rPr sz="1800" b="1">
                          <a:solidFill>
                            <a:srgbClr val="FFFFFF"/>
                          </a:solidFill>
                          <a:latin typeface="Arial"/>
                          <a:ea typeface="Arial"/>
                          <a:cs typeface="Arial"/>
                        </a:rPr>
                        <a:t>Nominal metric</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02738"/>
                    </a:solidFill>
                  </a:tcPr>
                </a:tc>
                <a:tc>
                  <a:txBody>
                    <a:bodyPr/>
                    <a:lstStyle/>
                    <a:p>
                      <a:r>
                        <a:rPr sz="1800" b="1">
                          <a:solidFill>
                            <a:srgbClr val="FFFFFF"/>
                          </a:solidFill>
                          <a:latin typeface="Arial"/>
                          <a:ea typeface="Arial"/>
                          <a:cs typeface="Arial"/>
                        </a:rPr>
                        <a:t>Pure Pursuit</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02738"/>
                    </a:solidFill>
                  </a:tcPr>
                </a:tc>
                <a:tc>
                  <a:txBody>
                    <a:bodyPr/>
                    <a:lstStyle/>
                    <a:p>
                      <a:r>
                        <a:rPr sz="1800" b="1">
                          <a:solidFill>
                            <a:srgbClr val="FFFFFF"/>
                          </a:solidFill>
                          <a:latin typeface="Arial"/>
                          <a:ea typeface="Arial"/>
                          <a:cs typeface="Arial"/>
                        </a:rPr>
                        <a:t>SAC mean ± seed SD</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02738"/>
                    </a:solidFill>
                  </a:tcPr>
                </a:tc>
              </a:tr>
              <a:tr h="581025">
                <a:tc>
                  <a:txBody>
                    <a:bodyPr/>
                    <a:lstStyle/>
                    <a:p>
                      <a:r>
                        <a:rPr sz="1800" b="0">
                          <a:solidFill>
                            <a:srgbClr val="102738"/>
                          </a:solidFill>
                          <a:latin typeface="Arial"/>
                          <a:ea typeface="Arial"/>
                          <a:cs typeface="Arial"/>
                        </a:rPr>
                        <a:t>Success, 24 routes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100%</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100% ± 0%</a:t>
                      </a:r>
                    </a:p>
                  </a:txBody>
                  <a:tcPr marL="91440" marR="91440" marT="45720" marB="45720">
                    <a:lnR w="9525">
                      <a:solidFill>
                        <a:srgbClr val="CBD5E1"/>
                      </a:solidFill>
                      <a:prstDash val="solid"/>
                    </a:lnR>
                    <a:lnB w="9525">
                      <a:solidFill>
                        <a:srgbClr val="CBD5E1"/>
                      </a:solidFill>
                      <a:prstDash val="solid"/>
                    </a:lnB>
                    <a:solidFill>
                      <a:srgbClr val="FFFFFF"/>
                    </a:solidFill>
                  </a:tcPr>
                </a:tc>
              </a:tr>
              <a:tr h="581025">
                <a:tc>
                  <a:txBody>
                    <a:bodyPr/>
                    <a:lstStyle/>
                    <a:p>
                      <a:r>
                        <a:rPr sz="1800" b="0">
                          <a:solidFill>
                            <a:srgbClr val="102738"/>
                          </a:solidFill>
                          <a:latin typeface="Arial"/>
                          <a:ea typeface="Arial"/>
                          <a:cs typeface="Arial"/>
                        </a:rPr>
                        <a:t>Tracking RMSE (m)</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EFF4F7"/>
                    </a:solidFill>
                  </a:tcPr>
                </a:tc>
                <a:tc>
                  <a:txBody>
                    <a:bodyPr/>
                    <a:lstStyle/>
                    <a:p>
                      <a:r>
                        <a:rPr sz="1800" b="0">
                          <a:solidFill>
                            <a:srgbClr val="102738"/>
                          </a:solidFill>
                          <a:latin typeface="Arial"/>
                          <a:ea typeface="Arial"/>
                          <a:cs typeface="Arial"/>
                        </a:rPr>
                        <a:t>0.043</a:t>
                      </a:r>
                    </a:p>
                  </a:txBody>
                  <a:tcPr marL="91440" marR="91440" marT="45720" marB="45720">
                    <a:lnR w="9525">
                      <a:solidFill>
                        <a:srgbClr val="CBD5E1"/>
                      </a:solidFill>
                      <a:prstDash val="solid"/>
                    </a:lnR>
                    <a:lnB w="9525">
                      <a:solidFill>
                        <a:srgbClr val="CBD5E1"/>
                      </a:solidFill>
                      <a:prstDash val="solid"/>
                    </a:lnB>
                    <a:solidFill>
                      <a:srgbClr val="EFF4F7"/>
                    </a:solidFill>
                  </a:tcPr>
                </a:tc>
                <a:tc>
                  <a:txBody>
                    <a:bodyPr/>
                    <a:lstStyle/>
                    <a:p>
                      <a:r>
                        <a:rPr sz="1800" b="0">
                          <a:solidFill>
                            <a:srgbClr val="102738"/>
                          </a:solidFill>
                          <a:latin typeface="Arial"/>
                          <a:ea typeface="Arial"/>
                          <a:cs typeface="Arial"/>
                        </a:rPr>
                        <a:t>0.113 ± 0.066</a:t>
                      </a:r>
                    </a:p>
                  </a:txBody>
                  <a:tcPr marL="91440" marR="91440" marT="45720" marB="45720">
                    <a:lnR w="9525">
                      <a:solidFill>
                        <a:srgbClr val="CBD5E1"/>
                      </a:solidFill>
                      <a:prstDash val="solid"/>
                    </a:lnR>
                    <a:lnB w="9525">
                      <a:solidFill>
                        <a:srgbClr val="CBD5E1"/>
                      </a:solidFill>
                      <a:prstDash val="solid"/>
                    </a:lnB>
                    <a:solidFill>
                      <a:srgbClr val="EFF4F7"/>
                    </a:solidFill>
                  </a:tcPr>
                </a:tc>
              </a:tr>
              <a:tr h="581025">
                <a:tc>
                  <a:txBody>
                    <a:bodyPr/>
                    <a:lstStyle/>
                    <a:p>
                      <a:r>
                        <a:rPr sz="1800" b="0">
                          <a:solidFill>
                            <a:srgbClr val="102738"/>
                          </a:solidFill>
                          <a:latin typeface="Arial"/>
                          <a:ea typeface="Arial"/>
                          <a:cs typeface="Arial"/>
                        </a:rPr>
                        <a:t>Elapsed time (s)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12.65</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12.24 ± 1.02</a:t>
                      </a:r>
                    </a:p>
                  </a:txBody>
                  <a:tcPr marL="91440" marR="91440" marT="45720" marB="45720">
                    <a:lnR w="9525">
                      <a:solidFill>
                        <a:srgbClr val="CBD5E1"/>
                      </a:solidFill>
                      <a:prstDash val="solid"/>
                    </a:lnR>
                    <a:lnB w="9525">
                      <a:solidFill>
                        <a:srgbClr val="CBD5E1"/>
                      </a:solidFill>
                      <a:prstDash val="solid"/>
                    </a:lnB>
                    <a:solidFill>
                      <a:srgbClr val="FFFFFF"/>
                    </a:solidFill>
                  </a:tcPr>
                </a:tc>
              </a:tr>
              <a:tr h="581025">
                <a:tc>
                  <a:txBody>
                    <a:bodyPr/>
                    <a:lstStyle/>
                    <a:p>
                      <a:r>
                        <a:rPr sz="1800" b="0">
                          <a:solidFill>
                            <a:srgbClr val="102738"/>
                          </a:solidFill>
                          <a:latin typeface="Arial"/>
                          <a:ea typeface="Arial"/>
                          <a:cs typeface="Arial"/>
                        </a:rPr>
                        <a:t>Angular slew RMS (rad/s²)</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EFF4F7"/>
                    </a:solidFill>
                  </a:tcPr>
                </a:tc>
                <a:tc>
                  <a:txBody>
                    <a:bodyPr/>
                    <a:lstStyle/>
                    <a:p>
                      <a:r>
                        <a:rPr sz="1800" b="0">
                          <a:solidFill>
                            <a:srgbClr val="102738"/>
                          </a:solidFill>
                          <a:latin typeface="Arial"/>
                          <a:ea typeface="Arial"/>
                          <a:cs typeface="Arial"/>
                        </a:rPr>
                        <a:t>0.59</a:t>
                      </a:r>
                    </a:p>
                  </a:txBody>
                  <a:tcPr marL="91440" marR="91440" marT="45720" marB="45720">
                    <a:lnR w="9525">
                      <a:solidFill>
                        <a:srgbClr val="CBD5E1"/>
                      </a:solidFill>
                      <a:prstDash val="solid"/>
                    </a:lnR>
                    <a:lnB w="9525">
                      <a:solidFill>
                        <a:srgbClr val="CBD5E1"/>
                      </a:solidFill>
                      <a:prstDash val="solid"/>
                    </a:lnB>
                    <a:solidFill>
                      <a:srgbClr val="EFF4F7"/>
                    </a:solidFill>
                  </a:tcPr>
                </a:tc>
                <a:tc>
                  <a:txBody>
                    <a:bodyPr/>
                    <a:lstStyle/>
                    <a:p>
                      <a:r>
                        <a:rPr sz="1800" b="0">
                          <a:solidFill>
                            <a:srgbClr val="102738"/>
                          </a:solidFill>
                          <a:latin typeface="Arial"/>
                          <a:ea typeface="Arial"/>
                          <a:cs typeface="Arial"/>
                        </a:rPr>
                        <a:t>5.91 ± 2.18</a:t>
                      </a:r>
                    </a:p>
                  </a:txBody>
                  <a:tcPr marL="91440" marR="91440" marT="45720" marB="45720">
                    <a:lnR w="9525">
                      <a:solidFill>
                        <a:srgbClr val="CBD5E1"/>
                      </a:solidFill>
                      <a:prstDash val="solid"/>
                    </a:lnR>
                    <a:lnB w="9525">
                      <a:solidFill>
                        <a:srgbClr val="CBD5E1"/>
                      </a:solidFill>
                      <a:prstDash val="solid"/>
                    </a:lnB>
                    <a:solidFill>
                      <a:srgbClr val="EFF4F7"/>
                    </a:solidFill>
                  </a:tcPr>
                </a:tc>
              </a:tr>
              <a:tr h="581025">
                <a:tc>
                  <a:txBody>
                    <a:bodyPr/>
                    <a:lstStyle/>
                    <a:p>
                      <a:r>
                        <a:rPr sz="1800" b="0">
                          <a:solidFill>
                            <a:srgbClr val="102738"/>
                          </a:solidFill>
                          <a:latin typeface="Arial"/>
                          <a:ea typeface="Arial"/>
                          <a:cs typeface="Arial"/>
                        </a:rPr>
                        <a:t>Mean median inference (ms)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0.032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lstStyle/>
                    <a:p>
                      <a:r>
                        <a:rPr sz="1800" b="0">
                          <a:solidFill>
                            <a:srgbClr val="102738"/>
                          </a:solidFill>
                          <a:latin typeface="Arial"/>
                          <a:ea typeface="Arial"/>
                          <a:cs typeface="Arial"/>
                        </a:rPr>
                        <a:t>0.390 ± 0.058</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18B69D9-FD75-4D60-9A0C-3702F79B105B}"/>
              </a:ext>
            </a:extLst>
          </p:cNvPr>
          <p:cNvSpPr>
            <a:spLocks xmlns:a="http://schemas.openxmlformats.org/drawingml/2006/main" noGrp="1"/>
          </p:cNvSpPr>
          <p:nvPr/>
        </p:nvSpPr>
        <p:spPr>
          <a:xfrm xmlns:a="http://schemas.openxmlformats.org/drawingml/2006/main">
            <a:off x="647700" y="53911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778"/>
                </a:solidFill>
                <a:latin typeface="Arial"/>
                <a:ea typeface="Arial"/>
                <a:cs typeface="Arial"/>
              </a:defRPr>
            </a:defPPr>
            <a:lvl1pPr>
              <a:defRPr sz="1800" b="0">
                <a:solidFill>
                  <a:srgbClr val="516778"/>
                </a:solidFill>
                <a:latin typeface="Arial"/>
                <a:ea typeface="Arial"/>
                <a:cs typeface="Arial"/>
              </a:defRPr>
            </a:lvl1pPr>
            <a:lvl2pPr>
              <a:defRPr sz="1800" b="0">
                <a:solidFill>
                  <a:srgbClr val="516778"/>
                </a:solidFill>
                <a:latin typeface="Arial"/>
                <a:ea typeface="Arial"/>
                <a:cs typeface="Arial"/>
              </a:defRPr>
            </a:lvl2pPr>
            <a:lvl3pPr>
              <a:defRPr sz="1800" b="0">
                <a:solidFill>
                  <a:srgbClr val="516778"/>
                </a:solidFill>
                <a:latin typeface="Arial"/>
                <a:ea typeface="Arial"/>
                <a:cs typeface="Arial"/>
              </a:defRPr>
            </a:lvl3pPr>
            <a:lvl4pPr>
              <a:defRPr sz="1800" b="0">
                <a:solidFill>
                  <a:srgbClr val="516778"/>
                </a:solidFill>
                <a:latin typeface="Arial"/>
                <a:ea typeface="Arial"/>
                <a:cs typeface="Arial"/>
              </a:defRPr>
            </a:lvl4pPr>
            <a:lvl5pPr>
              <a:defRPr sz="1800" b="0">
                <a:solidFill>
                  <a:srgbClr val="516778"/>
                </a:solidFill>
                <a:latin typeface="Arial"/>
                <a:ea typeface="Arial"/>
                <a:cs typeface="Arial"/>
              </a:defRPr>
            </a:lvl5pPr>
            <a:lvl6pPr>
              <a:defRPr sz="1800" b="0">
                <a:solidFill>
                  <a:srgbClr val="516778"/>
                </a:solidFill>
                <a:latin typeface="Arial"/>
                <a:ea typeface="Arial"/>
                <a:cs typeface="Arial"/>
              </a:defRPr>
            </a:lvl6pPr>
            <a:lvl7pPr>
              <a:defRPr sz="1800" b="0">
                <a:solidFill>
                  <a:srgbClr val="516778"/>
                </a:solidFill>
                <a:latin typeface="Arial"/>
                <a:ea typeface="Arial"/>
                <a:cs typeface="Arial"/>
              </a:defRPr>
            </a:lvl7pPr>
            <a:lvl8pPr>
              <a:defRPr sz="1800" b="0">
                <a:solidFill>
                  <a:srgbClr val="516778"/>
                </a:solidFill>
                <a:latin typeface="Arial"/>
                <a:ea typeface="Arial"/>
                <a:cs typeface="Arial"/>
              </a:defRPr>
            </a:lvl8pPr>
            <a:lvl9pPr>
              <a:defRPr sz="1800" b="0">
                <a:solidFill>
                  <a:srgbClr val="516778"/>
                </a:solidFill>
                <a:latin typeface="Arial"/>
                <a:ea typeface="Arial"/>
                <a:cs typeface="Arial"/>
              </a:defRPr>
            </a:lvl9pPr>
          </a:lstStyle>
          <a:p xmlns:a="http://schemas.openxmlformats.org/drawingml/2006/main">
            <a:pPr>
              <a:defRPr sz="1800" b="0">
                <a:solidFill>
                  <a:srgbClr val="516778"/>
                </a:solidFill>
                <a:latin typeface="Arial"/>
                <a:ea typeface="Arial"/>
                <a:cs typeface="Arial"/>
              </a:defRPr>
            </a:pPr>
            <a:r>
              <a:rPr sz="1800" b="0">
                <a:solidFill>
                  <a:srgbClr val="516778"/>
                </a:solidFill>
                <a:latin typeface="Arial"/>
                <a:ea typeface="Arial"/>
                <a:cs typeface="Arial"/>
              </a:rPr>
              <a:t>SAC: mean ± sample SD across 3 seeds; no significance claim</a:t>
            </a:r>
          </a:p>
        </p:txBody>
      </p:sp>
    </p:spTree>
    <p:extLst>
      <p:ext uri="{BB962C8B-B14F-4D97-AF65-F5344CB8AC3E}">
        <p14:creationId xmlns:p14="http://schemas.microsoft.com/office/powerpoint/2010/main" val="48083394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E9C8C2-EBF7-440D-B884-3DBD34BB5144}"/>
              </a:ext>
            </a:extLst>
          </p:cNvPr>
          <p:cNvSpPr>
            <a:spLocks xmlns:a="http://schemas.openxmlformats.org/drawingml/2006/main" noGrp="1"/>
          </p:cNvSpPr>
          <p:nvPr/>
        </p:nvSpPr>
        <p:spPr>
          <a:xfrm xmlns:a="http://schemas.openxmlformats.org/drawingml/2006/main">
            <a:off x="647700" y="4572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8"/>
                </a:solidFill>
                <a:latin typeface="Arial"/>
                <a:ea typeface="Arial"/>
                <a:cs typeface="Arial"/>
              </a:defRPr>
            </a:defPPr>
            <a:lvl1pPr>
              <a:defRPr sz="3300" b="1">
                <a:solidFill>
                  <a:srgbClr val="102738"/>
                </a:solidFill>
                <a:latin typeface="Arial"/>
                <a:ea typeface="Arial"/>
                <a:cs typeface="Arial"/>
              </a:defRPr>
            </a:lvl1pPr>
            <a:lvl2pPr>
              <a:defRPr sz="3300" b="1">
                <a:solidFill>
                  <a:srgbClr val="102738"/>
                </a:solidFill>
                <a:latin typeface="Arial"/>
                <a:ea typeface="Arial"/>
                <a:cs typeface="Arial"/>
              </a:defRPr>
            </a:lvl2pPr>
            <a:lvl3pPr>
              <a:defRPr sz="3300" b="1">
                <a:solidFill>
                  <a:srgbClr val="102738"/>
                </a:solidFill>
                <a:latin typeface="Arial"/>
                <a:ea typeface="Arial"/>
                <a:cs typeface="Arial"/>
              </a:defRPr>
            </a:lvl3pPr>
            <a:lvl4pPr>
              <a:defRPr sz="3300" b="1">
                <a:solidFill>
                  <a:srgbClr val="102738"/>
                </a:solidFill>
                <a:latin typeface="Arial"/>
                <a:ea typeface="Arial"/>
                <a:cs typeface="Arial"/>
              </a:defRPr>
            </a:lvl4pPr>
            <a:lvl5pPr>
              <a:defRPr sz="3300" b="1">
                <a:solidFill>
                  <a:srgbClr val="102738"/>
                </a:solidFill>
                <a:latin typeface="Arial"/>
                <a:ea typeface="Arial"/>
                <a:cs typeface="Arial"/>
              </a:defRPr>
            </a:lvl5pPr>
            <a:lvl6pPr>
              <a:defRPr sz="3300" b="1">
                <a:solidFill>
                  <a:srgbClr val="102738"/>
                </a:solidFill>
                <a:latin typeface="Arial"/>
                <a:ea typeface="Arial"/>
                <a:cs typeface="Arial"/>
              </a:defRPr>
            </a:lvl6pPr>
            <a:lvl7pPr>
              <a:defRPr sz="3300" b="1">
                <a:solidFill>
                  <a:srgbClr val="102738"/>
                </a:solidFill>
                <a:latin typeface="Arial"/>
                <a:ea typeface="Arial"/>
                <a:cs typeface="Arial"/>
              </a:defRPr>
            </a:lvl7pPr>
            <a:lvl8pPr>
              <a:defRPr sz="3300" b="1">
                <a:solidFill>
                  <a:srgbClr val="102738"/>
                </a:solidFill>
                <a:latin typeface="Arial"/>
                <a:ea typeface="Arial"/>
                <a:cs typeface="Arial"/>
              </a:defRPr>
            </a:lvl8pPr>
            <a:lvl9pPr>
              <a:defRPr sz="3300" b="1">
                <a:solidFill>
                  <a:srgbClr val="102738"/>
                </a:solidFill>
                <a:latin typeface="Arial"/>
                <a:ea typeface="Arial"/>
                <a:cs typeface="Arial"/>
              </a:defRPr>
            </a:lvl9pPr>
          </a:lstStyle>
          <a:p xmlns:a="http://schemas.openxmlformats.org/drawingml/2006/main">
            <a:pPr>
              <a:defRPr sz="3300" b="1">
                <a:solidFill>
                  <a:srgbClr val="102738"/>
                </a:solidFill>
                <a:latin typeface="Arial"/>
                <a:ea typeface="Arial"/>
                <a:cs typeface="Arial"/>
              </a:defRPr>
            </a:pPr>
            <a:r>
              <a:rPr sz="3300" b="1">
                <a:solidFill>
                  <a:srgbClr val="102738"/>
                </a:solidFill>
                <a:latin typeface="Arial"/>
                <a:ea typeface="Arial"/>
                <a:cs typeface="Arial"/>
              </a:rPr>
              <a:t>An unseen double-sine test route</a:t>
            </a:r>
          </a:p>
        </p:txBody>
      </p:sp>
      <p:sp>
        <p:nvSpPr>
          <p:cNvPr id="2" name="">
            <a:extLst xmlns:a="http://schemas.openxmlformats.org/drawingml/2006/main">
              <a:ext uri="{FF2B5EF4-FFF2-40B4-BE49-F238E27FC236}">
                <a16:creationId xmlns:a16="http://schemas.microsoft.com/office/drawing/2014/main" id="{2FEB24CA-7658-4269-ADAE-45B9CED90E7B}"/>
              </a:ext>
            </a:extLst>
          </p:cNvPr>
          <p:cNvSpPr>
            <a:spLocks xmlns:a="http://schemas.openxmlformats.org/drawingml/2006/main" noGrp="1"/>
          </p:cNvSpPr>
          <p:nvPr/>
        </p:nvSpPr>
        <p:spPr>
          <a:xfrm xmlns:a="http://schemas.openxmlformats.org/drawingml/2006/main">
            <a:off x="64770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Kinesis · Ankit Prajapati</a:t>
            </a:r>
          </a:p>
        </p:txBody>
      </p:sp>
      <p:sp>
        <p:nvSpPr>
          <p:cNvPr id="3" name="">
            <a:extLst xmlns:a="http://schemas.openxmlformats.org/drawingml/2006/main">
              <a:ext uri="{FF2B5EF4-FFF2-40B4-BE49-F238E27FC236}">
                <a16:creationId xmlns:a16="http://schemas.microsoft.com/office/drawing/2014/main" id="{4A7D4B78-51A6-4F1E-9842-6175A16A133B}"/>
              </a:ext>
            </a:extLst>
          </p:cNvPr>
          <p:cNvSpPr>
            <a:spLocks xmlns:a="http://schemas.openxmlformats.org/drawingml/2006/main" noGrp="1"/>
          </p:cNvSpPr>
          <p:nvPr/>
        </p:nvSpPr>
        <p:spPr>
          <a:xfrm xmlns:a="http://schemas.openxmlformats.org/drawingml/2006/main">
            <a:off x="11049000" y="6362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6C79D7AA-4CF1-4235-B07E-40731B7F53BC}"/>
              </a:ext>
            </a:extLst>
          </p:cNvPr>
          <p:cNvGraphicFramePr/>
          <p:nvPr/>
        </p:nvGraphicFramePr>
        <p:xfrm>
          <a:off xmlns:a="http://schemas.openxmlformats.org/drawingml/2006/main" x="762000" y="1381125"/>
          <a:ext xmlns:a="http://schemas.openxmlformats.org/drawingml/2006/main" cx="10572750" cy="4191000"/>
        </p:xfrm>
        <a:graphic xmlns:a="http://schemas.openxmlformats.org/drawingml/2006/main">
          <a:graphicData uri="http://schemas.openxmlformats.org/drawingml/2006/chart">
            <c:chart xmlns:r="http://schemas.openxmlformats.org/officeDocument/2006/relationships" xmlns:c="http://schemas.openxmlformats.org/drawingml/2006/chart" r:id="R897f894d62a64b97"/>
          </a:graphicData>
        </a:graphic>
      </p:graphicFrame>
      <p:sp>
        <p:nvSpPr>
          <p:cNvPr id="5" name="">
            <a:extLst xmlns:a="http://schemas.openxmlformats.org/drawingml/2006/main">
              <a:ext uri="{FF2B5EF4-FFF2-40B4-BE49-F238E27FC236}">
                <a16:creationId xmlns:a16="http://schemas.microsoft.com/office/drawing/2014/main" id="{F0AB91B7-6975-4DD1-9DFD-32F496EEAEAD}"/>
              </a:ext>
            </a:extLst>
          </p:cNvPr>
          <p:cNvSpPr>
            <a:spLocks xmlns:a="http://schemas.openxmlformats.org/drawingml/2006/main" noGrp="1"/>
          </p:cNvSpPr>
          <p:nvPr/>
        </p:nvSpPr>
        <p:spPr>
          <a:xfrm xmlns:a="http://schemas.openxmlformats.org/drawingml/2006/main">
            <a:off x="762000" y="57531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16778"/>
                </a:solidFill>
                <a:latin typeface="Arial"/>
                <a:ea typeface="Arial"/>
                <a:cs typeface="Arial"/>
              </a:defRPr>
            </a:defPPr>
            <a:lvl1pPr>
              <a:defRPr sz="1650" b="0">
                <a:solidFill>
                  <a:srgbClr val="516778"/>
                </a:solidFill>
                <a:latin typeface="Arial"/>
                <a:ea typeface="Arial"/>
                <a:cs typeface="Arial"/>
              </a:defRPr>
            </a:lvl1pPr>
            <a:lvl2pPr>
              <a:defRPr sz="1650" b="0">
                <a:solidFill>
                  <a:srgbClr val="516778"/>
                </a:solidFill>
                <a:latin typeface="Arial"/>
                <a:ea typeface="Arial"/>
                <a:cs typeface="Arial"/>
              </a:defRPr>
            </a:lvl2pPr>
            <a:lvl3pPr>
              <a:defRPr sz="1650" b="0">
                <a:solidFill>
                  <a:srgbClr val="516778"/>
                </a:solidFill>
                <a:latin typeface="Arial"/>
                <a:ea typeface="Arial"/>
                <a:cs typeface="Arial"/>
              </a:defRPr>
            </a:lvl3pPr>
            <a:lvl4pPr>
              <a:defRPr sz="1650" b="0">
                <a:solidFill>
                  <a:srgbClr val="516778"/>
                </a:solidFill>
                <a:latin typeface="Arial"/>
                <a:ea typeface="Arial"/>
                <a:cs typeface="Arial"/>
              </a:defRPr>
            </a:lvl4pPr>
            <a:lvl5pPr>
              <a:defRPr sz="1650" b="0">
                <a:solidFill>
                  <a:srgbClr val="516778"/>
                </a:solidFill>
                <a:latin typeface="Arial"/>
                <a:ea typeface="Arial"/>
                <a:cs typeface="Arial"/>
              </a:defRPr>
            </a:lvl5pPr>
            <a:lvl6pPr>
              <a:defRPr sz="1650" b="0">
                <a:solidFill>
                  <a:srgbClr val="516778"/>
                </a:solidFill>
                <a:latin typeface="Arial"/>
                <a:ea typeface="Arial"/>
                <a:cs typeface="Arial"/>
              </a:defRPr>
            </a:lvl6pPr>
            <a:lvl7pPr>
              <a:defRPr sz="1650" b="0">
                <a:solidFill>
                  <a:srgbClr val="516778"/>
                </a:solidFill>
                <a:latin typeface="Arial"/>
                <a:ea typeface="Arial"/>
                <a:cs typeface="Arial"/>
              </a:defRPr>
            </a:lvl7pPr>
            <a:lvl8pPr>
              <a:defRPr sz="1650" b="0">
                <a:solidFill>
                  <a:srgbClr val="516778"/>
                </a:solidFill>
                <a:latin typeface="Arial"/>
                <a:ea typeface="Arial"/>
                <a:cs typeface="Arial"/>
              </a:defRPr>
            </a:lvl8pPr>
            <a:lvl9pPr>
              <a:defRPr sz="1650" b="0">
                <a:solidFill>
                  <a:srgbClr val="516778"/>
                </a:solidFill>
                <a:latin typeface="Arial"/>
                <a:ea typeface="Arial"/>
                <a:cs typeface="Arial"/>
              </a:defRPr>
            </a:lvl9pPr>
          </a:lstStyle>
          <a:p xmlns:a="http://schemas.openxmlformats.org/drawingml/2006/main">
            <a:pPr>
              <a:defRPr sz="1650" b="0">
                <a:solidFill>
                  <a:srgbClr val="516778"/>
                </a:solidFill>
                <a:latin typeface="Arial"/>
                <a:ea typeface="Arial"/>
                <a:cs typeface="Arial"/>
              </a:defRPr>
            </a:pPr>
            <a:r>
              <a:rPr sz="1650" b="0">
                <a:solidFill>
                  <a:srgbClr val="516778"/>
                </a:solidFill>
                <a:latin typeface="Arial"/>
                <a:ea typeface="Arial"/>
                <a:cs typeface="Arial"/>
              </a:rPr>
              <a:t>x and y in metres · fixed scenario 003 · SAC seed 27 chosen on validation</a:t>
            </a:r>
          </a:p>
        </p:txBody>
      </p:sp>
    </p:spTree>
    <p:extLst>
      <p:ext uri="{BB962C8B-B14F-4D97-AF65-F5344CB8AC3E}">
        <p14:creationId xmlns:p14="http://schemas.microsoft.com/office/powerpoint/2010/main" val="1531143336"/>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6C0259-B813-429B-BDA9-40FA9244FE82}"/>
              </a:ext>
            </a:extLst>
          </p:cNvPr>
          <p:cNvSpPr>
            <a:spLocks xmlns:a="http://schemas.openxmlformats.org/drawingml/2006/main" noGrp="1"/>
          </p:cNvSpPr>
          <p:nvPr/>
        </p:nvSpPr>
        <p:spPr>
          <a:xfrm xmlns:a="http://schemas.openxmlformats.org/drawingml/2006/main">
            <a:off x="647700" y="4572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8"/>
                </a:solidFill>
                <a:latin typeface="Arial"/>
                <a:ea typeface="Arial"/>
                <a:cs typeface="Arial"/>
              </a:defRPr>
            </a:defPPr>
            <a:lvl1pPr>
              <a:defRPr sz="3300" b="1">
                <a:solidFill>
                  <a:srgbClr val="102738"/>
                </a:solidFill>
                <a:latin typeface="Arial"/>
                <a:ea typeface="Arial"/>
                <a:cs typeface="Arial"/>
              </a:defRPr>
            </a:lvl1pPr>
            <a:lvl2pPr>
              <a:defRPr sz="3300" b="1">
                <a:solidFill>
                  <a:srgbClr val="102738"/>
                </a:solidFill>
                <a:latin typeface="Arial"/>
                <a:ea typeface="Arial"/>
                <a:cs typeface="Arial"/>
              </a:defRPr>
            </a:lvl2pPr>
            <a:lvl3pPr>
              <a:defRPr sz="3300" b="1">
                <a:solidFill>
                  <a:srgbClr val="102738"/>
                </a:solidFill>
                <a:latin typeface="Arial"/>
                <a:ea typeface="Arial"/>
                <a:cs typeface="Arial"/>
              </a:defRPr>
            </a:lvl3pPr>
            <a:lvl4pPr>
              <a:defRPr sz="3300" b="1">
                <a:solidFill>
                  <a:srgbClr val="102738"/>
                </a:solidFill>
                <a:latin typeface="Arial"/>
                <a:ea typeface="Arial"/>
                <a:cs typeface="Arial"/>
              </a:defRPr>
            </a:lvl4pPr>
            <a:lvl5pPr>
              <a:defRPr sz="3300" b="1">
                <a:solidFill>
                  <a:srgbClr val="102738"/>
                </a:solidFill>
                <a:latin typeface="Arial"/>
                <a:ea typeface="Arial"/>
                <a:cs typeface="Arial"/>
              </a:defRPr>
            </a:lvl5pPr>
            <a:lvl6pPr>
              <a:defRPr sz="3300" b="1">
                <a:solidFill>
                  <a:srgbClr val="102738"/>
                </a:solidFill>
                <a:latin typeface="Arial"/>
                <a:ea typeface="Arial"/>
                <a:cs typeface="Arial"/>
              </a:defRPr>
            </a:lvl6pPr>
            <a:lvl7pPr>
              <a:defRPr sz="3300" b="1">
                <a:solidFill>
                  <a:srgbClr val="102738"/>
                </a:solidFill>
                <a:latin typeface="Arial"/>
                <a:ea typeface="Arial"/>
                <a:cs typeface="Arial"/>
              </a:defRPr>
            </a:lvl7pPr>
            <a:lvl8pPr>
              <a:defRPr sz="3300" b="1">
                <a:solidFill>
                  <a:srgbClr val="102738"/>
                </a:solidFill>
                <a:latin typeface="Arial"/>
                <a:ea typeface="Arial"/>
                <a:cs typeface="Arial"/>
              </a:defRPr>
            </a:lvl8pPr>
            <a:lvl9pPr>
              <a:defRPr sz="3300" b="1">
                <a:solidFill>
                  <a:srgbClr val="102738"/>
                </a:solidFill>
                <a:latin typeface="Arial"/>
                <a:ea typeface="Arial"/>
                <a:cs typeface="Arial"/>
              </a:defRPr>
            </a:lvl9pPr>
          </a:lstStyle>
          <a:p xmlns:a="http://schemas.openxmlformats.org/drawingml/2006/main">
            <a:pPr>
              <a:defRPr sz="3300" b="1">
                <a:solidFill>
                  <a:srgbClr val="102738"/>
                </a:solidFill>
                <a:latin typeface="Arial"/>
                <a:ea typeface="Arial"/>
                <a:cs typeface="Arial"/>
              </a:defRPr>
            </a:pPr>
            <a:r>
              <a:rPr sz="3300" b="1">
                <a:solidFill>
                  <a:srgbClr val="102738"/>
                </a:solidFill>
                <a:latin typeface="Arial"/>
                <a:ea typeface="Arial"/>
                <a:cs typeface="Arial"/>
              </a:rPr>
              <a:t>Command delay exposed SAC failures</a:t>
            </a:r>
          </a:p>
        </p:txBody>
      </p:sp>
      <p:sp>
        <p:nvSpPr>
          <p:cNvPr id="2" name="">
            <a:extLst xmlns:a="http://schemas.openxmlformats.org/drawingml/2006/main">
              <a:ext uri="{FF2B5EF4-FFF2-40B4-BE49-F238E27FC236}">
                <a16:creationId xmlns:a16="http://schemas.microsoft.com/office/drawing/2014/main" id="{EE11965C-B568-463E-8D78-A4A9A4611444}"/>
              </a:ext>
            </a:extLst>
          </p:cNvPr>
          <p:cNvSpPr>
            <a:spLocks xmlns:a="http://schemas.openxmlformats.org/drawingml/2006/main" noGrp="1"/>
          </p:cNvSpPr>
          <p:nvPr/>
        </p:nvSpPr>
        <p:spPr>
          <a:xfrm xmlns:a="http://schemas.openxmlformats.org/drawingml/2006/main">
            <a:off x="64770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Kinesis · Ankit Prajapati</a:t>
            </a:r>
          </a:p>
        </p:txBody>
      </p:sp>
      <p:sp>
        <p:nvSpPr>
          <p:cNvPr id="3" name="">
            <a:extLst xmlns:a="http://schemas.openxmlformats.org/drawingml/2006/main">
              <a:ext uri="{FF2B5EF4-FFF2-40B4-BE49-F238E27FC236}">
                <a16:creationId xmlns:a16="http://schemas.microsoft.com/office/drawing/2014/main" id="{0BC66C18-346B-4DB3-94FC-BDEE3ADDE654}"/>
              </a:ext>
            </a:extLst>
          </p:cNvPr>
          <p:cNvSpPr>
            <a:spLocks xmlns:a="http://schemas.openxmlformats.org/drawingml/2006/main" noGrp="1"/>
          </p:cNvSpPr>
          <p:nvPr/>
        </p:nvSpPr>
        <p:spPr>
          <a:xfrm xmlns:a="http://schemas.openxmlformats.org/drawingml/2006/main">
            <a:off x="11049000" y="6362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09C28362-C449-4296-8B13-4256DFB5C483}"/>
              </a:ext>
            </a:extLst>
          </p:cNvPr>
          <p:cNvGraphicFramePr/>
          <p:nvPr/>
        </p:nvGraphicFramePr>
        <p:xfrm>
          <a:off xmlns:a="http://schemas.openxmlformats.org/drawingml/2006/main" x="762000" y="1428750"/>
          <a:ext xmlns:a="http://schemas.openxmlformats.org/drawingml/2006/main" cx="10572750" cy="3762375"/>
        </p:xfrm>
        <a:graphic xmlns:a="http://schemas.openxmlformats.org/drawingml/2006/main">
          <a:graphicData uri="http://schemas.openxmlformats.org/drawingml/2006/chart">
            <c:chart xmlns:r="http://schemas.openxmlformats.org/officeDocument/2006/relationships" xmlns:c="http://schemas.openxmlformats.org/drawingml/2006/chart" r:id="Re4f84e53c5c8468e"/>
          </a:graphicData>
        </a:graphic>
      </p:graphicFrame>
      <p:sp>
        <p:nvSpPr>
          <p:cNvPr id="5" name="">
            <a:extLst xmlns:a="http://schemas.openxmlformats.org/drawingml/2006/main">
              <a:ext uri="{FF2B5EF4-FFF2-40B4-BE49-F238E27FC236}">
                <a16:creationId xmlns:a16="http://schemas.microsoft.com/office/drawing/2014/main" id="{25CCEF12-E2E4-4585-8CE0-D17B2AEFF425}"/>
              </a:ext>
            </a:extLst>
          </p:cNvPr>
          <p:cNvSpPr>
            <a:spLocks xmlns:a="http://schemas.openxmlformats.org/drawingml/2006/main" noGrp="1"/>
          </p:cNvSpPr>
          <p:nvPr/>
        </p:nvSpPr>
        <p:spPr>
          <a:xfrm xmlns:a="http://schemas.openxmlformats.org/drawingml/2006/main">
            <a:off x="762000" y="54102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738"/>
                </a:solidFill>
                <a:latin typeface="Arial"/>
                <a:ea typeface="Arial"/>
                <a:cs typeface="Arial"/>
              </a:defRPr>
            </a:defPPr>
            <a:lvl1pPr>
              <a:defRPr sz="2025" b="1">
                <a:solidFill>
                  <a:srgbClr val="102738"/>
                </a:solidFill>
                <a:latin typeface="Arial"/>
                <a:ea typeface="Arial"/>
                <a:cs typeface="Arial"/>
              </a:defRPr>
            </a:lvl1pPr>
            <a:lvl2pPr>
              <a:defRPr sz="2025" b="1">
                <a:solidFill>
                  <a:srgbClr val="102738"/>
                </a:solidFill>
                <a:latin typeface="Arial"/>
                <a:ea typeface="Arial"/>
                <a:cs typeface="Arial"/>
              </a:defRPr>
            </a:lvl2pPr>
            <a:lvl3pPr>
              <a:defRPr sz="2025" b="1">
                <a:solidFill>
                  <a:srgbClr val="102738"/>
                </a:solidFill>
                <a:latin typeface="Arial"/>
                <a:ea typeface="Arial"/>
                <a:cs typeface="Arial"/>
              </a:defRPr>
            </a:lvl3pPr>
            <a:lvl4pPr>
              <a:defRPr sz="2025" b="1">
                <a:solidFill>
                  <a:srgbClr val="102738"/>
                </a:solidFill>
                <a:latin typeface="Arial"/>
                <a:ea typeface="Arial"/>
                <a:cs typeface="Arial"/>
              </a:defRPr>
            </a:lvl4pPr>
            <a:lvl5pPr>
              <a:defRPr sz="2025" b="1">
                <a:solidFill>
                  <a:srgbClr val="102738"/>
                </a:solidFill>
                <a:latin typeface="Arial"/>
                <a:ea typeface="Arial"/>
                <a:cs typeface="Arial"/>
              </a:defRPr>
            </a:lvl5pPr>
            <a:lvl6pPr>
              <a:defRPr sz="2025" b="1">
                <a:solidFill>
                  <a:srgbClr val="102738"/>
                </a:solidFill>
                <a:latin typeface="Arial"/>
                <a:ea typeface="Arial"/>
                <a:cs typeface="Arial"/>
              </a:defRPr>
            </a:lvl6pPr>
            <a:lvl7pPr>
              <a:defRPr sz="2025" b="1">
                <a:solidFill>
                  <a:srgbClr val="102738"/>
                </a:solidFill>
                <a:latin typeface="Arial"/>
                <a:ea typeface="Arial"/>
                <a:cs typeface="Arial"/>
              </a:defRPr>
            </a:lvl7pPr>
            <a:lvl8pPr>
              <a:defRPr sz="2025" b="1">
                <a:solidFill>
                  <a:srgbClr val="102738"/>
                </a:solidFill>
                <a:latin typeface="Arial"/>
                <a:ea typeface="Arial"/>
                <a:cs typeface="Arial"/>
              </a:defRPr>
            </a:lvl8pPr>
            <a:lvl9pPr>
              <a:defRPr sz="2025" b="1">
                <a:solidFill>
                  <a:srgbClr val="102738"/>
                </a:solidFill>
                <a:latin typeface="Arial"/>
                <a:ea typeface="Arial"/>
                <a:cs typeface="Arial"/>
              </a:defRPr>
            </a:lvl9pPr>
          </a:lstStyle>
          <a:p xmlns:a="http://schemas.openxmlformats.org/drawingml/2006/main">
            <a:pPr>
              <a:defRPr sz="2025" b="1">
                <a:solidFill>
                  <a:srgbClr val="102738"/>
                </a:solidFill>
                <a:latin typeface="Arial"/>
                <a:ea typeface="Arial"/>
                <a:cs typeface="Arial"/>
              </a:defRPr>
            </a:pPr>
            <a:r>
              <a:rPr sz="2025" b="1">
                <a:solidFill>
                  <a:srgbClr val="102738"/>
                </a:solidFill>
                <a:latin typeface="Arial"/>
                <a:ea typeface="Arial"/>
                <a:cs typeface="Arial"/>
              </a:rPr>
              <a:t>Success (%) · SAC delay: 65 / 72 attempts · PP delay: 24 / 24</a:t>
            </a:r>
          </a:p>
        </p:txBody>
      </p:sp>
    </p:spTree>
    <p:extLst>
      <p:ext uri="{BB962C8B-B14F-4D97-AF65-F5344CB8AC3E}">
        <p14:creationId xmlns:p14="http://schemas.microsoft.com/office/powerpoint/2010/main" val="384429217"/>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12B08F-261D-4FD3-BC00-5CC17985039F}"/>
              </a:ext>
            </a:extLst>
          </p:cNvPr>
          <p:cNvSpPr>
            <a:spLocks xmlns:a="http://schemas.openxmlformats.org/drawingml/2006/main" noGrp="1"/>
          </p:cNvSpPr>
          <p:nvPr/>
        </p:nvSpPr>
        <p:spPr>
          <a:xfrm xmlns:a="http://schemas.openxmlformats.org/drawingml/2006/main">
            <a:off x="647700" y="4572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8"/>
                </a:solidFill>
                <a:latin typeface="Arial"/>
                <a:ea typeface="Arial"/>
                <a:cs typeface="Arial"/>
              </a:defRPr>
            </a:defPPr>
            <a:lvl1pPr>
              <a:defRPr sz="3300" b="1">
                <a:solidFill>
                  <a:srgbClr val="102738"/>
                </a:solidFill>
                <a:latin typeface="Arial"/>
                <a:ea typeface="Arial"/>
                <a:cs typeface="Arial"/>
              </a:defRPr>
            </a:lvl1pPr>
            <a:lvl2pPr>
              <a:defRPr sz="3300" b="1">
                <a:solidFill>
                  <a:srgbClr val="102738"/>
                </a:solidFill>
                <a:latin typeface="Arial"/>
                <a:ea typeface="Arial"/>
                <a:cs typeface="Arial"/>
              </a:defRPr>
            </a:lvl2pPr>
            <a:lvl3pPr>
              <a:defRPr sz="3300" b="1">
                <a:solidFill>
                  <a:srgbClr val="102738"/>
                </a:solidFill>
                <a:latin typeface="Arial"/>
                <a:ea typeface="Arial"/>
                <a:cs typeface="Arial"/>
              </a:defRPr>
            </a:lvl3pPr>
            <a:lvl4pPr>
              <a:defRPr sz="3300" b="1">
                <a:solidFill>
                  <a:srgbClr val="102738"/>
                </a:solidFill>
                <a:latin typeface="Arial"/>
                <a:ea typeface="Arial"/>
                <a:cs typeface="Arial"/>
              </a:defRPr>
            </a:lvl4pPr>
            <a:lvl5pPr>
              <a:defRPr sz="3300" b="1">
                <a:solidFill>
                  <a:srgbClr val="102738"/>
                </a:solidFill>
                <a:latin typeface="Arial"/>
                <a:ea typeface="Arial"/>
                <a:cs typeface="Arial"/>
              </a:defRPr>
            </a:lvl5pPr>
            <a:lvl6pPr>
              <a:defRPr sz="3300" b="1">
                <a:solidFill>
                  <a:srgbClr val="102738"/>
                </a:solidFill>
                <a:latin typeface="Arial"/>
                <a:ea typeface="Arial"/>
                <a:cs typeface="Arial"/>
              </a:defRPr>
            </a:lvl6pPr>
            <a:lvl7pPr>
              <a:defRPr sz="3300" b="1">
                <a:solidFill>
                  <a:srgbClr val="102738"/>
                </a:solidFill>
                <a:latin typeface="Arial"/>
                <a:ea typeface="Arial"/>
                <a:cs typeface="Arial"/>
              </a:defRPr>
            </a:lvl7pPr>
            <a:lvl8pPr>
              <a:defRPr sz="3300" b="1">
                <a:solidFill>
                  <a:srgbClr val="102738"/>
                </a:solidFill>
                <a:latin typeface="Arial"/>
                <a:ea typeface="Arial"/>
                <a:cs typeface="Arial"/>
              </a:defRPr>
            </a:lvl8pPr>
            <a:lvl9pPr>
              <a:defRPr sz="3300" b="1">
                <a:solidFill>
                  <a:srgbClr val="102738"/>
                </a:solidFill>
                <a:latin typeface="Arial"/>
                <a:ea typeface="Arial"/>
                <a:cs typeface="Arial"/>
              </a:defRPr>
            </a:lvl9pPr>
          </a:lstStyle>
          <a:p xmlns:a="http://schemas.openxmlformats.org/drawingml/2006/main">
            <a:pPr>
              <a:defRPr sz="3300" b="1">
                <a:solidFill>
                  <a:srgbClr val="102738"/>
                </a:solidFill>
                <a:latin typeface="Arial"/>
                <a:ea typeface="Arial"/>
                <a:cs typeface="Arial"/>
              </a:defRPr>
            </a:pPr>
            <a:r>
              <a:rPr sz="3300" b="1">
                <a:solidFill>
                  <a:srgbClr val="102738"/>
                </a:solidFill>
                <a:latin typeface="Arial"/>
                <a:ea typeface="Arial"/>
                <a:cs typeface="Arial"/>
              </a:rPr>
              <a:t>Engineering conclusions and next work</a:t>
            </a:r>
          </a:p>
        </p:txBody>
      </p:sp>
      <p:sp>
        <p:nvSpPr>
          <p:cNvPr id="2" name="">
            <a:extLst xmlns:a="http://schemas.openxmlformats.org/drawingml/2006/main">
              <a:ext uri="{FF2B5EF4-FFF2-40B4-BE49-F238E27FC236}">
                <a16:creationId xmlns:a16="http://schemas.microsoft.com/office/drawing/2014/main" id="{79DAD8E8-36C9-4DE3-8D18-AE19DBF9AAAE}"/>
              </a:ext>
            </a:extLst>
          </p:cNvPr>
          <p:cNvSpPr>
            <a:spLocks xmlns:a="http://schemas.openxmlformats.org/drawingml/2006/main" noGrp="1"/>
          </p:cNvSpPr>
          <p:nvPr/>
        </p:nvSpPr>
        <p:spPr>
          <a:xfrm xmlns:a="http://schemas.openxmlformats.org/drawingml/2006/main">
            <a:off x="64770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Kinesis · Ankit Prajapati</a:t>
            </a:r>
          </a:p>
        </p:txBody>
      </p:sp>
      <p:sp>
        <p:nvSpPr>
          <p:cNvPr id="3" name="">
            <a:extLst xmlns:a="http://schemas.openxmlformats.org/drawingml/2006/main">
              <a:ext uri="{FF2B5EF4-FFF2-40B4-BE49-F238E27FC236}">
                <a16:creationId xmlns:a16="http://schemas.microsoft.com/office/drawing/2014/main" id="{FB6FA354-30F7-435B-909C-9877CDED0A68}"/>
              </a:ext>
            </a:extLst>
          </p:cNvPr>
          <p:cNvSpPr>
            <a:spLocks xmlns:a="http://schemas.openxmlformats.org/drawingml/2006/main" noGrp="1"/>
          </p:cNvSpPr>
          <p:nvPr/>
        </p:nvSpPr>
        <p:spPr>
          <a:xfrm xmlns:a="http://schemas.openxmlformats.org/drawingml/2006/main">
            <a:off x="11049000" y="6362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16778"/>
                </a:solidFill>
                <a:latin typeface="Arial"/>
                <a:ea typeface="Arial"/>
                <a:cs typeface="Arial"/>
              </a:defRPr>
            </a:defPPr>
            <a:lvl1pPr>
              <a:defRPr sz="1350" b="0">
                <a:solidFill>
                  <a:srgbClr val="516778"/>
                </a:solidFill>
                <a:latin typeface="Arial"/>
                <a:ea typeface="Arial"/>
                <a:cs typeface="Arial"/>
              </a:defRPr>
            </a:lvl1pPr>
            <a:lvl2pPr>
              <a:defRPr sz="1350" b="0">
                <a:solidFill>
                  <a:srgbClr val="516778"/>
                </a:solidFill>
                <a:latin typeface="Arial"/>
                <a:ea typeface="Arial"/>
                <a:cs typeface="Arial"/>
              </a:defRPr>
            </a:lvl2pPr>
            <a:lvl3pPr>
              <a:defRPr sz="1350" b="0">
                <a:solidFill>
                  <a:srgbClr val="516778"/>
                </a:solidFill>
                <a:latin typeface="Arial"/>
                <a:ea typeface="Arial"/>
                <a:cs typeface="Arial"/>
              </a:defRPr>
            </a:lvl3pPr>
            <a:lvl4pPr>
              <a:defRPr sz="1350" b="0">
                <a:solidFill>
                  <a:srgbClr val="516778"/>
                </a:solidFill>
                <a:latin typeface="Arial"/>
                <a:ea typeface="Arial"/>
                <a:cs typeface="Arial"/>
              </a:defRPr>
            </a:lvl4pPr>
            <a:lvl5pPr>
              <a:defRPr sz="1350" b="0">
                <a:solidFill>
                  <a:srgbClr val="516778"/>
                </a:solidFill>
                <a:latin typeface="Arial"/>
                <a:ea typeface="Arial"/>
                <a:cs typeface="Arial"/>
              </a:defRPr>
            </a:lvl5pPr>
            <a:lvl6pPr>
              <a:defRPr sz="1350" b="0">
                <a:solidFill>
                  <a:srgbClr val="516778"/>
                </a:solidFill>
                <a:latin typeface="Arial"/>
                <a:ea typeface="Arial"/>
                <a:cs typeface="Arial"/>
              </a:defRPr>
            </a:lvl6pPr>
            <a:lvl7pPr>
              <a:defRPr sz="1350" b="0">
                <a:solidFill>
                  <a:srgbClr val="516778"/>
                </a:solidFill>
                <a:latin typeface="Arial"/>
                <a:ea typeface="Arial"/>
                <a:cs typeface="Arial"/>
              </a:defRPr>
            </a:lvl7pPr>
            <a:lvl8pPr>
              <a:defRPr sz="1350" b="0">
                <a:solidFill>
                  <a:srgbClr val="516778"/>
                </a:solidFill>
                <a:latin typeface="Arial"/>
                <a:ea typeface="Arial"/>
                <a:cs typeface="Arial"/>
              </a:defRPr>
            </a:lvl8pPr>
            <a:lvl9pPr>
              <a:defRPr sz="1350" b="0">
                <a:solidFill>
                  <a:srgbClr val="516778"/>
                </a:solidFill>
                <a:latin typeface="Arial"/>
                <a:ea typeface="Arial"/>
                <a:cs typeface="Arial"/>
              </a:defRPr>
            </a:lvl9pPr>
          </a:lstStyle>
          <a:p xmlns:a="http://schemas.openxmlformats.org/drawingml/2006/main">
            <a:pPr>
              <a:defRPr sz="1350" b="0">
                <a:solidFill>
                  <a:srgbClr val="516778"/>
                </a:solidFill>
                <a:latin typeface="Arial"/>
                <a:ea typeface="Arial"/>
                <a:cs typeface="Arial"/>
              </a:defRPr>
            </a:pPr>
            <a:r>
              <a:rPr sz="1350" b="0">
                <a:solidFill>
                  <a:srgbClr val="516778"/>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5B14975D-2979-428E-9665-4676F5F5146D}"/>
              </a:ext>
            </a:extLst>
          </p:cNvPr>
          <p:cNvSpPr>
            <a:spLocks xmlns:a="http://schemas.openxmlformats.org/drawingml/2006/main" noGrp="1"/>
          </p:cNvSpPr>
          <p:nvPr/>
        </p:nvSpPr>
        <p:spPr>
          <a:xfrm xmlns:a="http://schemas.openxmlformats.org/drawingml/2006/main">
            <a:off x="647700" y="16002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E8B"/>
                </a:solidFill>
                <a:latin typeface="Arial"/>
                <a:ea typeface="Arial"/>
                <a:cs typeface="Arial"/>
              </a:defRPr>
            </a:defPPr>
            <a:lvl1pPr>
              <a:defRPr sz="2700" b="1">
                <a:solidFill>
                  <a:srgbClr val="087E8B"/>
                </a:solidFill>
                <a:latin typeface="Arial"/>
                <a:ea typeface="Arial"/>
                <a:cs typeface="Arial"/>
              </a:defRPr>
            </a:lvl1pPr>
            <a:lvl2pPr>
              <a:defRPr sz="2700" b="1">
                <a:solidFill>
                  <a:srgbClr val="087E8B"/>
                </a:solidFill>
                <a:latin typeface="Arial"/>
                <a:ea typeface="Arial"/>
                <a:cs typeface="Arial"/>
              </a:defRPr>
            </a:lvl2pPr>
            <a:lvl3pPr>
              <a:defRPr sz="2700" b="1">
                <a:solidFill>
                  <a:srgbClr val="087E8B"/>
                </a:solidFill>
                <a:latin typeface="Arial"/>
                <a:ea typeface="Arial"/>
                <a:cs typeface="Arial"/>
              </a:defRPr>
            </a:lvl3pPr>
            <a:lvl4pPr>
              <a:defRPr sz="2700" b="1">
                <a:solidFill>
                  <a:srgbClr val="087E8B"/>
                </a:solidFill>
                <a:latin typeface="Arial"/>
                <a:ea typeface="Arial"/>
                <a:cs typeface="Arial"/>
              </a:defRPr>
            </a:lvl4pPr>
            <a:lvl5pPr>
              <a:defRPr sz="2700" b="1">
                <a:solidFill>
                  <a:srgbClr val="087E8B"/>
                </a:solidFill>
                <a:latin typeface="Arial"/>
                <a:ea typeface="Arial"/>
                <a:cs typeface="Arial"/>
              </a:defRPr>
            </a:lvl5pPr>
            <a:lvl6pPr>
              <a:defRPr sz="2700" b="1">
                <a:solidFill>
                  <a:srgbClr val="087E8B"/>
                </a:solidFill>
                <a:latin typeface="Arial"/>
                <a:ea typeface="Arial"/>
                <a:cs typeface="Arial"/>
              </a:defRPr>
            </a:lvl6pPr>
            <a:lvl7pPr>
              <a:defRPr sz="2700" b="1">
                <a:solidFill>
                  <a:srgbClr val="087E8B"/>
                </a:solidFill>
                <a:latin typeface="Arial"/>
                <a:ea typeface="Arial"/>
                <a:cs typeface="Arial"/>
              </a:defRPr>
            </a:lvl7pPr>
            <a:lvl8pPr>
              <a:defRPr sz="2700" b="1">
                <a:solidFill>
                  <a:srgbClr val="087E8B"/>
                </a:solidFill>
                <a:latin typeface="Arial"/>
                <a:ea typeface="Arial"/>
                <a:cs typeface="Arial"/>
              </a:defRPr>
            </a:lvl8pPr>
            <a:lvl9pPr>
              <a:defRPr sz="2700" b="1">
                <a:solidFill>
                  <a:srgbClr val="087E8B"/>
                </a:solidFill>
                <a:latin typeface="Arial"/>
                <a:ea typeface="Arial"/>
                <a:cs typeface="Arial"/>
              </a:defRPr>
            </a:lvl9pPr>
          </a:lstStyle>
          <a:p xmlns:a="http://schemas.openxmlformats.org/drawingml/2006/main">
            <a:pPr>
              <a:defRPr sz="2700" b="1">
                <a:solidFill>
                  <a:srgbClr val="087E8B"/>
                </a:solidFill>
                <a:latin typeface="Arial"/>
                <a:ea typeface="Arial"/>
                <a:cs typeface="Arial"/>
              </a:defRPr>
            </a:pPr>
            <a:r>
              <a:rPr sz="2700" b="1">
                <a:solidFill>
                  <a:srgbClr val="087E8B"/>
                </a:solidFill>
                <a:latin typeface="Arial"/>
                <a:ea typeface="Arial"/>
                <a:cs typeface="Arial"/>
              </a:rPr>
              <a:t>Keep the conventional baseline</a:t>
            </a:r>
          </a:p>
        </p:txBody>
      </p:sp>
      <p:sp>
        <p:nvSpPr>
          <p:cNvPr id="5" name="">
            <a:extLst xmlns:a="http://schemas.openxmlformats.org/drawingml/2006/main">
              <a:ext uri="{FF2B5EF4-FFF2-40B4-BE49-F238E27FC236}">
                <a16:creationId xmlns:a16="http://schemas.microsoft.com/office/drawing/2014/main" id="{3E095415-BE5A-438D-8689-B73C481A22C0}"/>
              </a:ext>
            </a:extLst>
          </p:cNvPr>
          <p:cNvSpPr>
            <a:spLocks xmlns:a="http://schemas.openxmlformats.org/drawingml/2006/main" noGrp="1"/>
          </p:cNvSpPr>
          <p:nvPr/>
        </p:nvSpPr>
        <p:spPr>
          <a:xfrm xmlns:a="http://schemas.openxmlformats.org/drawingml/2006/main">
            <a:off x="647700" y="2381250"/>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738"/>
                </a:solidFill>
                <a:latin typeface="Arial"/>
                <a:ea typeface="Arial"/>
                <a:cs typeface="Arial"/>
              </a:defRPr>
            </a:defPPr>
            <a:lvl1pPr>
              <a:defRPr sz="2250" b="0">
                <a:solidFill>
                  <a:srgbClr val="102738"/>
                </a:solidFill>
                <a:latin typeface="Arial"/>
                <a:ea typeface="Arial"/>
                <a:cs typeface="Arial"/>
              </a:defRPr>
            </a:lvl1pPr>
            <a:lvl2pPr>
              <a:defRPr sz="2250" b="0">
                <a:solidFill>
                  <a:srgbClr val="102738"/>
                </a:solidFill>
                <a:latin typeface="Arial"/>
                <a:ea typeface="Arial"/>
                <a:cs typeface="Arial"/>
              </a:defRPr>
            </a:lvl2pPr>
            <a:lvl3pPr>
              <a:defRPr sz="2250" b="0">
                <a:solidFill>
                  <a:srgbClr val="102738"/>
                </a:solidFill>
                <a:latin typeface="Arial"/>
                <a:ea typeface="Arial"/>
                <a:cs typeface="Arial"/>
              </a:defRPr>
            </a:lvl3pPr>
            <a:lvl4pPr>
              <a:defRPr sz="2250" b="0">
                <a:solidFill>
                  <a:srgbClr val="102738"/>
                </a:solidFill>
                <a:latin typeface="Arial"/>
                <a:ea typeface="Arial"/>
                <a:cs typeface="Arial"/>
              </a:defRPr>
            </a:lvl4pPr>
            <a:lvl5pPr>
              <a:defRPr sz="2250" b="0">
                <a:solidFill>
                  <a:srgbClr val="102738"/>
                </a:solidFill>
                <a:latin typeface="Arial"/>
                <a:ea typeface="Arial"/>
                <a:cs typeface="Arial"/>
              </a:defRPr>
            </a:lvl5pPr>
            <a:lvl6pPr>
              <a:defRPr sz="2250" b="0">
                <a:solidFill>
                  <a:srgbClr val="102738"/>
                </a:solidFill>
                <a:latin typeface="Arial"/>
                <a:ea typeface="Arial"/>
                <a:cs typeface="Arial"/>
              </a:defRPr>
            </a:lvl6pPr>
            <a:lvl7pPr>
              <a:defRPr sz="2250" b="0">
                <a:solidFill>
                  <a:srgbClr val="102738"/>
                </a:solidFill>
                <a:latin typeface="Arial"/>
                <a:ea typeface="Arial"/>
                <a:cs typeface="Arial"/>
              </a:defRPr>
            </a:lvl7pPr>
            <a:lvl8pPr>
              <a:defRPr sz="2250" b="0">
                <a:solidFill>
                  <a:srgbClr val="102738"/>
                </a:solidFill>
                <a:latin typeface="Arial"/>
                <a:ea typeface="Arial"/>
                <a:cs typeface="Arial"/>
              </a:defRPr>
            </a:lvl8pPr>
            <a:lvl9pPr>
              <a:defRPr sz="2250" b="0">
                <a:solidFill>
                  <a:srgbClr val="102738"/>
                </a:solidFill>
                <a:latin typeface="Arial"/>
                <a:ea typeface="Arial"/>
                <a:cs typeface="Arial"/>
              </a:defRPr>
            </a:lvl9pPr>
          </a:lstStyle>
          <a:p xmlns:a="http://schemas.openxmlformats.org/drawingml/2006/main">
            <a:pPr>
              <a:defRPr sz="2250" b="0">
                <a:solidFill>
                  <a:srgbClr val="102738"/>
                </a:solidFill>
                <a:latin typeface="Arial"/>
                <a:ea typeface="Arial"/>
                <a:cs typeface="Arial"/>
              </a:defRPr>
            </a:pPr>
            <a:r>
              <a:rPr sz="2250" b="0">
                <a:solidFill>
                  <a:srgbClr val="102738"/>
                </a:solidFill>
                <a:latin typeface="Arial"/>
                <a:ea typeface="Arial"/>
                <a:cs typeface="Arial"/>
              </a:rPr>
              <a:t>SAC learned route completion, but did not improve the full metric set.</a:t>
            </a:r>
          </a:p>
          <a:p xmlns:a="http://schemas.openxmlformats.org/drawingml/2006/main">
            <a:pPr>
              <a:defRPr sz="2250" b="0">
                <a:solidFill>
                  <a:srgbClr val="102738"/>
                </a:solidFill>
                <a:latin typeface="Arial"/>
                <a:ea typeface="Arial"/>
                <a:cs typeface="Arial"/>
              </a:defRPr>
            </a:pPr>
            <a:r>
              <a:rPr sz="2250" b="0">
                <a:solidFill>
                  <a:srgbClr val="102738"/>
                </a:solidFill>
                <a:latin typeface="Arial"/>
                <a:ea typeface="Arial"/>
                <a:cs typeface="Arial"/>
              </a:rPr>
              <a:t>Delay tests exposed failures hidden by nominal success.</a:t>
            </a:r>
          </a:p>
        </p:txBody>
      </p:sp>
      <p:sp>
        <p:nvSpPr>
          <p:cNvPr id="6" name="">
            <a:extLst xmlns:a="http://schemas.openxmlformats.org/drawingml/2006/main">
              <a:ext uri="{FF2B5EF4-FFF2-40B4-BE49-F238E27FC236}">
                <a16:creationId xmlns:a16="http://schemas.microsoft.com/office/drawing/2014/main" id="{748F108B-15E6-4D99-8678-18E0BC66DD7C}"/>
              </a:ext>
            </a:extLst>
          </p:cNvPr>
          <p:cNvSpPr>
            <a:spLocks xmlns:a="http://schemas.openxmlformats.org/drawingml/2006/main" noGrp="1"/>
          </p:cNvSpPr>
          <p:nvPr/>
        </p:nvSpPr>
        <p:spPr>
          <a:xfrm xmlns:a="http://schemas.openxmlformats.org/drawingml/2006/main">
            <a:off x="647700" y="4019550"/>
            <a:ext cx="1057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738"/>
                </a:solidFill>
                <a:latin typeface="Arial"/>
                <a:ea typeface="Arial"/>
                <a:cs typeface="Arial"/>
              </a:defRPr>
            </a:defPPr>
            <a:lvl1pPr>
              <a:defRPr sz="2175" b="0">
                <a:solidFill>
                  <a:srgbClr val="102738"/>
                </a:solidFill>
                <a:latin typeface="Arial"/>
                <a:ea typeface="Arial"/>
                <a:cs typeface="Arial"/>
              </a:defRPr>
            </a:lvl1pPr>
            <a:lvl2pPr>
              <a:defRPr sz="2175" b="0">
                <a:solidFill>
                  <a:srgbClr val="102738"/>
                </a:solidFill>
                <a:latin typeface="Arial"/>
                <a:ea typeface="Arial"/>
                <a:cs typeface="Arial"/>
              </a:defRPr>
            </a:lvl2pPr>
            <a:lvl3pPr>
              <a:defRPr sz="2175" b="0">
                <a:solidFill>
                  <a:srgbClr val="102738"/>
                </a:solidFill>
                <a:latin typeface="Arial"/>
                <a:ea typeface="Arial"/>
                <a:cs typeface="Arial"/>
              </a:defRPr>
            </a:lvl3pPr>
            <a:lvl4pPr>
              <a:defRPr sz="2175" b="0">
                <a:solidFill>
                  <a:srgbClr val="102738"/>
                </a:solidFill>
                <a:latin typeface="Arial"/>
                <a:ea typeface="Arial"/>
                <a:cs typeface="Arial"/>
              </a:defRPr>
            </a:lvl4pPr>
            <a:lvl5pPr>
              <a:defRPr sz="2175" b="0">
                <a:solidFill>
                  <a:srgbClr val="102738"/>
                </a:solidFill>
                <a:latin typeface="Arial"/>
                <a:ea typeface="Arial"/>
                <a:cs typeface="Arial"/>
              </a:defRPr>
            </a:lvl5pPr>
            <a:lvl6pPr>
              <a:defRPr sz="2175" b="0">
                <a:solidFill>
                  <a:srgbClr val="102738"/>
                </a:solidFill>
                <a:latin typeface="Arial"/>
                <a:ea typeface="Arial"/>
                <a:cs typeface="Arial"/>
              </a:defRPr>
            </a:lvl6pPr>
            <a:lvl7pPr>
              <a:defRPr sz="2175" b="0">
                <a:solidFill>
                  <a:srgbClr val="102738"/>
                </a:solidFill>
                <a:latin typeface="Arial"/>
                <a:ea typeface="Arial"/>
                <a:cs typeface="Arial"/>
              </a:defRPr>
            </a:lvl7pPr>
            <a:lvl8pPr>
              <a:defRPr sz="2175" b="0">
                <a:solidFill>
                  <a:srgbClr val="102738"/>
                </a:solidFill>
                <a:latin typeface="Arial"/>
                <a:ea typeface="Arial"/>
                <a:cs typeface="Arial"/>
              </a:defRPr>
            </a:lvl8pPr>
            <a:lvl9pPr>
              <a:defRPr sz="2175" b="0">
                <a:solidFill>
                  <a:srgbClr val="102738"/>
                </a:solidFill>
                <a:latin typeface="Arial"/>
                <a:ea typeface="Arial"/>
                <a:cs typeface="Arial"/>
              </a:defRPr>
            </a:lvl9pPr>
          </a:lstStyle>
          <a:p xmlns:a="http://schemas.openxmlformats.org/drawingml/2006/main">
            <a:pPr>
              <a:defRPr sz="2175" b="0">
                <a:solidFill>
                  <a:srgbClr val="102738"/>
                </a:solidFill>
                <a:latin typeface="Arial"/>
                <a:ea typeface="Arial"/>
                <a:cs typeface="Arial"/>
              </a:defRPr>
            </a:pPr>
            <a:r>
              <a:rPr sz="2175" b="0">
                <a:solidFill>
                  <a:srgbClr val="102738"/>
                </a:solidFill>
                <a:latin typeface="Arial"/>
                <a:ea typeface="Arial"/>
                <a:cs typeface="Arial"/>
              </a:rPr>
              <a:t>Next: disturbance training, broader scenarios and more seeds.</a:t>
            </a:r>
          </a:p>
          <a:p xmlns:a="http://schemas.openxmlformats.org/drawingml/2006/main">
            <a:pPr>
              <a:defRPr sz="2175" b="0">
                <a:solidFill>
                  <a:srgbClr val="102738"/>
                </a:solidFill>
                <a:latin typeface="Arial"/>
                <a:ea typeface="Arial"/>
                <a:cs typeface="Arial"/>
              </a:defRPr>
            </a:pPr>
            <a:r>
              <a:rPr sz="2175" b="0">
                <a:solidFill>
                  <a:srgbClr val="102738"/>
                </a:solidFill>
                <a:latin typeface="Arial"/>
                <a:ea typeface="Arial"/>
                <a:cs typeface="Arial"/>
              </a:rPr>
              <a:t>Physical deployment needs separate modelling and validation.</a:t>
            </a:r>
          </a:p>
        </p:txBody>
      </p:sp>
      <p:sp>
        <p:nvSpPr>
          <p:cNvPr id="7" name="">
            <a:extLst xmlns:a="http://schemas.openxmlformats.org/drawingml/2006/main">
              <a:ext uri="{FF2B5EF4-FFF2-40B4-BE49-F238E27FC236}">
                <a16:creationId xmlns:a16="http://schemas.microsoft.com/office/drawing/2014/main" id="{0D7BA513-18ED-4B4B-B83D-D90BC85CCA8F}"/>
              </a:ext>
            </a:extLst>
          </p:cNvPr>
          <p:cNvSpPr>
            <a:spLocks xmlns:a="http://schemas.openxmlformats.org/drawingml/2006/main" noGrp="1"/>
          </p:cNvSpPr>
          <p:nvPr/>
        </p:nvSpPr>
        <p:spPr>
          <a:xfrm xmlns:a="http://schemas.openxmlformats.org/drawingml/2006/main">
            <a:off x="647700" y="54483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778"/>
                </a:solidFill>
                <a:latin typeface="Arial"/>
                <a:ea typeface="Arial"/>
                <a:cs typeface="Arial"/>
              </a:defRPr>
            </a:defPPr>
            <a:lvl1pPr>
              <a:defRPr sz="1875" b="0">
                <a:solidFill>
                  <a:srgbClr val="516778"/>
                </a:solidFill>
                <a:latin typeface="Arial"/>
                <a:ea typeface="Arial"/>
                <a:cs typeface="Arial"/>
              </a:defRPr>
            </a:lvl1pPr>
            <a:lvl2pPr>
              <a:defRPr sz="1875" b="0">
                <a:solidFill>
                  <a:srgbClr val="516778"/>
                </a:solidFill>
                <a:latin typeface="Arial"/>
                <a:ea typeface="Arial"/>
                <a:cs typeface="Arial"/>
              </a:defRPr>
            </a:lvl2pPr>
            <a:lvl3pPr>
              <a:defRPr sz="1875" b="0">
                <a:solidFill>
                  <a:srgbClr val="516778"/>
                </a:solidFill>
                <a:latin typeface="Arial"/>
                <a:ea typeface="Arial"/>
                <a:cs typeface="Arial"/>
              </a:defRPr>
            </a:lvl3pPr>
            <a:lvl4pPr>
              <a:defRPr sz="1875" b="0">
                <a:solidFill>
                  <a:srgbClr val="516778"/>
                </a:solidFill>
                <a:latin typeface="Arial"/>
                <a:ea typeface="Arial"/>
                <a:cs typeface="Arial"/>
              </a:defRPr>
            </a:lvl4pPr>
            <a:lvl5pPr>
              <a:defRPr sz="1875" b="0">
                <a:solidFill>
                  <a:srgbClr val="516778"/>
                </a:solidFill>
                <a:latin typeface="Arial"/>
                <a:ea typeface="Arial"/>
                <a:cs typeface="Arial"/>
              </a:defRPr>
            </a:lvl5pPr>
            <a:lvl6pPr>
              <a:defRPr sz="1875" b="0">
                <a:solidFill>
                  <a:srgbClr val="516778"/>
                </a:solidFill>
                <a:latin typeface="Arial"/>
                <a:ea typeface="Arial"/>
                <a:cs typeface="Arial"/>
              </a:defRPr>
            </a:lvl6pPr>
            <a:lvl7pPr>
              <a:defRPr sz="1875" b="0">
                <a:solidFill>
                  <a:srgbClr val="516778"/>
                </a:solidFill>
                <a:latin typeface="Arial"/>
                <a:ea typeface="Arial"/>
                <a:cs typeface="Arial"/>
              </a:defRPr>
            </a:lvl7pPr>
            <a:lvl8pPr>
              <a:defRPr sz="1875" b="0">
                <a:solidFill>
                  <a:srgbClr val="516778"/>
                </a:solidFill>
                <a:latin typeface="Arial"/>
                <a:ea typeface="Arial"/>
                <a:cs typeface="Arial"/>
              </a:defRPr>
            </a:lvl8pPr>
            <a:lvl9pPr>
              <a:defRPr sz="1875" b="0">
                <a:solidFill>
                  <a:srgbClr val="516778"/>
                </a:solidFill>
                <a:latin typeface="Arial"/>
                <a:ea typeface="Arial"/>
                <a:cs typeface="Arial"/>
              </a:defRPr>
            </a:lvl9pPr>
          </a:lstStyle>
          <a:p xmlns:a="http://schemas.openxmlformats.org/drawingml/2006/main">
            <a:pPr>
              <a:defRPr sz="1875" b="0">
                <a:solidFill>
                  <a:srgbClr val="516778"/>
                </a:solidFill>
                <a:latin typeface="Arial"/>
                <a:ea typeface="Arial"/>
                <a:cs typeface="Arial"/>
              </a:defRPr>
            </a:pPr>
            <a:r>
              <a:rPr sz="1875" b="0">
                <a:solidFill>
                  <a:srgbClr val="516778"/>
                </a:solidFill>
                <a:latin typeface="Arial"/>
                <a:ea typeface="Arial"/>
                <a:cs typeface="Arial"/>
              </a:rPr>
              <a:t>Implemented: simulator, integration and evaluation</a:t>
            </a:r>
          </a:p>
          <a:p xmlns:a="http://schemas.openxmlformats.org/drawingml/2006/main">
            <a:pPr>
              <a:defRPr sz="1875" b="0">
                <a:solidFill>
                  <a:srgbClr val="516778"/>
                </a:solidFill>
                <a:latin typeface="Arial"/>
                <a:ea typeface="Arial"/>
                <a:cs typeface="Arial"/>
              </a:defRPr>
            </a:pPr>
            <a:r>
              <a:rPr sz="1875" b="0">
                <a:solidFill>
                  <a:srgbClr val="516778"/>
                </a:solidFill>
                <a:latin typeface="Arial"/>
                <a:ea typeface="Arial"/>
                <a:cs typeface="Arial"/>
              </a:rPr>
              <a:t>Library algorithm: Stable-Baselines3 SAC</a:t>
            </a:r>
          </a:p>
        </p:txBody>
      </p:sp>
    </p:spTree>
    <p:extLst>
      <p:ext uri="{BB962C8B-B14F-4D97-AF65-F5344CB8AC3E}">
        <p14:creationId xmlns:p14="http://schemas.microsoft.com/office/powerpoint/2010/main" val="13899154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2026-10-28T06:06:33.7500000Z</dcterms:created>
  <dcterms:modified xsi:type="dcterms:W3CDTF">2026-10-28T06:06:33.7500000Z</dcterms:modified>
</coreProperties>
</file>